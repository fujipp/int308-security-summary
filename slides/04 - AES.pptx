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entation.xml" ContentType="application/vnd.openxmlformats-officedocument.presentationml.presentation.main+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13.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27.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3"/>
  </p:notesMasterIdLst>
  <p:sldIdLst>
    <p:sldId id="291" r:id="rId2"/>
    <p:sldId id="275" r:id="rId3"/>
    <p:sldId id="276" r:id="rId4"/>
    <p:sldId id="277" r:id="rId5"/>
    <p:sldId id="278" r:id="rId6"/>
    <p:sldId id="279" r:id="rId7"/>
    <p:sldId id="280" r:id="rId8"/>
    <p:sldId id="281" r:id="rId9"/>
    <p:sldId id="282" r:id="rId10"/>
    <p:sldId id="301" r:id="rId11"/>
    <p:sldId id="302" r:id="rId12"/>
    <p:sldId id="304" r:id="rId13"/>
    <p:sldId id="303" r:id="rId14"/>
    <p:sldId id="292" r:id="rId15"/>
    <p:sldId id="283" r:id="rId16"/>
    <p:sldId id="293" r:id="rId17"/>
    <p:sldId id="284" r:id="rId18"/>
    <p:sldId id="294" r:id="rId19"/>
    <p:sldId id="295" r:id="rId20"/>
    <p:sldId id="285" r:id="rId21"/>
    <p:sldId id="296" r:id="rId22"/>
    <p:sldId id="286" r:id="rId23"/>
    <p:sldId id="287" r:id="rId24"/>
    <p:sldId id="297" r:id="rId25"/>
    <p:sldId id="299" r:id="rId26"/>
    <p:sldId id="288" r:id="rId27"/>
    <p:sldId id="298" r:id="rId28"/>
    <p:sldId id="289" r:id="rId29"/>
    <p:sldId id="290" r:id="rId30"/>
    <p:sldId id="305" r:id="rId31"/>
    <p:sldId id="274" r:id="rId32"/>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553" autoAdjust="0"/>
  </p:normalViewPr>
  <p:slideViewPr>
    <p:cSldViewPr>
      <p:cViewPr varScale="1">
        <p:scale>
          <a:sx n="83" d="100"/>
          <a:sy n="83" d="100"/>
        </p:scale>
        <p:origin x="1353" y="45"/>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40"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2B8E2B98-BAC6-48D5-8143-5F795BC000EE}"/>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AU"/>
          </a:p>
        </p:txBody>
      </p:sp>
      <p:sp>
        <p:nvSpPr>
          <p:cNvPr id="22531" name="Rectangle 3">
            <a:extLst>
              <a:ext uri="{FF2B5EF4-FFF2-40B4-BE49-F238E27FC236}">
                <a16:creationId xmlns:a16="http://schemas.microsoft.com/office/drawing/2014/main" id="{D0B7AE91-2FCC-4A96-BE71-F71ACB5F5EA7}"/>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AU"/>
          </a:p>
        </p:txBody>
      </p:sp>
      <p:sp>
        <p:nvSpPr>
          <p:cNvPr id="33796" name="Rectangle 4">
            <a:extLst>
              <a:ext uri="{FF2B5EF4-FFF2-40B4-BE49-F238E27FC236}">
                <a16:creationId xmlns:a16="http://schemas.microsoft.com/office/drawing/2014/main" id="{20E24894-A5A0-4F77-B044-04061CA1DFA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5">
            <a:extLst>
              <a:ext uri="{FF2B5EF4-FFF2-40B4-BE49-F238E27FC236}">
                <a16:creationId xmlns:a16="http://schemas.microsoft.com/office/drawing/2014/main" id="{58302FAE-C98A-4A87-AB54-B79B8AEDC9DC}"/>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a:extLst>
              <a:ext uri="{FF2B5EF4-FFF2-40B4-BE49-F238E27FC236}">
                <a16:creationId xmlns:a16="http://schemas.microsoft.com/office/drawing/2014/main" id="{983D4C30-E1B7-4C01-AE23-981823CBA402}"/>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AU"/>
          </a:p>
        </p:txBody>
      </p:sp>
      <p:sp>
        <p:nvSpPr>
          <p:cNvPr id="22535" name="Rectangle 7">
            <a:extLst>
              <a:ext uri="{FF2B5EF4-FFF2-40B4-BE49-F238E27FC236}">
                <a16:creationId xmlns:a16="http://schemas.microsoft.com/office/drawing/2014/main" id="{6CC4217B-8089-4CD3-A8E3-D63850D8FCF2}"/>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804D8D5-7D56-4B99-B516-E7958150CDCF}" type="slidenum">
              <a:rPr lang="en-AU" altLang="en-US"/>
              <a:pPr/>
              <a:t>‹#›</a:t>
            </a:fld>
            <a:endParaRPr lang="en-AU"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44C5BF20-694D-4873-A7AB-61B1D54923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4D520446-DC94-4EB5-A729-E6B34E33DB13}" type="slidenum">
              <a:rPr lang="en-AU" altLang="en-US" sz="1200"/>
              <a:pPr eaLnBrk="1" hangingPunct="1"/>
              <a:t>1</a:t>
            </a:fld>
            <a:endParaRPr lang="en-AU" altLang="en-US" sz="1200"/>
          </a:p>
        </p:txBody>
      </p:sp>
      <p:sp>
        <p:nvSpPr>
          <p:cNvPr id="34819" name="Rectangle 1026">
            <a:extLst>
              <a:ext uri="{FF2B5EF4-FFF2-40B4-BE49-F238E27FC236}">
                <a16:creationId xmlns:a16="http://schemas.microsoft.com/office/drawing/2014/main" id="{8F08801E-2586-4ACE-A10E-203CF9ECA235}"/>
              </a:ext>
            </a:extLst>
          </p:cNvPr>
          <p:cNvSpPr>
            <a:spLocks noGrp="1" noRot="1" noChangeAspect="1" noChangeArrowheads="1" noTextEdit="1"/>
          </p:cNvSpPr>
          <p:nvPr>
            <p:ph type="sldImg"/>
          </p:nvPr>
        </p:nvSpPr>
        <p:spPr>
          <a:solidFill>
            <a:srgbClr val="FFFFFF"/>
          </a:solidFill>
          <a:ln/>
        </p:spPr>
      </p:sp>
      <p:sp>
        <p:nvSpPr>
          <p:cNvPr id="34820" name="Rectangle 1027">
            <a:extLst>
              <a:ext uri="{FF2B5EF4-FFF2-40B4-BE49-F238E27FC236}">
                <a16:creationId xmlns:a16="http://schemas.microsoft.com/office/drawing/2014/main" id="{48D30B5D-4D34-4072-8BFD-E9CFDF4938CA}"/>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t>Lecture slides by Lawrie Brown for “Cryptography and Network Security”, 4/e, by William Stallings, Chapter </a:t>
            </a:r>
            <a:r>
              <a:rPr lang="en-US" altLang="en-US" sz="1000"/>
              <a:t>Chapter 5 –”</a:t>
            </a:r>
            <a:r>
              <a:rPr lang="en-AU" altLang="en-US" sz="1000"/>
              <a:t>Advanced Encryption Standard</a:t>
            </a:r>
            <a:r>
              <a:rPr lang="en-US" altLang="en-US"/>
              <a:t>”.</a:t>
            </a:r>
            <a:endParaRPr lang="en-AU" altLang="en-US"/>
          </a:p>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47D67B77-3BE7-4C08-9EBF-29F664DA0F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0DBA2A9D-97B7-485B-858D-585CDA63BE8B}" type="slidenum">
              <a:rPr lang="en-AU" altLang="en-US" sz="1200"/>
              <a:pPr eaLnBrk="1" hangingPunct="1"/>
              <a:t>2</a:t>
            </a:fld>
            <a:endParaRPr lang="en-AU" altLang="en-US" sz="1200"/>
          </a:p>
        </p:txBody>
      </p:sp>
      <p:sp>
        <p:nvSpPr>
          <p:cNvPr id="35843" name="Rectangle 2">
            <a:extLst>
              <a:ext uri="{FF2B5EF4-FFF2-40B4-BE49-F238E27FC236}">
                <a16:creationId xmlns:a16="http://schemas.microsoft.com/office/drawing/2014/main" id="{75795DE2-7CF6-4C9E-813C-409CC94AEC52}"/>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6A023A08-8F7C-471F-8400-D7272B9A86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Advanced Encryption Standard (AES) was published by NIST (National Institute of Standards and Technology) in 2001. AES is a symmetric block cipher that is intended to replace DES as the approved standard for a wide range of applications.</a:t>
            </a:r>
            <a:r>
              <a:rPr lang="en-AU" altLang="en-US"/>
              <a:t> The AES cipher (&amp; other candidates) form the latest generation of block ciphers, and now we see a significant increase in the block size - from the old standard of 64-bits up to 128-bits; and keys from 128 to 256-bits. In part this has been driven by the public demonstrations of exhaustive key searches of DES. Whilst triple-DES is regarded as secure and well understood, it is slow, especially in s/w. </a:t>
            </a:r>
            <a:r>
              <a:rPr lang="en-US" altLang="en-US">
                <a:latin typeface="Times-Roman" charset="0"/>
              </a:rPr>
              <a:t>In a first round of evaluation, 15 proposed algorithms were accepted. A second round narrowed the field to 5 algorithms. NIST completed its evaluation process and published a final standard (FIPS PUB 197) in November of 2001. NIST selected Rijndael as the proposed AES algorithm. The two researchers who developed and submitted Rijndael for the AES are both cryptographers from Belgium: Dr. Joan Daemen and Dr.Vincent Rijmen. </a:t>
            </a:r>
            <a:endParaRPr lang="en-AU" altLang="en-US">
              <a:latin typeface="Times-Roman"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53D5B919-4429-46A5-B0A5-9E136A3068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4580B45-D246-4A97-8FC0-EA89383C95CD}" type="slidenum">
              <a:rPr lang="en-AU" altLang="en-US" sz="1200"/>
              <a:pPr eaLnBrk="1" hangingPunct="1"/>
              <a:t>3</a:t>
            </a:fld>
            <a:endParaRPr lang="en-AU" altLang="en-US" sz="1200"/>
          </a:p>
        </p:txBody>
      </p:sp>
      <p:sp>
        <p:nvSpPr>
          <p:cNvPr id="36867" name="Rectangle 2">
            <a:extLst>
              <a:ext uri="{FF2B5EF4-FFF2-40B4-BE49-F238E27FC236}">
                <a16:creationId xmlns:a16="http://schemas.microsoft.com/office/drawing/2014/main" id="{48390C8F-D53B-4F8B-95EE-6A5034496B45}"/>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9590602E-D0F5-434C-B187-8CF7F16523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Listed above are NIST’s requirements for the AES candidate submissions. </a:t>
            </a:r>
            <a:r>
              <a:rPr lang="en-US" altLang="en-US">
                <a:latin typeface="Times-Roman" charset="0"/>
              </a:rPr>
              <a:t>These criteria span the range of concerns for the practical application of modern symmetric block ciphers.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7E992DD1-18B2-494D-8888-63270BC5EB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E5AFC4E8-5377-4F9C-9C1B-0B409890FD8E}" type="slidenum">
              <a:rPr lang="en-AU" altLang="en-US" sz="1200"/>
              <a:pPr eaLnBrk="1" hangingPunct="1"/>
              <a:t>4</a:t>
            </a:fld>
            <a:endParaRPr lang="en-AU" altLang="en-US" sz="1200"/>
          </a:p>
        </p:txBody>
      </p:sp>
      <p:sp>
        <p:nvSpPr>
          <p:cNvPr id="37891" name="Rectangle 2">
            <a:extLst>
              <a:ext uri="{FF2B5EF4-FFF2-40B4-BE49-F238E27FC236}">
                <a16:creationId xmlns:a16="http://schemas.microsoft.com/office/drawing/2014/main" id="{68A86605-E9C5-49A1-BBD1-24B359B35211}"/>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46F5742D-056F-453E-95D7-6E6CEEB657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In fact, two set of criteria evolved. When NIST issued its original request for candidate algorithm nominations in 1997, the request stated that candidate algorithms would be compared based on the factors shown in Stallings Table5.1, which were used </a:t>
            </a:r>
            <a:r>
              <a:rPr lang="en-US" altLang="en-US"/>
              <a:t>to evaluate field of 15 candidates to select shortlist of 5. These </a:t>
            </a:r>
            <a:r>
              <a:rPr lang="en-US" altLang="en-US">
                <a:latin typeface="Times-Roman" charset="0"/>
              </a:rPr>
              <a:t>had categories of security, cost, and </a:t>
            </a:r>
            <a:r>
              <a:rPr lang="en-US" altLang="en-US"/>
              <a:t>algorithm &amp; implementation characteristics.</a:t>
            </a:r>
            <a:endParaRPr lang="en-US" altLang="en-US">
              <a:latin typeface="Times-Roman" charset="0"/>
            </a:endParaRPr>
          </a:p>
          <a:p>
            <a:pPr eaLnBrk="1" hangingPunct="1"/>
            <a:r>
              <a:rPr lang="en-US" altLang="en-US"/>
              <a:t>The final criteria evolved during the evaluation process, and were used to select Rijndael from that short-list, and more details are given in Stallings Table 5.2, with categories of: general security, ease of software &amp; hardware implementation, implementation attacks, &amp; flexibility (in en/decrypt, keying, other factors).</a:t>
            </a:r>
            <a:endParaRPr lang="en-AU"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0B2E4466-CB3E-4F4C-B0D3-1D33324763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7537725-64BA-408A-8D65-B26A392FFC6F}" type="slidenum">
              <a:rPr lang="en-AU" altLang="en-US" sz="1200"/>
              <a:pPr eaLnBrk="1" hangingPunct="1"/>
              <a:t>5</a:t>
            </a:fld>
            <a:endParaRPr lang="en-AU" altLang="en-US" sz="1200"/>
          </a:p>
        </p:txBody>
      </p:sp>
      <p:sp>
        <p:nvSpPr>
          <p:cNvPr id="38915" name="Rectangle 2">
            <a:extLst>
              <a:ext uri="{FF2B5EF4-FFF2-40B4-BE49-F238E27FC236}">
                <a16:creationId xmlns:a16="http://schemas.microsoft.com/office/drawing/2014/main" id="{542A52D0-4166-45DD-A508-8566DBA1E4F0}"/>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65F7D251-FF4B-41ED-B615-0F21872B40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AES shortlist of 5 ciphers was as shown. Note mix of commercial (MARS, RC6, Twofish) verses academic (Rijndael, Serpent) proposals, sourced from various countries.</a:t>
            </a:r>
          </a:p>
          <a:p>
            <a:pPr eaLnBrk="1" hangingPunct="1"/>
            <a:r>
              <a:rPr lang="en-US" altLang="en-US"/>
              <a:t>All were thought to be good – it came down to the best balance of attributes to meet criteria, in particular the balance between speed, security &amp; flexibility.</a:t>
            </a:r>
          </a:p>
          <a:p>
            <a:pPr eaLnBrk="1" hangingPunct="1"/>
            <a:endParaRPr lang="en-AU"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53C622FF-7E87-4227-B37E-3DDA81B4EE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63A047AC-B3E9-4127-93B0-01D74B1DBCE2}" type="slidenum">
              <a:rPr lang="en-AU" altLang="en-US" sz="1200"/>
              <a:pPr eaLnBrk="1" hangingPunct="1"/>
              <a:t>6</a:t>
            </a:fld>
            <a:endParaRPr lang="en-AU" altLang="en-US" sz="1200"/>
          </a:p>
        </p:txBody>
      </p:sp>
      <p:sp>
        <p:nvSpPr>
          <p:cNvPr id="39939" name="Rectangle 2">
            <a:extLst>
              <a:ext uri="{FF2B5EF4-FFF2-40B4-BE49-F238E27FC236}">
                <a16:creationId xmlns:a16="http://schemas.microsoft.com/office/drawing/2014/main" id="{FC29143B-E35E-4E0A-B416-EBC95C351586}"/>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FE6F0BD4-11DE-48EA-B980-B87D170971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Rijndael proposal for AES defined a cipher in which the block length and the key length can be independently specified to be 128,192,or 256 bits. The AES specification uses the same three key size alternatives but limits the block length to 128 bits. </a:t>
            </a:r>
            <a:r>
              <a:rPr lang="en-US" altLang="en-US"/>
              <a:t>Rijndael is an academic submission, based on the earlier Square cipher, from Belgium academics Dr Joan Daemen and Dr Vincent Rijmen. It is an iterative cipher (operates on entire data block in every round) rather than feistel (operate on halves at a time), and was designed to have characteristics of: </a:t>
            </a:r>
            <a:r>
              <a:rPr lang="en-US" altLang="en-US">
                <a:latin typeface="Times-Roman" charset="0"/>
              </a:rPr>
              <a:t>Resistance against all known attacks, Speed and code compactness on a wide range of platforms, &amp; Design simplicity.</a:t>
            </a:r>
            <a:endParaRPr lang="en-US" altLang="en-US"/>
          </a:p>
          <a:p>
            <a:pPr eaLnBrk="1" hangingPunct="1"/>
            <a:endParaRPr lang="en-US" altLang="en-US"/>
          </a:p>
          <a:p>
            <a:pPr eaLnBrk="1" hangingPunct="1"/>
            <a:endParaRPr lang="en-AU"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DF613C87-B929-440A-872A-EF902ED2CF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B852C8A-8441-40EF-A583-4442B074BC58}" type="slidenum">
              <a:rPr lang="en-AU" altLang="en-US" sz="1200"/>
              <a:pPr eaLnBrk="1" hangingPunct="1"/>
              <a:t>7</a:t>
            </a:fld>
            <a:endParaRPr lang="en-AU" altLang="en-US" sz="1200"/>
          </a:p>
        </p:txBody>
      </p:sp>
      <p:sp>
        <p:nvSpPr>
          <p:cNvPr id="40963" name="Rectangle 2">
            <a:extLst>
              <a:ext uri="{FF2B5EF4-FFF2-40B4-BE49-F238E27FC236}">
                <a16:creationId xmlns:a16="http://schemas.microsoft.com/office/drawing/2014/main" id="{8C725305-E57E-43CB-B670-87366855BFF8}"/>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2F2D29C-EED5-46CF-B7B9-204E080D43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input to the AES encryption and decryption algorithms is a single 128-bit block, depicted in FIPS PUB 197, as a square matrix of bytes .This block is copied into the State array, which is modified at each stage of encryption or decryption. After the final stage,</a:t>
            </a:r>
            <a:r>
              <a:rPr lang="en-US" altLang="en-US">
                <a:latin typeface="Helvetica" panose="020B0604020202020204" pitchFamily="34" charset="0"/>
              </a:rPr>
              <a:t> </a:t>
            </a:r>
            <a:r>
              <a:rPr lang="en-US" altLang="en-US">
                <a:latin typeface="Times-Roman" charset="0"/>
              </a:rPr>
              <a:t>State is copied to an output.</a:t>
            </a:r>
          </a:p>
          <a:p>
            <a:pPr eaLnBrk="1" hangingPunct="1"/>
            <a:r>
              <a:rPr lang="en-US" altLang="en-US"/>
              <a:t>The key is expanded into 44/52/60 lots of 32-bit words (see later), with 4 used in each round.</a:t>
            </a:r>
          </a:p>
          <a:p>
            <a:pPr eaLnBrk="1" hangingPunct="1"/>
            <a:r>
              <a:rPr lang="en-US" altLang="en-US"/>
              <a:t>The data computation then consists of an “add round key” step, then 9/11/13 rounds with all 4 steps, and a final 10</a:t>
            </a:r>
            <a:r>
              <a:rPr lang="en-US" altLang="en-US" baseline="30000"/>
              <a:t>th</a:t>
            </a:r>
            <a:r>
              <a:rPr lang="en-US" altLang="en-US"/>
              <a:t>/12</a:t>
            </a:r>
            <a:r>
              <a:rPr lang="en-US" altLang="en-US" baseline="30000"/>
              <a:t>th</a:t>
            </a:r>
            <a:r>
              <a:rPr lang="en-US" altLang="en-US"/>
              <a:t>/14</a:t>
            </a:r>
            <a:r>
              <a:rPr lang="en-US" altLang="en-US" baseline="30000"/>
              <a:t>th</a:t>
            </a:r>
            <a:r>
              <a:rPr lang="en-US" altLang="en-US"/>
              <a:t> step of byte subs + mix cols + add round key. This can be viewed as alternating XOR key &amp; scramble data bytes operations. All of the steps are easily reversed, and can be efficiently implemented using XOR’s &amp; table lookups.</a:t>
            </a:r>
          </a:p>
          <a:p>
            <a:pPr eaLnBrk="1" hangingPunct="1"/>
            <a:endParaRPr lang="en-AU"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39A30F08-4AD9-4318-A8BE-5025DAD053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5FAE6A5D-C23B-4924-92EB-33FAF8A24EAD}" type="slidenum">
              <a:rPr lang="en-AU" altLang="en-US" sz="1200"/>
              <a:pPr eaLnBrk="1" hangingPunct="1"/>
              <a:t>8</a:t>
            </a:fld>
            <a:endParaRPr lang="en-AU" altLang="en-US" sz="1200"/>
          </a:p>
        </p:txBody>
      </p:sp>
      <p:sp>
        <p:nvSpPr>
          <p:cNvPr id="41987" name="Rectangle 2">
            <a:extLst>
              <a:ext uri="{FF2B5EF4-FFF2-40B4-BE49-F238E27FC236}">
                <a16:creationId xmlns:a16="http://schemas.microsoft.com/office/drawing/2014/main" id="{1E8415E8-D594-40D7-87AD-9AFAD70D800D}"/>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1525C3BD-3510-45C0-ADD6-18B6ED5995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5.1 s</a:t>
            </a:r>
            <a:r>
              <a:rPr lang="en-US" altLang="en-US">
                <a:latin typeface="Times-Roman" charset="0"/>
              </a:rPr>
              <a:t>hows the overall structure of AES, as detailed on the previous slide.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BEFBC456-25DC-4F93-898B-FD635489FA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15B2C26-C94C-484B-BF58-4233A3CA81B7}" type="slidenum">
              <a:rPr lang="en-AU" altLang="en-US" sz="1200"/>
              <a:pPr eaLnBrk="1" hangingPunct="1"/>
              <a:t>9</a:t>
            </a:fld>
            <a:endParaRPr lang="en-AU" altLang="en-US" sz="1200"/>
          </a:p>
        </p:txBody>
      </p:sp>
      <p:sp>
        <p:nvSpPr>
          <p:cNvPr id="43011" name="Rectangle 2">
            <a:extLst>
              <a:ext uri="{FF2B5EF4-FFF2-40B4-BE49-F238E27FC236}">
                <a16:creationId xmlns:a16="http://schemas.microsoft.com/office/drawing/2014/main" id="{963F009D-355C-4A11-9577-8958E9F0FA05}"/>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02774A24-8927-44C6-8327-7E08F5BBB8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Now discuss each of the four stages used in AES. The Substitute bytes stage uses an S-box to perform a byte-by-byte substitution of the block.</a:t>
            </a:r>
            <a:r>
              <a:rPr lang="en-US" altLang="en-US"/>
              <a:t> There is a single 8-bit wide S-box used on every byte. This S-box is a permutation of all 256 8-bit values, constructed using a transformation which treats the values as polynomials in GF(2</a:t>
            </a:r>
            <a:r>
              <a:rPr lang="en-US" altLang="en-US" baseline="30000"/>
              <a:t>8</a:t>
            </a:r>
            <a:r>
              <a:rPr lang="en-US" altLang="en-US"/>
              <a:t>) – however it is fixed, so really only need to know the table when implementing. Decryption requires the inverse of the table. These tables are given in Stallings Table 4.5.</a:t>
            </a:r>
          </a:p>
          <a:p>
            <a:pPr eaLnBrk="1" hangingPunct="1"/>
            <a:r>
              <a:rPr lang="en-US" altLang="en-US"/>
              <a:t>The table was designed to be resistant to known cryptanalytic attacks. Specifically, the Rijndael developers sought a design that has a low correlation between input bits and output bits, with the property that the output cannot be described as a simple mathematical function of the input, with no fixed points and no “opposite fixed points”. </a:t>
            </a:r>
            <a:endParaRPr lang="en-AU"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3B610A04-C445-413A-BEA6-C5A250EACA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630A2B6-7FF8-4F84-99DE-874EE5647D3F}" type="slidenum">
              <a:rPr lang="en-AU" altLang="en-US" sz="1200"/>
              <a:pPr eaLnBrk="1" hangingPunct="1"/>
              <a:t>10</a:t>
            </a:fld>
            <a:endParaRPr lang="en-AU" altLang="en-US" sz="1200"/>
          </a:p>
        </p:txBody>
      </p:sp>
      <p:sp>
        <p:nvSpPr>
          <p:cNvPr id="44035" name="Rectangle 1026">
            <a:extLst>
              <a:ext uri="{FF2B5EF4-FFF2-40B4-BE49-F238E27FC236}">
                <a16:creationId xmlns:a16="http://schemas.microsoft.com/office/drawing/2014/main" id="{0E8A7B3A-3C00-452D-B2A6-FA803C87AD89}"/>
              </a:ext>
            </a:extLst>
          </p:cNvPr>
          <p:cNvSpPr>
            <a:spLocks noGrp="1" noRot="1" noChangeAspect="1" noChangeArrowheads="1" noTextEdit="1"/>
          </p:cNvSpPr>
          <p:nvPr>
            <p:ph type="sldImg"/>
          </p:nvPr>
        </p:nvSpPr>
        <p:spPr>
          <a:ln/>
        </p:spPr>
      </p:sp>
      <p:sp>
        <p:nvSpPr>
          <p:cNvPr id="44036" name="Rectangle 1027">
            <a:extLst>
              <a:ext uri="{FF2B5EF4-FFF2-40B4-BE49-F238E27FC236}">
                <a16:creationId xmlns:a16="http://schemas.microsoft.com/office/drawing/2014/main" id="{7CF5284E-202A-4240-85F5-2395CE8CDE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Infinite fields are not of particular interest in the context of cryptography. However, finite fields play a crucial role in many cryptographic algorithms. It can be shown that the order of a finite field (number of elements in the field) must be a positive power of a prime, &amp; these are known as Galois fields &amp; denoted GF(p^n). We are most interested in the cases where either n=1 - GF(p), or p=2 - GF(2^n).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4876147B-8540-4B4F-8E5E-02206986E9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6FE1143B-CED9-4266-9DA1-AF1C5309518A}" type="slidenum">
              <a:rPr lang="en-AU" altLang="en-US" sz="1200"/>
              <a:pPr eaLnBrk="1" hangingPunct="1"/>
              <a:t>11</a:t>
            </a:fld>
            <a:endParaRPr lang="en-AU" altLang="en-US" sz="1200"/>
          </a:p>
        </p:txBody>
      </p:sp>
      <p:sp>
        <p:nvSpPr>
          <p:cNvPr id="45059" name="Rectangle 2">
            <a:extLst>
              <a:ext uri="{FF2B5EF4-FFF2-40B4-BE49-F238E27FC236}">
                <a16:creationId xmlns:a16="http://schemas.microsoft.com/office/drawing/2014/main" id="{4C2B36B0-9EB1-4049-B487-7F92CFF838A5}"/>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214332B4-1BAB-4721-BFF2-53A6A54C1E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Start by considering GF(p) over the set of integers {0…p-1} with addition &amp; multiplication modulo p. This forms a “well-behaved” finite field.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12357BF5-C230-4D7E-A0D5-07C0C438DA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185FE47-FAAA-4F7A-81ED-FFE41D22E288}" type="slidenum">
              <a:rPr lang="en-AU" altLang="en-US" sz="1200"/>
              <a:pPr eaLnBrk="1" hangingPunct="1"/>
              <a:t>12</a:t>
            </a:fld>
            <a:endParaRPr lang="en-AU" altLang="en-US" sz="1200"/>
          </a:p>
        </p:txBody>
      </p:sp>
      <p:sp>
        <p:nvSpPr>
          <p:cNvPr id="46083" name="Rectangle 2">
            <a:extLst>
              <a:ext uri="{FF2B5EF4-FFF2-40B4-BE49-F238E27FC236}">
                <a16:creationId xmlns:a16="http://schemas.microsoft.com/office/drawing/2014/main" id="{C7707EE9-72F6-4521-9281-30043E68E9AF}"/>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1F25DD4D-BCB2-4642-909B-11E8784C5C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Example showing addition in GF(8), from Stallings Table 4.1a.</a:t>
            </a:r>
            <a:endParaRPr lang="en-AU"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E8849BA6-899B-4A0C-AE81-89664BBBDC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67AD1717-FEAE-4883-95D6-BEBBCC5EF8DA}" type="slidenum">
              <a:rPr lang="en-AU" altLang="en-US" sz="1200"/>
              <a:pPr eaLnBrk="1" hangingPunct="1"/>
              <a:t>13</a:t>
            </a:fld>
            <a:endParaRPr lang="en-AU" altLang="en-US" sz="1200"/>
          </a:p>
        </p:txBody>
      </p:sp>
      <p:sp>
        <p:nvSpPr>
          <p:cNvPr id="47107" name="Rectangle 2">
            <a:extLst>
              <a:ext uri="{FF2B5EF4-FFF2-40B4-BE49-F238E27FC236}">
                <a16:creationId xmlns:a16="http://schemas.microsoft.com/office/drawing/2014/main" id="{D405DB50-0AE0-4852-802E-D7F0D86DC9B8}"/>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90749945-2AD7-4181-989C-B8548F29E9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Example showing multiplication in GF(7), from Stallings Table 4.3b.</a:t>
            </a:r>
            <a:endParaRPr lang="en-AU"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94AAA208-041E-4467-8517-25A6159E0A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52C46B6-3A91-439E-8C14-0163A5ABEADB}" type="slidenum">
              <a:rPr lang="en-AU" altLang="en-US" sz="1200"/>
              <a:pPr eaLnBrk="1" hangingPunct="1"/>
              <a:t>14</a:t>
            </a:fld>
            <a:endParaRPr lang="en-AU" altLang="en-US" sz="1200"/>
          </a:p>
        </p:txBody>
      </p:sp>
      <p:sp>
        <p:nvSpPr>
          <p:cNvPr id="48131" name="Rectangle 2">
            <a:extLst>
              <a:ext uri="{FF2B5EF4-FFF2-40B4-BE49-F238E27FC236}">
                <a16:creationId xmlns:a16="http://schemas.microsoft.com/office/drawing/2014/main" id="{77354183-6BA5-498E-A825-FFA2991F9174}"/>
              </a:ext>
            </a:extLst>
          </p:cNvPr>
          <p:cNvSpPr>
            <a:spLocks noGrp="1" noRot="1" noChangeAspect="1" noChangeArrowheads="1" noTextEdit="1"/>
          </p:cNvSpPr>
          <p:nvPr>
            <p:ph type="sldImg"/>
          </p:nvPr>
        </p:nvSpPr>
        <p:spPr>
          <a:solidFill>
            <a:srgbClr val="FFFFFF"/>
          </a:solidFill>
          <a:ln/>
        </p:spPr>
      </p:sp>
      <p:sp>
        <p:nvSpPr>
          <p:cNvPr id="48132" name="Rectangle 3">
            <a:extLst>
              <a:ext uri="{FF2B5EF4-FFF2-40B4-BE49-F238E27FC236}">
                <a16:creationId xmlns:a16="http://schemas.microsoft.com/office/drawing/2014/main" id="{0E98F980-4E5E-47C9-BF22-41005BE3E7BD}"/>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t>As this diagram from Stallings Fig 5.4a shows, the </a:t>
            </a:r>
            <a:r>
              <a:rPr lang="en-AU" altLang="en-US"/>
              <a:t>Byte Substitution operates on each byte of state independently, with the input byte used to index a row/col in the table to retrieve the substituted value.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DA052A8F-5B08-40D0-8DCC-37BD4C7EC6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EB9A990D-6DC6-4078-8C33-4D01AB76AB33}" type="slidenum">
              <a:rPr lang="en-AU" altLang="en-US" sz="1200"/>
              <a:pPr eaLnBrk="1" hangingPunct="1"/>
              <a:t>15</a:t>
            </a:fld>
            <a:endParaRPr lang="en-AU" altLang="en-US" sz="1200"/>
          </a:p>
        </p:txBody>
      </p:sp>
      <p:sp>
        <p:nvSpPr>
          <p:cNvPr id="49155" name="Rectangle 2">
            <a:extLst>
              <a:ext uri="{FF2B5EF4-FFF2-40B4-BE49-F238E27FC236}">
                <a16:creationId xmlns:a16="http://schemas.microsoft.com/office/drawing/2014/main" id="{0E5B83C6-3C57-4BD4-8974-F32CB355B368}"/>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771F8E35-E338-4A85-B22B-9466E8789A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a:t>
            </a:r>
            <a:r>
              <a:rPr lang="en-US" altLang="en-US">
                <a:latin typeface="Times-Roman" charset="0"/>
              </a:rPr>
              <a:t>ShiftRows stage </a:t>
            </a:r>
            <a:r>
              <a:rPr lang="en-US" altLang="en-US"/>
              <a:t>provides a simple “permutation” of the data, whereas the other steps involve substitutions. Further, since the state is treated as a block of columns, it is this step which provides for diffusion of values between columns. It performs a circular rotate on each row of 0, 1, 2 &amp; 3 places for respective rows. When decrypting it </a:t>
            </a:r>
            <a:r>
              <a:rPr lang="en-US" altLang="en-US">
                <a:latin typeface="Times-Roman" charset="0"/>
              </a:rPr>
              <a:t>performs the circular shifts in the opposite direction for each row. This row shift moves an individual byte from one column to another, which is a linear distance of a multiple of 4 bytes, and ensures that the 4 bytes of one column are spread out to four different columns.</a:t>
            </a:r>
            <a:endParaRPr lang="en-US" altLang="en-US"/>
          </a:p>
          <a:p>
            <a:pPr eaLnBrk="1" hangingPunct="1"/>
            <a:endParaRPr lang="en-AU"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B8B84687-50D6-4946-80B5-240FBA95F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07AE4349-3751-452F-ABA0-A9915EFB3008}" type="slidenum">
              <a:rPr lang="en-AU" altLang="en-US" sz="1200"/>
              <a:pPr eaLnBrk="1" hangingPunct="1"/>
              <a:t>16</a:t>
            </a:fld>
            <a:endParaRPr lang="en-AU" altLang="en-US" sz="1200"/>
          </a:p>
        </p:txBody>
      </p:sp>
      <p:sp>
        <p:nvSpPr>
          <p:cNvPr id="50179" name="Rectangle 2">
            <a:extLst>
              <a:ext uri="{FF2B5EF4-FFF2-40B4-BE49-F238E27FC236}">
                <a16:creationId xmlns:a16="http://schemas.microsoft.com/office/drawing/2014/main" id="{F2A78975-74F8-4ED4-A873-BAC006462987}"/>
              </a:ext>
            </a:extLst>
          </p:cNvPr>
          <p:cNvSpPr>
            <a:spLocks noGrp="1" noRot="1" noChangeAspect="1" noChangeArrowheads="1" noTextEdit="1"/>
          </p:cNvSpPr>
          <p:nvPr>
            <p:ph type="sldImg"/>
          </p:nvPr>
        </p:nvSpPr>
        <p:spPr>
          <a:solidFill>
            <a:srgbClr val="FFFFFF"/>
          </a:solidFill>
          <a:ln/>
        </p:spPr>
      </p:sp>
      <p:sp>
        <p:nvSpPr>
          <p:cNvPr id="50180" name="Rectangle 3">
            <a:extLst>
              <a:ext uri="{FF2B5EF4-FFF2-40B4-BE49-F238E27FC236}">
                <a16:creationId xmlns:a16="http://schemas.microsoft.com/office/drawing/2014/main" id="{EBC93AAF-DB8A-4B9C-BB4F-BB3A4DC623D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AU" altLang="en-US"/>
              <a:t>Stalling Figure 5.5a illustrates the Shift Rows permutation.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1BACB095-E27D-42FA-97B9-482436684E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97DF38E7-1FEA-4F52-9B60-228DDA7BE1B0}" type="slidenum">
              <a:rPr lang="en-AU" altLang="en-US" sz="1200"/>
              <a:pPr eaLnBrk="1" hangingPunct="1"/>
              <a:t>17</a:t>
            </a:fld>
            <a:endParaRPr lang="en-AU" altLang="en-US" sz="1200"/>
          </a:p>
        </p:txBody>
      </p:sp>
      <p:sp>
        <p:nvSpPr>
          <p:cNvPr id="51203" name="Rectangle 2">
            <a:extLst>
              <a:ext uri="{FF2B5EF4-FFF2-40B4-BE49-F238E27FC236}">
                <a16:creationId xmlns:a16="http://schemas.microsoft.com/office/drawing/2014/main" id="{0A5E222B-15A0-4DEB-AD71-94A8C572CD5B}"/>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BFC96968-9476-45BA-9644-C2495B407B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a:t>
            </a:r>
            <a:r>
              <a:rPr lang="en-US" altLang="en-US">
                <a:latin typeface="Times-Roman" charset="0"/>
              </a:rPr>
              <a:t>MixColumns stage is a substitution that makes use of arithmetic over GF</a:t>
            </a:r>
            <a:r>
              <a:rPr lang="en-US" altLang="en-US">
                <a:latin typeface="Helvetica" panose="020B0604020202020204" pitchFamily="34" charset="0"/>
              </a:rPr>
              <a:t>(2^8). </a:t>
            </a:r>
            <a:r>
              <a:rPr lang="en-US" altLang="en-US">
                <a:latin typeface="Times-Roman" charset="0"/>
              </a:rPr>
              <a:t>Each byte of a column is mapped into a new value that is a function of all four bytes in that column. </a:t>
            </a:r>
            <a:r>
              <a:rPr lang="en-US" altLang="en-US"/>
              <a:t>It is designed as a matrix multiplication where each byte is treated as a polynomial in GF(2</a:t>
            </a:r>
            <a:r>
              <a:rPr lang="en-US" altLang="en-US" baseline="30000"/>
              <a:t>8</a:t>
            </a:r>
            <a:r>
              <a:rPr lang="en-US" altLang="en-US"/>
              <a:t>). The inverse used for decryption involves a different set of constants.</a:t>
            </a:r>
          </a:p>
          <a:p>
            <a:pPr eaLnBrk="1" hangingPunct="1"/>
            <a:r>
              <a:rPr lang="en-US" altLang="en-US"/>
              <a:t>The constants used are based on a linear code with maximal distance between code words – this gives good mixing of the bytes within each column. Combined with the “shift rows” step provides good avalanche, so that within a few rounds, all output bits depend on all input bits.</a:t>
            </a:r>
          </a:p>
          <a:p>
            <a:pPr eaLnBrk="1" hangingPunct="1"/>
            <a:endParaRPr lang="en-US" altLang="en-US"/>
          </a:p>
          <a:p>
            <a:pPr eaLnBrk="1" hangingPunct="1"/>
            <a:endParaRPr lang="en-US" altLang="en-US"/>
          </a:p>
          <a:p>
            <a:pPr eaLnBrk="1" hangingPunct="1"/>
            <a:endParaRPr lang="en-AU"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1E66C1D2-C13A-44AD-8DB8-CCE60E1C20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A6EA584A-F5BC-4155-B9BD-3DA99C98EC4F}" type="slidenum">
              <a:rPr lang="en-AU" altLang="en-US" sz="1200"/>
              <a:pPr eaLnBrk="1" hangingPunct="1"/>
              <a:t>18</a:t>
            </a:fld>
            <a:endParaRPr lang="en-AU" altLang="en-US" sz="1200"/>
          </a:p>
        </p:txBody>
      </p:sp>
      <p:sp>
        <p:nvSpPr>
          <p:cNvPr id="52227" name="Rectangle 2">
            <a:extLst>
              <a:ext uri="{FF2B5EF4-FFF2-40B4-BE49-F238E27FC236}">
                <a16:creationId xmlns:a16="http://schemas.microsoft.com/office/drawing/2014/main" id="{B24FFD06-2AC3-4B7C-A12D-6613D4A70922}"/>
              </a:ext>
            </a:extLst>
          </p:cNvPr>
          <p:cNvSpPr>
            <a:spLocks noGrp="1" noRot="1" noChangeAspect="1" noChangeArrowheads="1" noTextEdit="1"/>
          </p:cNvSpPr>
          <p:nvPr>
            <p:ph type="sldImg"/>
          </p:nvPr>
        </p:nvSpPr>
        <p:spPr>
          <a:solidFill>
            <a:srgbClr val="FFFFFF"/>
          </a:solidFill>
          <a:ln/>
        </p:spPr>
      </p:sp>
      <p:sp>
        <p:nvSpPr>
          <p:cNvPr id="52228" name="Rectangle 3">
            <a:extLst>
              <a:ext uri="{FF2B5EF4-FFF2-40B4-BE49-F238E27FC236}">
                <a16:creationId xmlns:a16="http://schemas.microsoft.com/office/drawing/2014/main" id="{39F99C5D-3E88-4696-8182-63286B59D5E4}"/>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AU" altLang="en-US"/>
              <a:t>Stalling Figure 5.5b illustrates the Mix Columns transformation.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6F249B4-55F7-4CE3-ACB1-EB53951863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ED131B74-B033-48E2-8340-52583B95F1E2}" type="slidenum">
              <a:rPr lang="en-AU" altLang="en-US" sz="1200"/>
              <a:pPr eaLnBrk="1" hangingPunct="1"/>
              <a:t>19</a:t>
            </a:fld>
            <a:endParaRPr lang="en-AU" altLang="en-US" sz="1200"/>
          </a:p>
        </p:txBody>
      </p:sp>
      <p:sp>
        <p:nvSpPr>
          <p:cNvPr id="53251" name="Rectangle 2">
            <a:extLst>
              <a:ext uri="{FF2B5EF4-FFF2-40B4-BE49-F238E27FC236}">
                <a16:creationId xmlns:a16="http://schemas.microsoft.com/office/drawing/2014/main" id="{F0B9B34F-2546-4CFD-AD59-93B992D4860D}"/>
              </a:ext>
            </a:extLst>
          </p:cNvPr>
          <p:cNvSpPr>
            <a:spLocks noGrp="1" noRot="1" noChangeAspect="1" noChangeArrowheads="1" noTextEdit="1"/>
          </p:cNvSpPr>
          <p:nvPr>
            <p:ph type="sldImg"/>
          </p:nvPr>
        </p:nvSpPr>
        <p:spPr>
          <a:solidFill>
            <a:srgbClr val="FFFFFF"/>
          </a:solidFill>
          <a:ln/>
        </p:spPr>
      </p:sp>
      <p:sp>
        <p:nvSpPr>
          <p:cNvPr id="53252" name="Rectangle 3">
            <a:extLst>
              <a:ext uri="{FF2B5EF4-FFF2-40B4-BE49-F238E27FC236}">
                <a16:creationId xmlns:a16="http://schemas.microsoft.com/office/drawing/2014/main" id="{A41C5B36-C665-4936-B9B6-C097E22BE148}"/>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AU" altLang="en-US"/>
              <a:t>In practise, you implement Mix Columns by expressing the transformation on each column as 4 equations (Stallings equation 5.4) to compute the new bytes for that column. This computation only involves shifts, XORs &amp; conditional XORs (for the modulo reduction).</a:t>
            </a:r>
          </a:p>
          <a:p>
            <a:pPr eaLnBrk="1" hangingPunct="1"/>
            <a:r>
              <a:rPr lang="en-AU" altLang="en-US"/>
              <a:t>The decryption computation requires the use of the inverse of the matrix, which has larger </a:t>
            </a:r>
            <a:r>
              <a:rPr lang="en-US" altLang="en-US"/>
              <a:t>coefficients, and is thus potentially a little harder &amp; slower to implement.</a:t>
            </a:r>
          </a:p>
          <a:p>
            <a:pPr eaLnBrk="1" hangingPunct="1"/>
            <a:r>
              <a:rPr lang="en-US" altLang="en-US"/>
              <a:t>The designers &amp; the AES standard provide an alternate characterisation of Mix Columns, which treats each column of State to be a four-term polynomial with coefficients in GF(2</a:t>
            </a:r>
            <a:r>
              <a:rPr lang="en-US" altLang="en-US" baseline="30000"/>
              <a:t>8</a:t>
            </a:r>
            <a:r>
              <a:rPr lang="en-US" altLang="en-US"/>
              <a:t>). Each column is multiplied by a fixed polynomial a(x) given in Stallings eqn 5.7. Whilst this is useful for analysis of the stage, the matrix description is all that’s required for implementation.</a:t>
            </a:r>
            <a:endParaRPr lang="en-AU"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ED494044-BD83-4356-B284-B68EAB6260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1DA2C817-79A8-4A7E-A105-E929385916FD}" type="slidenum">
              <a:rPr lang="en-AU" altLang="en-US" sz="1200"/>
              <a:pPr eaLnBrk="1" hangingPunct="1"/>
              <a:t>20</a:t>
            </a:fld>
            <a:endParaRPr lang="en-AU" altLang="en-US" sz="1200"/>
          </a:p>
        </p:txBody>
      </p:sp>
      <p:sp>
        <p:nvSpPr>
          <p:cNvPr id="54275" name="Rectangle 2">
            <a:extLst>
              <a:ext uri="{FF2B5EF4-FFF2-40B4-BE49-F238E27FC236}">
                <a16:creationId xmlns:a16="http://schemas.microsoft.com/office/drawing/2014/main" id="{02DA101E-79DC-446F-8491-1B08D2DDA47A}"/>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E77F735E-2B25-4323-8A4A-3E3083FBEB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Lastly is the </a:t>
            </a:r>
            <a:r>
              <a:rPr lang="en-AU" altLang="en-US"/>
              <a:t>Add Round Key</a:t>
            </a:r>
            <a:r>
              <a:rPr lang="en-US" altLang="en-US"/>
              <a:t> stage which </a:t>
            </a:r>
            <a:r>
              <a:rPr lang="en-US" altLang="en-US">
                <a:latin typeface="Times-Roman" charset="0"/>
              </a:rPr>
              <a:t>is a simple bitwise XOR of the current block with a portion of the expanded </a:t>
            </a:r>
            <a:r>
              <a:rPr lang="en-US" altLang="en-US"/>
              <a:t>key. Note this is the only step which makes use of the key and obscures the result, hence MUST be used at start and end of each round, since otherwise could undo effect of other steps. But the other steps provide confusion/diffusion/non-linearity. That us you can look at the cipher as a series of XOR with key then scramble/permute block repeated. This is efficient and highly secure it is believed.</a:t>
            </a:r>
          </a:p>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8DFB3842-C5BA-4C4A-90B3-6AC93626F9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982D458D-8BDE-41FE-9A8C-FB90ECA822C0}" type="slidenum">
              <a:rPr lang="en-AU" altLang="en-US" sz="1200"/>
              <a:pPr eaLnBrk="1" hangingPunct="1"/>
              <a:t>21</a:t>
            </a:fld>
            <a:endParaRPr lang="en-AU" altLang="en-US" sz="1200"/>
          </a:p>
        </p:txBody>
      </p:sp>
      <p:sp>
        <p:nvSpPr>
          <p:cNvPr id="55299" name="Rectangle 2">
            <a:extLst>
              <a:ext uri="{FF2B5EF4-FFF2-40B4-BE49-F238E27FC236}">
                <a16:creationId xmlns:a16="http://schemas.microsoft.com/office/drawing/2014/main" id="{5A64A919-73C8-47FF-B5D2-30523A2B6659}"/>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39B802A2-E203-4D51-9511-DE82B82AA0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5.4b illustrates the </a:t>
            </a:r>
            <a:r>
              <a:rPr lang="en-AU" altLang="en-US"/>
              <a:t>Add Round Key stage</a:t>
            </a:r>
            <a:r>
              <a:rPr lang="en-US" altLang="en-US"/>
              <a:t>, which like </a:t>
            </a:r>
            <a:r>
              <a:rPr lang="en-AU" altLang="en-US"/>
              <a:t>Byte Substitution, operates on each byte of state independently.</a:t>
            </a:r>
          </a:p>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1AB5BCFA-8EE9-487A-A477-9EBCA29F74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748FB26B-819A-45A7-8522-885D063C9C79}" type="slidenum">
              <a:rPr lang="en-AU" altLang="en-US" sz="1200"/>
              <a:pPr eaLnBrk="1" hangingPunct="1"/>
              <a:t>22</a:t>
            </a:fld>
            <a:endParaRPr lang="en-AU" altLang="en-US" sz="1200"/>
          </a:p>
        </p:txBody>
      </p:sp>
      <p:sp>
        <p:nvSpPr>
          <p:cNvPr id="56323" name="Rectangle 2">
            <a:extLst>
              <a:ext uri="{FF2B5EF4-FFF2-40B4-BE49-F238E27FC236}">
                <a16:creationId xmlns:a16="http://schemas.microsoft.com/office/drawing/2014/main" id="{440070E8-71EC-4DCE-BB59-3DBDA8F45A78}"/>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38889799-7B61-43A3-A8F7-9D92FF3F10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Can thus now view all the internal details of the AES round, showing how each byte of the state is manipulated, as shown in Stallings Figure 5.3.</a:t>
            </a:r>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5EF9A5F2-D037-4B7D-A08C-F02AC5DF8C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941724BA-2DEB-4945-A9DC-EA839D6C3A71}" type="slidenum">
              <a:rPr lang="en-AU" altLang="en-US" sz="1200"/>
              <a:pPr eaLnBrk="1" hangingPunct="1"/>
              <a:t>23</a:t>
            </a:fld>
            <a:endParaRPr lang="en-AU" altLang="en-US" sz="1200"/>
          </a:p>
        </p:txBody>
      </p:sp>
      <p:sp>
        <p:nvSpPr>
          <p:cNvPr id="57347" name="Rectangle 2">
            <a:extLst>
              <a:ext uri="{FF2B5EF4-FFF2-40B4-BE49-F238E27FC236}">
                <a16:creationId xmlns:a16="http://schemas.microsoft.com/office/drawing/2014/main" id="{E1751A38-EBC0-4785-B8B5-B8FBD4F641DD}"/>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2E6836CB-9D01-47A9-8DE8-A618D9F738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AES key expansion algorithm takes as input a 4-word (16-byte) key and produces a linear array of words, providing a 4-word round key for the initial AddRoundKey stage and each of the 10/12/14 rounds of the cipher</a:t>
            </a:r>
            <a:r>
              <a:rPr lang="en-US" altLang="en-US"/>
              <a:t>. It involves copying the key into the first group of 4 words, and then constructing subsequent groups of 4 based on the values of the previous &amp; 4th back words. The first word in each group of 4 gets “special treatment” with rotate + S-box + XOR constant on the previous word before XOR’ing the one from 4 back. In the 256-bit key/14 round version, there’s also an extra step on the middle word.</a:t>
            </a:r>
            <a:endParaRPr lang="en-AU"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95DAA93A-71E2-4E91-85CE-FE6DBAF50C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16DF3D53-5CB5-4678-B92D-153B7F584E4B}" type="slidenum">
              <a:rPr lang="en-AU" altLang="en-US" sz="1200"/>
              <a:pPr eaLnBrk="1" hangingPunct="1"/>
              <a:t>24</a:t>
            </a:fld>
            <a:endParaRPr lang="en-AU" altLang="en-US" sz="1200"/>
          </a:p>
        </p:txBody>
      </p:sp>
      <p:sp>
        <p:nvSpPr>
          <p:cNvPr id="58371" name="Rectangle 2">
            <a:extLst>
              <a:ext uri="{FF2B5EF4-FFF2-40B4-BE49-F238E27FC236}">
                <a16:creationId xmlns:a16="http://schemas.microsoft.com/office/drawing/2014/main" id="{21D81B2F-0434-4FB0-B0C2-79985E76C3AC}"/>
              </a:ext>
            </a:extLst>
          </p:cNvPr>
          <p:cNvSpPr>
            <a:spLocks noGrp="1" noRot="1" noChangeAspect="1" noChangeArrowheads="1" noTextEdit="1"/>
          </p:cNvSpPr>
          <p:nvPr>
            <p:ph type="sldImg"/>
          </p:nvPr>
        </p:nvSpPr>
        <p:spPr>
          <a:solidFill>
            <a:srgbClr val="FFFFFF"/>
          </a:solidFill>
          <a:ln/>
        </p:spPr>
      </p:sp>
      <p:sp>
        <p:nvSpPr>
          <p:cNvPr id="58372" name="Rectangle 3">
            <a:extLst>
              <a:ext uri="{FF2B5EF4-FFF2-40B4-BE49-F238E27FC236}">
                <a16:creationId xmlns:a16="http://schemas.microsoft.com/office/drawing/2014/main" id="{F943D505-FA79-493D-BFF7-EF39C61DCC36}"/>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t>The first block of the AES Key Expansion is shown here in Stallings Figure 5.6. It shows each group of 4 bytes in the key being assigned to the first 4 words, then the calculation of the next 4 words based on the values of the previous 4 words, which is repeated enough times to create all the necessary subkey information.</a:t>
            </a:r>
            <a:endParaRPr lang="en-AU"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B1B9230C-37F3-479F-AEED-8CE7D8A2F0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F1B234B-A6D4-440B-9663-1A4B3DEAE1AF}" type="slidenum">
              <a:rPr lang="en-AU" altLang="en-US" sz="1200"/>
              <a:pPr eaLnBrk="1" hangingPunct="1"/>
              <a:t>25</a:t>
            </a:fld>
            <a:endParaRPr lang="en-AU" altLang="en-US" sz="1200"/>
          </a:p>
        </p:txBody>
      </p:sp>
      <p:sp>
        <p:nvSpPr>
          <p:cNvPr id="59395" name="Rectangle 2">
            <a:extLst>
              <a:ext uri="{FF2B5EF4-FFF2-40B4-BE49-F238E27FC236}">
                <a16:creationId xmlns:a16="http://schemas.microsoft.com/office/drawing/2014/main" id="{B13EB200-A2DB-467F-9401-735B265B7AC4}"/>
              </a:ext>
            </a:extLst>
          </p:cNvPr>
          <p:cNvSpPr>
            <a:spLocks noGrp="1" noRot="1" noChangeAspect="1" noChangeArrowheads="1" noTextEdit="1"/>
          </p:cNvSpPr>
          <p:nvPr>
            <p:ph type="sldImg"/>
          </p:nvPr>
        </p:nvSpPr>
        <p:spPr>
          <a:solidFill>
            <a:srgbClr val="FFFFFF"/>
          </a:solidFill>
          <a:ln/>
        </p:spPr>
      </p:sp>
      <p:sp>
        <p:nvSpPr>
          <p:cNvPr id="59396" name="Rectangle 3">
            <a:extLst>
              <a:ext uri="{FF2B5EF4-FFF2-40B4-BE49-F238E27FC236}">
                <a16:creationId xmlns:a16="http://schemas.microsoft.com/office/drawing/2014/main" id="{74C28CE1-4F97-4A74-8599-BA61737A6067}"/>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Roman" charset="0"/>
              </a:rPr>
              <a:t>The Rijndael developers designed the expansion key algorithm to be resistant to known cryptanalytic attacks. </a:t>
            </a:r>
            <a:r>
              <a:rPr lang="en-US" altLang="en-US"/>
              <a:t>It is designed to be simple to implement, but by using round constants break symmetries, and make it much harder to deduce other key bits if just some are known (but once have as many consecutive bits as are in key, can then easily recreate the full expansion). The design criteria used are listed above.</a:t>
            </a:r>
          </a:p>
          <a:p>
            <a:pPr eaLnBrk="1" hangingPunct="1"/>
            <a:endParaRPr lang="en-US" altLang="en-US"/>
          </a:p>
          <a:p>
            <a:pPr eaLnBrk="1" hangingPunct="1"/>
            <a:endParaRPr lang="en-AU"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E40BDD12-B533-48F4-959C-A68502914E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0241E82-FF05-4715-8F75-FAA9AA474710}" type="slidenum">
              <a:rPr lang="en-AU" altLang="en-US" sz="1200"/>
              <a:pPr eaLnBrk="1" hangingPunct="1"/>
              <a:t>26</a:t>
            </a:fld>
            <a:endParaRPr lang="en-AU" altLang="en-US" sz="1200"/>
          </a:p>
        </p:txBody>
      </p:sp>
      <p:sp>
        <p:nvSpPr>
          <p:cNvPr id="60419" name="Rectangle 2">
            <a:extLst>
              <a:ext uri="{FF2B5EF4-FFF2-40B4-BE49-F238E27FC236}">
                <a16:creationId xmlns:a16="http://schemas.microsoft.com/office/drawing/2014/main" id="{D92F9A7D-D130-4FEC-8A19-633313E5C78F}"/>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15096E95-BCA1-4C21-B416-E826988484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AES decryption cipher is not identical to the encryption cipher (Stallings Figure 5.1). The sequence of transformations for decryption differs from that for encryption, although the form of the key schedules for encryption and decryption is the same. This has the disadvantage that two separate software or firmware modules are needed for applications that require both encryption and decryption. There is, however, an equivalent version of the decryption algorithm that has the same structure as the encryption algorithm, with the same sequence of transformations as the encryption algorithm (with transformations replaced by their inverses). To achieve this equivalence,a change in key schedule is needed. </a:t>
            </a:r>
            <a:endParaRPr lang="en-US" altLang="en-US"/>
          </a:p>
          <a:p>
            <a:pPr eaLnBrk="1" hangingPunct="1"/>
            <a:r>
              <a:rPr lang="en-US" altLang="en-US"/>
              <a:t>By constructing an equivalent inverse cipher with steps in same order as for encryption, we can derive a more efficient implementation. Clearly swapping the byte substitutions and shift rows has no effect, since work just on bytes. Swapping the mix columns and add round key steps requires the inverse mix columns step be applied to the round keys first – this makes the decryption key schedule a little more complex with this construction, but allows the use of same h/w or s/w for the data en/decrypt computation.</a:t>
            </a:r>
          </a:p>
          <a:p>
            <a:pPr eaLnBrk="1" hangingPunct="1"/>
            <a:endParaRPr lang="en-AU"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D3C9EE32-9DE2-40D7-A8EE-D0C5818619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9CD7E90E-C72F-4F46-A18F-AC34E49CF677}" type="slidenum">
              <a:rPr lang="en-AU" altLang="en-US" sz="1200"/>
              <a:pPr eaLnBrk="1" hangingPunct="1"/>
              <a:t>27</a:t>
            </a:fld>
            <a:endParaRPr lang="en-AU" altLang="en-US" sz="1200"/>
          </a:p>
        </p:txBody>
      </p:sp>
      <p:sp>
        <p:nvSpPr>
          <p:cNvPr id="61443" name="Rectangle 2">
            <a:extLst>
              <a:ext uri="{FF2B5EF4-FFF2-40B4-BE49-F238E27FC236}">
                <a16:creationId xmlns:a16="http://schemas.microsoft.com/office/drawing/2014/main" id="{D942CB21-D577-4DA2-9BDD-0274695D940D}"/>
              </a:ext>
            </a:extLst>
          </p:cNvPr>
          <p:cNvSpPr>
            <a:spLocks noGrp="1" noRot="1" noChangeAspect="1" noChangeArrowheads="1" noTextEdit="1"/>
          </p:cNvSpPr>
          <p:nvPr>
            <p:ph type="sldImg"/>
          </p:nvPr>
        </p:nvSpPr>
        <p:spPr>
          <a:solidFill>
            <a:srgbClr val="FFFFFF"/>
          </a:solidFill>
          <a:ln/>
        </p:spPr>
      </p:sp>
      <p:sp>
        <p:nvSpPr>
          <p:cNvPr id="61444" name="Rectangle 3">
            <a:extLst>
              <a:ext uri="{FF2B5EF4-FFF2-40B4-BE49-F238E27FC236}">
                <a16:creationId xmlns:a16="http://schemas.microsoft.com/office/drawing/2014/main" id="{E0EF125D-A13D-454D-9580-BE1BAC8157A2}"/>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dirty="0"/>
              <a:t>Illustrate the equivalent inverse cipher with Stallings Figure 5.7.</a:t>
            </a:r>
          </a:p>
          <a:p>
            <a:pPr eaLnBrk="1" hangingPunct="1"/>
            <a:endParaRPr lang="en-AU"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867EAA03-A075-4ADF-BA4F-79B6EB9EB7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962ABF75-6F47-438B-B4C6-4F8D17B82FCC}" type="slidenum">
              <a:rPr lang="en-AU" altLang="en-US" sz="1200"/>
              <a:pPr eaLnBrk="1" hangingPunct="1"/>
              <a:t>28</a:t>
            </a:fld>
            <a:endParaRPr lang="en-AU" altLang="en-US" sz="1200"/>
          </a:p>
        </p:txBody>
      </p:sp>
      <p:sp>
        <p:nvSpPr>
          <p:cNvPr id="62467" name="Rectangle 2">
            <a:extLst>
              <a:ext uri="{FF2B5EF4-FFF2-40B4-BE49-F238E27FC236}">
                <a16:creationId xmlns:a16="http://schemas.microsoft.com/office/drawing/2014/main" id="{E1186B40-5A39-49FD-81F9-A3C8A47ADA76}"/>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423C37DC-7A2A-4E45-B009-92B5F1F7F6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AES can be implemented very efficiently on an 8-bit processor.</a:t>
            </a:r>
          </a:p>
          <a:p>
            <a:pPr eaLnBrk="1" hangingPunct="1"/>
            <a:r>
              <a:rPr lang="en-US" altLang="en-US">
                <a:latin typeface="Times-Roman" charset="0"/>
              </a:rPr>
              <a:t>AddRoundKey is a bytewise XOR operation. </a:t>
            </a:r>
          </a:p>
          <a:p>
            <a:pPr eaLnBrk="1" hangingPunct="1"/>
            <a:r>
              <a:rPr lang="en-US" altLang="en-US">
                <a:latin typeface="Times-Roman" charset="0"/>
              </a:rPr>
              <a:t>ShiftRows is a simple byte shifting operation. </a:t>
            </a:r>
          </a:p>
          <a:p>
            <a:pPr eaLnBrk="1" hangingPunct="1"/>
            <a:r>
              <a:rPr lang="en-US" altLang="en-US">
                <a:latin typeface="Times-Roman" charset="0"/>
              </a:rPr>
              <a:t>SubBytes operates at the byte level and only requires a lookup of a 256 byte table S. </a:t>
            </a:r>
          </a:p>
          <a:p>
            <a:pPr eaLnBrk="1" hangingPunct="1"/>
            <a:r>
              <a:rPr lang="en-US" altLang="en-US">
                <a:latin typeface="Times-Roman" charset="0"/>
              </a:rPr>
              <a:t>MixColumns (matrix multiply) can be implemented as byte XOR’s &amp; table lookups with a 2nd 256 byte table X2, using the formulae shown in Stallings equation 5.9.</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BC30E34F-4BD0-4EAB-BF54-EC129D42E9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E9FB82EF-1B78-4F24-A0D5-59216E9E91F0}" type="slidenum">
              <a:rPr lang="en-AU" altLang="en-US" sz="1200"/>
              <a:pPr eaLnBrk="1" hangingPunct="1"/>
              <a:t>29</a:t>
            </a:fld>
            <a:endParaRPr lang="en-AU" altLang="en-US" sz="1200"/>
          </a:p>
        </p:txBody>
      </p:sp>
      <p:sp>
        <p:nvSpPr>
          <p:cNvPr id="63491" name="Rectangle 2">
            <a:extLst>
              <a:ext uri="{FF2B5EF4-FFF2-40B4-BE49-F238E27FC236}">
                <a16:creationId xmlns:a16="http://schemas.microsoft.com/office/drawing/2014/main" id="{91F72AFD-CFDF-4630-9241-E95DFE0F3301}"/>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53105B16-6AA5-4296-8AB2-056D860285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AES can also be very efficiently implemented on an 32-bit processor, by rewriting the stage transformation to use 4 table lookups &amp; 4 XOR’s per column of state. These tables can be computed in advance using the formulae shown in the text, and need 4Kb to store.</a:t>
            </a:r>
          </a:p>
          <a:p>
            <a:pPr eaLnBrk="1" hangingPunct="1"/>
            <a:r>
              <a:rPr lang="en-US" altLang="en-US">
                <a:latin typeface="Times-Roman" charset="0"/>
              </a:rPr>
              <a:t>The developers of Rijndael believe that this compact, efficient implementation was probably one of the most important factors in the selection of Rijndael for AES.</a:t>
            </a:r>
            <a:r>
              <a:rPr lang="en-US" altLang="en-US">
                <a:latin typeface="Helvetica" panose="020B0604020202020204" pitchFamily="34" charset="0"/>
              </a:rPr>
              <a:t> </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AEAD2CA6-F7A1-49DC-A1A0-BCAA8487B5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44458B7-A890-4015-B714-03E7F0EE9BF2}" type="slidenum">
              <a:rPr lang="en-AU" altLang="en-US" sz="1200"/>
              <a:pPr eaLnBrk="1" hangingPunct="1"/>
              <a:t>31</a:t>
            </a:fld>
            <a:endParaRPr lang="en-AU" altLang="en-US" sz="1200"/>
          </a:p>
        </p:txBody>
      </p:sp>
      <p:sp>
        <p:nvSpPr>
          <p:cNvPr id="64515" name="Rectangle 2">
            <a:extLst>
              <a:ext uri="{FF2B5EF4-FFF2-40B4-BE49-F238E27FC236}">
                <a16:creationId xmlns:a16="http://schemas.microsoft.com/office/drawing/2014/main" id="{81CDF31E-2A39-4BC4-A285-C2A57306ABC1}"/>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ABD5F2F3-3711-4AA1-B9A0-A277BA953D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Chapter 5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026">
            <a:extLst>
              <a:ext uri="{FF2B5EF4-FFF2-40B4-BE49-F238E27FC236}">
                <a16:creationId xmlns:a16="http://schemas.microsoft.com/office/drawing/2014/main" id="{E3288DCF-39FB-48BF-AAE8-B71DC9EEC058}"/>
              </a:ext>
            </a:extLst>
          </p:cNvPr>
          <p:cNvGrpSpPr>
            <a:grpSpLocks/>
          </p:cNvGrpSpPr>
          <p:nvPr/>
        </p:nvGrpSpPr>
        <p:grpSpPr bwMode="auto">
          <a:xfrm>
            <a:off x="3175" y="4267200"/>
            <a:ext cx="9140825" cy="2590800"/>
            <a:chOff x="2" y="2688"/>
            <a:chExt cx="5758" cy="1632"/>
          </a:xfrm>
        </p:grpSpPr>
        <p:sp>
          <p:nvSpPr>
            <p:cNvPr id="5" name="Freeform 1027">
              <a:extLst>
                <a:ext uri="{FF2B5EF4-FFF2-40B4-BE49-F238E27FC236}">
                  <a16:creationId xmlns:a16="http://schemas.microsoft.com/office/drawing/2014/main" id="{23CE2842-1A71-43BA-AD57-530514DB57B4}"/>
                </a:ext>
              </a:extLst>
            </p:cNvPr>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grpSp>
          <p:nvGrpSpPr>
            <p:cNvPr id="6" name="Group 1028">
              <a:extLst>
                <a:ext uri="{FF2B5EF4-FFF2-40B4-BE49-F238E27FC236}">
                  <a16:creationId xmlns:a16="http://schemas.microsoft.com/office/drawing/2014/main" id="{83BE025C-48C8-44A9-99BF-6356940C0CA9}"/>
                </a:ext>
              </a:extLst>
            </p:cNvPr>
            <p:cNvGrpSpPr>
              <a:grpSpLocks/>
            </p:cNvGrpSpPr>
            <p:nvPr/>
          </p:nvGrpSpPr>
          <p:grpSpPr bwMode="auto">
            <a:xfrm>
              <a:off x="1776" y="3024"/>
              <a:ext cx="3929" cy="1290"/>
              <a:chOff x="1776" y="3024"/>
              <a:chExt cx="3929" cy="1290"/>
            </a:xfrm>
          </p:grpSpPr>
          <p:grpSp>
            <p:nvGrpSpPr>
              <p:cNvPr id="7" name="Group 1029">
                <a:extLst>
                  <a:ext uri="{FF2B5EF4-FFF2-40B4-BE49-F238E27FC236}">
                    <a16:creationId xmlns:a16="http://schemas.microsoft.com/office/drawing/2014/main" id="{2EC989A6-6BC4-4927-BAD7-F467CB988535}"/>
                  </a:ext>
                </a:extLst>
              </p:cNvPr>
              <p:cNvGrpSpPr>
                <a:grpSpLocks/>
              </p:cNvGrpSpPr>
              <p:nvPr/>
            </p:nvGrpSpPr>
            <p:grpSpPr bwMode="auto">
              <a:xfrm>
                <a:off x="2268" y="3934"/>
                <a:ext cx="638" cy="377"/>
                <a:chOff x="2268" y="3934"/>
                <a:chExt cx="638" cy="377"/>
              </a:xfrm>
            </p:grpSpPr>
            <p:sp>
              <p:nvSpPr>
                <p:cNvPr id="60" name="Oval 1030">
                  <a:extLst>
                    <a:ext uri="{FF2B5EF4-FFF2-40B4-BE49-F238E27FC236}">
                      <a16:creationId xmlns:a16="http://schemas.microsoft.com/office/drawing/2014/main" id="{265187A4-C2A6-4EDF-A024-5B754A58B206}"/>
                    </a:ext>
                  </a:extLst>
                </p:cNvPr>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lstStyle/>
                <a:p>
                  <a:pPr>
                    <a:defRPr/>
                  </a:pPr>
                  <a:endParaRPr lang="th-TH"/>
                </a:p>
              </p:txBody>
            </p:sp>
            <p:sp>
              <p:nvSpPr>
                <p:cNvPr id="61" name="Oval 1031">
                  <a:extLst>
                    <a:ext uri="{FF2B5EF4-FFF2-40B4-BE49-F238E27FC236}">
                      <a16:creationId xmlns:a16="http://schemas.microsoft.com/office/drawing/2014/main" id="{199937D0-8290-4CAD-96B6-951D891F3876}"/>
                    </a:ext>
                  </a:extLst>
                </p:cNvPr>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lstStyle/>
                <a:p>
                  <a:pPr>
                    <a:defRPr/>
                  </a:pPr>
                  <a:endParaRPr lang="th-TH"/>
                </a:p>
              </p:txBody>
            </p:sp>
            <p:sp>
              <p:nvSpPr>
                <p:cNvPr id="62" name="Oval 1032">
                  <a:extLst>
                    <a:ext uri="{FF2B5EF4-FFF2-40B4-BE49-F238E27FC236}">
                      <a16:creationId xmlns:a16="http://schemas.microsoft.com/office/drawing/2014/main" id="{283B778A-4BD2-4848-81FB-72BDAA0C3542}"/>
                    </a:ext>
                  </a:extLst>
                </p:cNvPr>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lstStyle/>
                <a:p>
                  <a:pPr>
                    <a:defRPr/>
                  </a:pPr>
                  <a:endParaRPr lang="th-TH"/>
                </a:p>
              </p:txBody>
            </p:sp>
            <p:sp>
              <p:nvSpPr>
                <p:cNvPr id="63" name="Oval 1033">
                  <a:extLst>
                    <a:ext uri="{FF2B5EF4-FFF2-40B4-BE49-F238E27FC236}">
                      <a16:creationId xmlns:a16="http://schemas.microsoft.com/office/drawing/2014/main" id="{4AB353F1-344D-4E27-BBBB-06FBEBFDA59F}"/>
                    </a:ext>
                  </a:extLst>
                </p:cNvPr>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th-TH"/>
                </a:p>
              </p:txBody>
            </p:sp>
            <p:sp>
              <p:nvSpPr>
                <p:cNvPr id="64" name="Oval 1034">
                  <a:extLst>
                    <a:ext uri="{FF2B5EF4-FFF2-40B4-BE49-F238E27FC236}">
                      <a16:creationId xmlns:a16="http://schemas.microsoft.com/office/drawing/2014/main" id="{E0155BFB-ECC0-4C5A-A3CD-26029AA3004D}"/>
                    </a:ext>
                  </a:extLst>
                </p:cNvPr>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sp>
              <p:nvSpPr>
                <p:cNvPr id="65" name="Oval 1035">
                  <a:extLst>
                    <a:ext uri="{FF2B5EF4-FFF2-40B4-BE49-F238E27FC236}">
                      <a16:creationId xmlns:a16="http://schemas.microsoft.com/office/drawing/2014/main" id="{4DE42740-C4E4-4C66-911E-5E7698C8D481}"/>
                    </a:ext>
                  </a:extLst>
                </p:cNvPr>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th-TH"/>
                </a:p>
              </p:txBody>
            </p:sp>
            <p:sp>
              <p:nvSpPr>
                <p:cNvPr id="66" name="Oval 1036">
                  <a:extLst>
                    <a:ext uri="{FF2B5EF4-FFF2-40B4-BE49-F238E27FC236}">
                      <a16:creationId xmlns:a16="http://schemas.microsoft.com/office/drawing/2014/main" id="{66482FBA-0896-4CF5-B82A-132C44B043EF}"/>
                    </a:ext>
                  </a:extLst>
                </p:cNvPr>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lstStyle/>
                <a:p>
                  <a:pPr>
                    <a:defRPr/>
                  </a:pPr>
                  <a:endParaRPr lang="th-TH"/>
                </a:p>
              </p:txBody>
            </p:sp>
            <p:sp>
              <p:nvSpPr>
                <p:cNvPr id="67" name="Oval 1037">
                  <a:extLst>
                    <a:ext uri="{FF2B5EF4-FFF2-40B4-BE49-F238E27FC236}">
                      <a16:creationId xmlns:a16="http://schemas.microsoft.com/office/drawing/2014/main" id="{D0572380-86B2-4491-9796-9DDEFF7B9809}"/>
                    </a:ext>
                  </a:extLst>
                </p:cNvPr>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lstStyle/>
                <a:p>
                  <a:pPr>
                    <a:defRPr/>
                  </a:pPr>
                  <a:endParaRPr lang="th-TH"/>
                </a:p>
              </p:txBody>
            </p:sp>
          </p:grpSp>
          <p:sp>
            <p:nvSpPr>
              <p:cNvPr id="8" name="Oval 1038">
                <a:extLst>
                  <a:ext uri="{FF2B5EF4-FFF2-40B4-BE49-F238E27FC236}">
                    <a16:creationId xmlns:a16="http://schemas.microsoft.com/office/drawing/2014/main" id="{D52F5CC7-B86C-4E84-8486-56000BB954D8}"/>
                  </a:ext>
                </a:extLst>
              </p:cNvPr>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lstStyle/>
              <a:p>
                <a:pPr>
                  <a:defRPr/>
                </a:pPr>
                <a:endParaRPr lang="th-TH"/>
              </a:p>
            </p:txBody>
          </p:sp>
          <p:sp>
            <p:nvSpPr>
              <p:cNvPr id="9" name="Oval 1039">
                <a:extLst>
                  <a:ext uri="{FF2B5EF4-FFF2-40B4-BE49-F238E27FC236}">
                    <a16:creationId xmlns:a16="http://schemas.microsoft.com/office/drawing/2014/main" id="{C93FF54C-1F63-4C35-B59B-B6E8FE037B0A}"/>
                  </a:ext>
                </a:extLst>
              </p:cNvPr>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lstStyle/>
              <a:p>
                <a:pPr>
                  <a:defRPr/>
                </a:pPr>
                <a:endParaRPr lang="th-TH"/>
              </a:p>
            </p:txBody>
          </p:sp>
          <p:sp>
            <p:nvSpPr>
              <p:cNvPr id="10" name="Oval 1040">
                <a:extLst>
                  <a:ext uri="{FF2B5EF4-FFF2-40B4-BE49-F238E27FC236}">
                    <a16:creationId xmlns:a16="http://schemas.microsoft.com/office/drawing/2014/main" id="{6D687ED1-707F-497A-9395-99FAE64492E6}"/>
                  </a:ext>
                </a:extLst>
              </p:cNvPr>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11" name="Oval 1041">
                <a:extLst>
                  <a:ext uri="{FF2B5EF4-FFF2-40B4-BE49-F238E27FC236}">
                    <a16:creationId xmlns:a16="http://schemas.microsoft.com/office/drawing/2014/main" id="{AECB506E-221B-473B-9F88-7858D38DF3B9}"/>
                  </a:ext>
                </a:extLst>
              </p:cNvPr>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th-TH"/>
              </a:p>
            </p:txBody>
          </p:sp>
          <p:sp>
            <p:nvSpPr>
              <p:cNvPr id="12" name="Oval 1042">
                <a:extLst>
                  <a:ext uri="{FF2B5EF4-FFF2-40B4-BE49-F238E27FC236}">
                    <a16:creationId xmlns:a16="http://schemas.microsoft.com/office/drawing/2014/main" id="{98CDC2CB-A029-4E51-A8C0-4160A83D9DB9}"/>
                  </a:ext>
                </a:extLst>
              </p:cNvPr>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13" name="Freeform 1043">
                <a:extLst>
                  <a:ext uri="{FF2B5EF4-FFF2-40B4-BE49-F238E27FC236}">
                    <a16:creationId xmlns:a16="http://schemas.microsoft.com/office/drawing/2014/main" id="{CD38FED7-FE45-4E52-BC5A-7EDC736204B8}"/>
                  </a:ext>
                </a:extLst>
              </p:cNvPr>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lstStyle/>
              <a:p>
                <a:pPr>
                  <a:defRPr/>
                </a:pPr>
                <a:endParaRPr lang="th-TH"/>
              </a:p>
            </p:txBody>
          </p:sp>
          <p:sp>
            <p:nvSpPr>
              <p:cNvPr id="14" name="Freeform 1044">
                <a:extLst>
                  <a:ext uri="{FF2B5EF4-FFF2-40B4-BE49-F238E27FC236}">
                    <a16:creationId xmlns:a16="http://schemas.microsoft.com/office/drawing/2014/main" id="{18302109-7114-4BC1-A00D-C28A0527773E}"/>
                  </a:ext>
                </a:extLst>
              </p:cNvPr>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lstStyle/>
              <a:p>
                <a:pPr>
                  <a:defRPr/>
                </a:pPr>
                <a:endParaRPr lang="th-TH"/>
              </a:p>
            </p:txBody>
          </p:sp>
          <p:sp>
            <p:nvSpPr>
              <p:cNvPr id="15" name="Freeform 1045">
                <a:extLst>
                  <a:ext uri="{FF2B5EF4-FFF2-40B4-BE49-F238E27FC236}">
                    <a16:creationId xmlns:a16="http://schemas.microsoft.com/office/drawing/2014/main" id="{1FF2C355-37A9-400E-ACAE-70362C9E7282}"/>
                  </a:ext>
                </a:extLst>
              </p:cNvPr>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16" name="Freeform 1046">
                <a:extLst>
                  <a:ext uri="{FF2B5EF4-FFF2-40B4-BE49-F238E27FC236}">
                    <a16:creationId xmlns:a16="http://schemas.microsoft.com/office/drawing/2014/main" id="{59E960BB-FAD0-4B88-B5F8-589AE45DBE53}"/>
                  </a:ext>
                </a:extLst>
              </p:cNvPr>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lstStyle/>
              <a:p>
                <a:pPr>
                  <a:defRPr/>
                </a:pPr>
                <a:endParaRPr lang="th-TH"/>
              </a:p>
            </p:txBody>
          </p:sp>
          <p:sp>
            <p:nvSpPr>
              <p:cNvPr id="17" name="Freeform 1047">
                <a:extLst>
                  <a:ext uri="{FF2B5EF4-FFF2-40B4-BE49-F238E27FC236}">
                    <a16:creationId xmlns:a16="http://schemas.microsoft.com/office/drawing/2014/main" id="{1BF52626-EDB1-4C0D-B440-5703F08C6413}"/>
                  </a:ext>
                </a:extLst>
              </p:cNvPr>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lstStyle/>
              <a:p>
                <a:pPr>
                  <a:defRPr/>
                </a:pPr>
                <a:endParaRPr lang="th-TH"/>
              </a:p>
            </p:txBody>
          </p:sp>
          <p:sp>
            <p:nvSpPr>
              <p:cNvPr id="18" name="Freeform 1048">
                <a:extLst>
                  <a:ext uri="{FF2B5EF4-FFF2-40B4-BE49-F238E27FC236}">
                    <a16:creationId xmlns:a16="http://schemas.microsoft.com/office/drawing/2014/main" id="{B8DF26AC-4C88-4659-B9B7-898920DFFA11}"/>
                  </a:ext>
                </a:extLst>
              </p:cNvPr>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lstStyle/>
              <a:p>
                <a:pPr>
                  <a:defRPr/>
                </a:pPr>
                <a:endParaRPr lang="th-TH"/>
              </a:p>
            </p:txBody>
          </p:sp>
          <p:sp>
            <p:nvSpPr>
              <p:cNvPr id="19" name="Freeform 1049">
                <a:extLst>
                  <a:ext uri="{FF2B5EF4-FFF2-40B4-BE49-F238E27FC236}">
                    <a16:creationId xmlns:a16="http://schemas.microsoft.com/office/drawing/2014/main" id="{D7129511-F7E1-454F-8B86-05C7DF031B8A}"/>
                  </a:ext>
                </a:extLst>
              </p:cNvPr>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lstStyle/>
              <a:p>
                <a:pPr>
                  <a:defRPr/>
                </a:pPr>
                <a:endParaRPr lang="th-TH"/>
              </a:p>
            </p:txBody>
          </p:sp>
          <p:sp>
            <p:nvSpPr>
              <p:cNvPr id="20" name="Freeform 1050">
                <a:extLst>
                  <a:ext uri="{FF2B5EF4-FFF2-40B4-BE49-F238E27FC236}">
                    <a16:creationId xmlns:a16="http://schemas.microsoft.com/office/drawing/2014/main" id="{AEC731BF-2927-47A1-A693-8E011B7BCD7F}"/>
                  </a:ext>
                </a:extLst>
              </p:cNvPr>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lstStyle/>
              <a:p>
                <a:pPr>
                  <a:defRPr/>
                </a:pPr>
                <a:endParaRPr lang="th-TH"/>
              </a:p>
            </p:txBody>
          </p:sp>
          <p:sp>
            <p:nvSpPr>
              <p:cNvPr id="21" name="Freeform 1051">
                <a:extLst>
                  <a:ext uri="{FF2B5EF4-FFF2-40B4-BE49-F238E27FC236}">
                    <a16:creationId xmlns:a16="http://schemas.microsoft.com/office/drawing/2014/main" id="{039A2AE6-9703-4D72-894F-8B4422CFBB30}"/>
                  </a:ext>
                </a:extLst>
              </p:cNvPr>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lstStyle/>
              <a:p>
                <a:pPr>
                  <a:defRPr/>
                </a:pPr>
                <a:endParaRPr lang="th-TH"/>
              </a:p>
            </p:txBody>
          </p:sp>
          <p:sp>
            <p:nvSpPr>
              <p:cNvPr id="22" name="Freeform 1052">
                <a:extLst>
                  <a:ext uri="{FF2B5EF4-FFF2-40B4-BE49-F238E27FC236}">
                    <a16:creationId xmlns:a16="http://schemas.microsoft.com/office/drawing/2014/main" id="{E032D026-BD9B-4EB1-A5C4-12224467A82F}"/>
                  </a:ext>
                </a:extLst>
              </p:cNvPr>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lstStyle/>
              <a:p>
                <a:pPr>
                  <a:defRPr/>
                </a:pPr>
                <a:endParaRPr lang="th-TH"/>
              </a:p>
            </p:txBody>
          </p:sp>
          <p:sp>
            <p:nvSpPr>
              <p:cNvPr id="23" name="Freeform 1053">
                <a:extLst>
                  <a:ext uri="{FF2B5EF4-FFF2-40B4-BE49-F238E27FC236}">
                    <a16:creationId xmlns:a16="http://schemas.microsoft.com/office/drawing/2014/main" id="{3C836EB1-987B-420D-8C34-3A5376ADD868}"/>
                  </a:ext>
                </a:extLst>
              </p:cNvPr>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lstStyle/>
              <a:p>
                <a:pPr>
                  <a:defRPr/>
                </a:pPr>
                <a:endParaRPr lang="th-TH"/>
              </a:p>
            </p:txBody>
          </p:sp>
          <p:sp>
            <p:nvSpPr>
              <p:cNvPr id="24" name="Freeform 1054">
                <a:extLst>
                  <a:ext uri="{FF2B5EF4-FFF2-40B4-BE49-F238E27FC236}">
                    <a16:creationId xmlns:a16="http://schemas.microsoft.com/office/drawing/2014/main" id="{1CD41DE3-6B6A-4821-9E3F-5248177644D0}"/>
                  </a:ext>
                </a:extLst>
              </p:cNvPr>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lstStyle/>
              <a:p>
                <a:pPr>
                  <a:defRPr/>
                </a:pPr>
                <a:endParaRPr lang="th-TH"/>
              </a:p>
            </p:txBody>
          </p:sp>
          <p:sp>
            <p:nvSpPr>
              <p:cNvPr id="25" name="Freeform 1055">
                <a:extLst>
                  <a:ext uri="{FF2B5EF4-FFF2-40B4-BE49-F238E27FC236}">
                    <a16:creationId xmlns:a16="http://schemas.microsoft.com/office/drawing/2014/main" id="{953A27E7-DBA8-4BFC-BD08-C0A704022A6D}"/>
                  </a:ext>
                </a:extLst>
              </p:cNvPr>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26" name="Freeform 1056">
                <a:extLst>
                  <a:ext uri="{FF2B5EF4-FFF2-40B4-BE49-F238E27FC236}">
                    <a16:creationId xmlns:a16="http://schemas.microsoft.com/office/drawing/2014/main" id="{B84B6E75-D082-4450-9748-9301451829C2}"/>
                  </a:ext>
                </a:extLst>
              </p:cNvPr>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27" name="Freeform 1057">
                <a:extLst>
                  <a:ext uri="{FF2B5EF4-FFF2-40B4-BE49-F238E27FC236}">
                    <a16:creationId xmlns:a16="http://schemas.microsoft.com/office/drawing/2014/main" id="{6D788E75-C65E-45D3-8B05-0152E237B84E}"/>
                  </a:ext>
                </a:extLst>
              </p:cNvPr>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28" name="Freeform 1058">
                <a:extLst>
                  <a:ext uri="{FF2B5EF4-FFF2-40B4-BE49-F238E27FC236}">
                    <a16:creationId xmlns:a16="http://schemas.microsoft.com/office/drawing/2014/main" id="{CB07344E-D649-49B8-BCB1-F30BE6238E16}"/>
                  </a:ext>
                </a:extLst>
              </p:cNvPr>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lstStyle/>
              <a:p>
                <a:pPr>
                  <a:defRPr/>
                </a:pPr>
                <a:endParaRPr lang="th-TH"/>
              </a:p>
            </p:txBody>
          </p:sp>
          <p:sp>
            <p:nvSpPr>
              <p:cNvPr id="29" name="Freeform 1059">
                <a:extLst>
                  <a:ext uri="{FF2B5EF4-FFF2-40B4-BE49-F238E27FC236}">
                    <a16:creationId xmlns:a16="http://schemas.microsoft.com/office/drawing/2014/main" id="{1642659F-D801-45EE-8C18-5B8C5862D965}"/>
                  </a:ext>
                </a:extLst>
              </p:cNvPr>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30" name="Freeform 1060">
                <a:extLst>
                  <a:ext uri="{FF2B5EF4-FFF2-40B4-BE49-F238E27FC236}">
                    <a16:creationId xmlns:a16="http://schemas.microsoft.com/office/drawing/2014/main" id="{3C9A06FF-EDAC-412E-9AD7-E5C393950E14}"/>
                  </a:ext>
                </a:extLst>
              </p:cNvPr>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31" name="Freeform 1061">
                <a:extLst>
                  <a:ext uri="{FF2B5EF4-FFF2-40B4-BE49-F238E27FC236}">
                    <a16:creationId xmlns:a16="http://schemas.microsoft.com/office/drawing/2014/main" id="{48FB2800-2DB3-4626-8776-5457178E465F}"/>
                  </a:ext>
                </a:extLst>
              </p:cNvPr>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lstStyle/>
              <a:p>
                <a:pPr>
                  <a:defRPr/>
                </a:pPr>
                <a:endParaRPr lang="th-TH"/>
              </a:p>
            </p:txBody>
          </p:sp>
          <p:sp>
            <p:nvSpPr>
              <p:cNvPr id="32" name="Freeform 1062">
                <a:extLst>
                  <a:ext uri="{FF2B5EF4-FFF2-40B4-BE49-F238E27FC236}">
                    <a16:creationId xmlns:a16="http://schemas.microsoft.com/office/drawing/2014/main" id="{A7970159-1772-40B7-A192-56095BF0A6D6}"/>
                  </a:ext>
                </a:extLst>
              </p:cNvPr>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33" name="Freeform 1063">
                <a:extLst>
                  <a:ext uri="{FF2B5EF4-FFF2-40B4-BE49-F238E27FC236}">
                    <a16:creationId xmlns:a16="http://schemas.microsoft.com/office/drawing/2014/main" id="{52CB8121-A81B-4B72-8F17-E38E1D927011}"/>
                  </a:ext>
                </a:extLst>
              </p:cNvPr>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34" name="Freeform 1064">
                <a:extLst>
                  <a:ext uri="{FF2B5EF4-FFF2-40B4-BE49-F238E27FC236}">
                    <a16:creationId xmlns:a16="http://schemas.microsoft.com/office/drawing/2014/main" id="{26ECA619-4BA9-458D-9430-8107771D474E}"/>
                  </a:ext>
                </a:extLst>
              </p:cNvPr>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35" name="Freeform 1065">
                <a:extLst>
                  <a:ext uri="{FF2B5EF4-FFF2-40B4-BE49-F238E27FC236}">
                    <a16:creationId xmlns:a16="http://schemas.microsoft.com/office/drawing/2014/main" id="{D98C586F-FE7E-4E97-A7CC-F98277FC3152}"/>
                  </a:ext>
                </a:extLst>
              </p:cNvPr>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36" name="Freeform 1066">
                <a:extLst>
                  <a:ext uri="{FF2B5EF4-FFF2-40B4-BE49-F238E27FC236}">
                    <a16:creationId xmlns:a16="http://schemas.microsoft.com/office/drawing/2014/main" id="{7F2A1316-1F06-4A81-9BB2-D0BDD166767C}"/>
                  </a:ext>
                </a:extLst>
              </p:cNvPr>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lstStyle/>
              <a:p>
                <a:pPr>
                  <a:defRPr/>
                </a:pPr>
                <a:endParaRPr lang="th-TH"/>
              </a:p>
            </p:txBody>
          </p:sp>
          <p:sp>
            <p:nvSpPr>
              <p:cNvPr id="37" name="Freeform 1067">
                <a:extLst>
                  <a:ext uri="{FF2B5EF4-FFF2-40B4-BE49-F238E27FC236}">
                    <a16:creationId xmlns:a16="http://schemas.microsoft.com/office/drawing/2014/main" id="{214FD015-FDAB-4D59-9D7D-B79A5A812CF0}"/>
                  </a:ext>
                </a:extLst>
              </p:cNvPr>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lstStyle/>
              <a:p>
                <a:pPr>
                  <a:defRPr/>
                </a:pPr>
                <a:endParaRPr lang="th-TH"/>
              </a:p>
            </p:txBody>
          </p:sp>
          <p:sp>
            <p:nvSpPr>
              <p:cNvPr id="38" name="Freeform 1068">
                <a:extLst>
                  <a:ext uri="{FF2B5EF4-FFF2-40B4-BE49-F238E27FC236}">
                    <a16:creationId xmlns:a16="http://schemas.microsoft.com/office/drawing/2014/main" id="{165F6567-15F4-4797-8996-C4D4F7FE316C}"/>
                  </a:ext>
                </a:extLst>
              </p:cNvPr>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39" name="Freeform 1069">
                <a:extLst>
                  <a:ext uri="{FF2B5EF4-FFF2-40B4-BE49-F238E27FC236}">
                    <a16:creationId xmlns:a16="http://schemas.microsoft.com/office/drawing/2014/main" id="{7AE74ECE-06F7-4F89-BCB7-EE75C7EAE7CC}"/>
                  </a:ext>
                </a:extLst>
              </p:cNvPr>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40" name="Freeform 1070">
                <a:extLst>
                  <a:ext uri="{FF2B5EF4-FFF2-40B4-BE49-F238E27FC236}">
                    <a16:creationId xmlns:a16="http://schemas.microsoft.com/office/drawing/2014/main" id="{9D145466-4ACC-4EC0-814B-C16E5696585C}"/>
                  </a:ext>
                </a:extLst>
              </p:cNvPr>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1" name="Freeform 1071">
                <a:extLst>
                  <a:ext uri="{FF2B5EF4-FFF2-40B4-BE49-F238E27FC236}">
                    <a16:creationId xmlns:a16="http://schemas.microsoft.com/office/drawing/2014/main" id="{FE5979A9-5BC3-43C1-82C2-8BA4EA419504}"/>
                  </a:ext>
                </a:extLst>
              </p:cNvPr>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2" name="Freeform 1072">
                <a:extLst>
                  <a:ext uri="{FF2B5EF4-FFF2-40B4-BE49-F238E27FC236}">
                    <a16:creationId xmlns:a16="http://schemas.microsoft.com/office/drawing/2014/main" id="{CE684D8B-CE31-4325-974F-8AEFBD1EAD27}"/>
                  </a:ext>
                </a:extLst>
              </p:cNvPr>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3" name="Freeform 1073">
                <a:extLst>
                  <a:ext uri="{FF2B5EF4-FFF2-40B4-BE49-F238E27FC236}">
                    <a16:creationId xmlns:a16="http://schemas.microsoft.com/office/drawing/2014/main" id="{DA5EF04B-406A-4BAF-9D67-3722F88EACA6}"/>
                  </a:ext>
                </a:extLst>
              </p:cNvPr>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4" name="Freeform 1074">
                <a:extLst>
                  <a:ext uri="{FF2B5EF4-FFF2-40B4-BE49-F238E27FC236}">
                    <a16:creationId xmlns:a16="http://schemas.microsoft.com/office/drawing/2014/main" id="{6795C3F8-4BD5-45E9-8F07-EDA47A6DBF2F}"/>
                  </a:ext>
                </a:extLst>
              </p:cNvPr>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sp>
            <p:nvSpPr>
              <p:cNvPr id="45" name="Freeform 1075">
                <a:extLst>
                  <a:ext uri="{FF2B5EF4-FFF2-40B4-BE49-F238E27FC236}">
                    <a16:creationId xmlns:a16="http://schemas.microsoft.com/office/drawing/2014/main" id="{5B3FF816-EE7D-46CC-89D1-0EC8E8248BB8}"/>
                  </a:ext>
                </a:extLst>
              </p:cNvPr>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sp>
            <p:nvSpPr>
              <p:cNvPr id="46" name="Freeform 1076">
                <a:extLst>
                  <a:ext uri="{FF2B5EF4-FFF2-40B4-BE49-F238E27FC236}">
                    <a16:creationId xmlns:a16="http://schemas.microsoft.com/office/drawing/2014/main" id="{389ABEF6-5FEF-4ABE-8690-630067C41B49}"/>
                  </a:ext>
                </a:extLst>
              </p:cNvPr>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7" name="Oval 1077">
                <a:extLst>
                  <a:ext uri="{FF2B5EF4-FFF2-40B4-BE49-F238E27FC236}">
                    <a16:creationId xmlns:a16="http://schemas.microsoft.com/office/drawing/2014/main" id="{FA0A49DB-A842-43B3-9468-2641668C026A}"/>
                  </a:ext>
                </a:extLst>
              </p:cNvPr>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grpSp>
            <p:nvGrpSpPr>
              <p:cNvPr id="48" name="Group 1078">
                <a:extLst>
                  <a:ext uri="{FF2B5EF4-FFF2-40B4-BE49-F238E27FC236}">
                    <a16:creationId xmlns:a16="http://schemas.microsoft.com/office/drawing/2014/main" id="{E2BF5548-6198-41A5-A023-F54A9B67BEAC}"/>
                  </a:ext>
                </a:extLst>
              </p:cNvPr>
              <p:cNvGrpSpPr>
                <a:grpSpLocks/>
              </p:cNvGrpSpPr>
              <p:nvPr/>
            </p:nvGrpSpPr>
            <p:grpSpPr bwMode="auto">
              <a:xfrm>
                <a:off x="4546" y="3608"/>
                <a:ext cx="518" cy="319"/>
                <a:chOff x="4546" y="3608"/>
                <a:chExt cx="518" cy="319"/>
              </a:xfrm>
            </p:grpSpPr>
            <p:sp>
              <p:nvSpPr>
                <p:cNvPr id="54" name="Oval 1079">
                  <a:extLst>
                    <a:ext uri="{FF2B5EF4-FFF2-40B4-BE49-F238E27FC236}">
                      <a16:creationId xmlns:a16="http://schemas.microsoft.com/office/drawing/2014/main" id="{3DBE4B51-1677-4C2E-8954-4D23EF4BD11C}"/>
                    </a:ext>
                  </a:extLst>
                </p:cNvPr>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lstStyle/>
                <a:p>
                  <a:pPr>
                    <a:defRPr/>
                  </a:pPr>
                  <a:endParaRPr lang="th-TH"/>
                </a:p>
              </p:txBody>
            </p:sp>
            <p:sp>
              <p:nvSpPr>
                <p:cNvPr id="55" name="Oval 1080">
                  <a:extLst>
                    <a:ext uri="{FF2B5EF4-FFF2-40B4-BE49-F238E27FC236}">
                      <a16:creationId xmlns:a16="http://schemas.microsoft.com/office/drawing/2014/main" id="{5F765E95-11B2-4B71-8B7E-F7270AEC0011}"/>
                    </a:ext>
                  </a:extLst>
                </p:cNvPr>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lstStyle/>
                <a:p>
                  <a:pPr>
                    <a:defRPr/>
                  </a:pPr>
                  <a:endParaRPr lang="th-TH"/>
                </a:p>
              </p:txBody>
            </p:sp>
            <p:sp>
              <p:nvSpPr>
                <p:cNvPr id="56" name="Oval 1081">
                  <a:extLst>
                    <a:ext uri="{FF2B5EF4-FFF2-40B4-BE49-F238E27FC236}">
                      <a16:creationId xmlns:a16="http://schemas.microsoft.com/office/drawing/2014/main" id="{1B07400B-8325-412F-AC05-CD4B5E1C1FC6}"/>
                    </a:ext>
                  </a:extLst>
                </p:cNvPr>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57" name="Oval 1082">
                  <a:extLst>
                    <a:ext uri="{FF2B5EF4-FFF2-40B4-BE49-F238E27FC236}">
                      <a16:creationId xmlns:a16="http://schemas.microsoft.com/office/drawing/2014/main" id="{A3D5A4B2-6EC6-410B-95CD-7D932D2AECB9}"/>
                    </a:ext>
                  </a:extLst>
                </p:cNvPr>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sp>
              <p:nvSpPr>
                <p:cNvPr id="58" name="Oval 1083">
                  <a:extLst>
                    <a:ext uri="{FF2B5EF4-FFF2-40B4-BE49-F238E27FC236}">
                      <a16:creationId xmlns:a16="http://schemas.microsoft.com/office/drawing/2014/main" id="{40AC503F-072A-444C-AFF6-5649C2A80289}"/>
                    </a:ext>
                  </a:extLst>
                </p:cNvPr>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59" name="Oval 1084">
                  <a:extLst>
                    <a:ext uri="{FF2B5EF4-FFF2-40B4-BE49-F238E27FC236}">
                      <a16:creationId xmlns:a16="http://schemas.microsoft.com/office/drawing/2014/main" id="{0A4F31B5-B607-426B-98FE-7CBE22D427EB}"/>
                    </a:ext>
                  </a:extLst>
                </p:cNvPr>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th-TH"/>
                </a:p>
              </p:txBody>
            </p:sp>
          </p:grpSp>
          <p:grpSp>
            <p:nvGrpSpPr>
              <p:cNvPr id="49" name="Group 1085">
                <a:extLst>
                  <a:ext uri="{FF2B5EF4-FFF2-40B4-BE49-F238E27FC236}">
                    <a16:creationId xmlns:a16="http://schemas.microsoft.com/office/drawing/2014/main" id="{1D308D0C-BB1B-4AF7-B740-AEAA5C9CE339}"/>
                  </a:ext>
                </a:extLst>
              </p:cNvPr>
              <p:cNvGrpSpPr>
                <a:grpSpLocks/>
              </p:cNvGrpSpPr>
              <p:nvPr/>
            </p:nvGrpSpPr>
            <p:grpSpPr bwMode="auto">
              <a:xfrm>
                <a:off x="5381" y="3085"/>
                <a:ext cx="227" cy="132"/>
                <a:chOff x="5381" y="3085"/>
                <a:chExt cx="227" cy="132"/>
              </a:xfrm>
            </p:grpSpPr>
            <p:sp>
              <p:nvSpPr>
                <p:cNvPr id="50" name="Oval 1086">
                  <a:extLst>
                    <a:ext uri="{FF2B5EF4-FFF2-40B4-BE49-F238E27FC236}">
                      <a16:creationId xmlns:a16="http://schemas.microsoft.com/office/drawing/2014/main" id="{4CE621DF-36F3-4F83-8810-FD0523763DC2}"/>
                    </a:ext>
                  </a:extLst>
                </p:cNvPr>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th-TH"/>
                </a:p>
              </p:txBody>
            </p:sp>
            <p:sp>
              <p:nvSpPr>
                <p:cNvPr id="51" name="Oval 1087">
                  <a:extLst>
                    <a:ext uri="{FF2B5EF4-FFF2-40B4-BE49-F238E27FC236}">
                      <a16:creationId xmlns:a16="http://schemas.microsoft.com/office/drawing/2014/main" id="{16027623-24CA-48D3-B76E-0592016C5CC5}"/>
                    </a:ext>
                  </a:extLst>
                </p:cNvPr>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th-TH"/>
                </a:p>
              </p:txBody>
            </p:sp>
            <p:sp>
              <p:nvSpPr>
                <p:cNvPr id="52" name="Oval 1088">
                  <a:extLst>
                    <a:ext uri="{FF2B5EF4-FFF2-40B4-BE49-F238E27FC236}">
                      <a16:creationId xmlns:a16="http://schemas.microsoft.com/office/drawing/2014/main" id="{DCF4E409-9525-454D-A434-4BBB708FF055}"/>
                    </a:ext>
                  </a:extLst>
                </p:cNvPr>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th-TH"/>
                </a:p>
              </p:txBody>
            </p:sp>
            <p:sp>
              <p:nvSpPr>
                <p:cNvPr id="53" name="Oval 1089">
                  <a:extLst>
                    <a:ext uri="{FF2B5EF4-FFF2-40B4-BE49-F238E27FC236}">
                      <a16:creationId xmlns:a16="http://schemas.microsoft.com/office/drawing/2014/main" id="{EC602AD9-790A-4B62-B286-D84325485081}"/>
                    </a:ext>
                  </a:extLst>
                </p:cNvPr>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th-TH"/>
                </a:p>
              </p:txBody>
            </p:sp>
          </p:grpSp>
        </p:grpSp>
      </p:grpSp>
      <p:sp>
        <p:nvSpPr>
          <p:cNvPr id="76866" name="Rectangle 1090"/>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76867" name="Rectangle 1091"/>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68" name="Rectangle 1092">
            <a:extLst>
              <a:ext uri="{FF2B5EF4-FFF2-40B4-BE49-F238E27FC236}">
                <a16:creationId xmlns:a16="http://schemas.microsoft.com/office/drawing/2014/main" id="{E42D551D-0065-4640-94F8-ED2EC598C68B}"/>
              </a:ext>
            </a:extLst>
          </p:cNvPr>
          <p:cNvSpPr>
            <a:spLocks noGrp="1" noChangeArrowheads="1"/>
          </p:cNvSpPr>
          <p:nvPr>
            <p:ph type="dt" sz="quarter" idx="10"/>
          </p:nvPr>
        </p:nvSpPr>
        <p:spPr/>
        <p:txBody>
          <a:bodyPr/>
          <a:lstStyle>
            <a:lvl1pPr>
              <a:defRPr/>
            </a:lvl1pPr>
          </a:lstStyle>
          <a:p>
            <a:pPr>
              <a:defRPr/>
            </a:pPr>
            <a:endParaRPr lang="en-US"/>
          </a:p>
        </p:txBody>
      </p:sp>
      <p:sp>
        <p:nvSpPr>
          <p:cNvPr id="69" name="Rectangle 1093">
            <a:extLst>
              <a:ext uri="{FF2B5EF4-FFF2-40B4-BE49-F238E27FC236}">
                <a16:creationId xmlns:a16="http://schemas.microsoft.com/office/drawing/2014/main" id="{21F822B6-5F3A-45B9-B767-DDB64276E4B7}"/>
              </a:ext>
            </a:extLst>
          </p:cNvPr>
          <p:cNvSpPr>
            <a:spLocks noGrp="1" noChangeArrowheads="1"/>
          </p:cNvSpPr>
          <p:nvPr>
            <p:ph type="ftr" sz="quarter" idx="11"/>
          </p:nvPr>
        </p:nvSpPr>
        <p:spPr/>
        <p:txBody>
          <a:bodyPr/>
          <a:lstStyle>
            <a:lvl1pPr>
              <a:defRPr/>
            </a:lvl1pPr>
          </a:lstStyle>
          <a:p>
            <a:pPr>
              <a:defRPr/>
            </a:pPr>
            <a:endParaRPr lang="en-US"/>
          </a:p>
        </p:txBody>
      </p:sp>
      <p:sp>
        <p:nvSpPr>
          <p:cNvPr id="70" name="Rectangle 1094">
            <a:extLst>
              <a:ext uri="{FF2B5EF4-FFF2-40B4-BE49-F238E27FC236}">
                <a16:creationId xmlns:a16="http://schemas.microsoft.com/office/drawing/2014/main" id="{71293615-2A52-4CA3-A9FD-FDCFDA3BD566}"/>
              </a:ext>
            </a:extLst>
          </p:cNvPr>
          <p:cNvSpPr>
            <a:spLocks noGrp="1" noChangeArrowheads="1"/>
          </p:cNvSpPr>
          <p:nvPr>
            <p:ph type="sldNum" sz="quarter" idx="12"/>
          </p:nvPr>
        </p:nvSpPr>
        <p:spPr/>
        <p:txBody>
          <a:bodyPr/>
          <a:lstStyle>
            <a:lvl1pPr>
              <a:defRPr/>
            </a:lvl1pPr>
          </a:lstStyle>
          <a:p>
            <a:fld id="{865869C9-C516-4EA9-A759-872A0D4562E9}" type="slidenum">
              <a:rPr lang="en-US" altLang="en-US"/>
              <a:pPr/>
              <a:t>‹#›</a:t>
            </a:fld>
            <a:endParaRPr lang="en-US" altLang="en-US"/>
          </a:p>
        </p:txBody>
      </p:sp>
    </p:spTree>
    <p:extLst>
      <p:ext uri="{BB962C8B-B14F-4D97-AF65-F5344CB8AC3E}">
        <p14:creationId xmlns:p14="http://schemas.microsoft.com/office/powerpoint/2010/main" val="2213667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1091">
            <a:extLst>
              <a:ext uri="{FF2B5EF4-FFF2-40B4-BE49-F238E27FC236}">
                <a16:creationId xmlns:a16="http://schemas.microsoft.com/office/drawing/2014/main" id="{ACA0D027-B1AA-4666-8CD4-514B33DA6F5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92">
            <a:extLst>
              <a:ext uri="{FF2B5EF4-FFF2-40B4-BE49-F238E27FC236}">
                <a16:creationId xmlns:a16="http://schemas.microsoft.com/office/drawing/2014/main" id="{28966E3A-4ED5-403C-9EA8-87859CA15AC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93">
            <a:extLst>
              <a:ext uri="{FF2B5EF4-FFF2-40B4-BE49-F238E27FC236}">
                <a16:creationId xmlns:a16="http://schemas.microsoft.com/office/drawing/2014/main" id="{694F1304-A0F7-4380-A301-B880079040D2}"/>
              </a:ext>
            </a:extLst>
          </p:cNvPr>
          <p:cNvSpPr>
            <a:spLocks noGrp="1" noChangeArrowheads="1"/>
          </p:cNvSpPr>
          <p:nvPr>
            <p:ph type="sldNum" sz="quarter" idx="12"/>
          </p:nvPr>
        </p:nvSpPr>
        <p:spPr>
          <a:ln/>
        </p:spPr>
        <p:txBody>
          <a:bodyPr/>
          <a:lstStyle>
            <a:lvl1pPr>
              <a:defRPr/>
            </a:lvl1pPr>
          </a:lstStyle>
          <a:p>
            <a:fld id="{D4A95AD3-70F5-4849-BF67-EB1558678D73}" type="slidenum">
              <a:rPr lang="en-US" altLang="en-US"/>
              <a:pPr/>
              <a:t>‹#›</a:t>
            </a:fld>
            <a:endParaRPr lang="en-US" altLang="en-US"/>
          </a:p>
        </p:txBody>
      </p:sp>
    </p:spTree>
    <p:extLst>
      <p:ext uri="{BB962C8B-B14F-4D97-AF65-F5344CB8AC3E}">
        <p14:creationId xmlns:p14="http://schemas.microsoft.com/office/powerpoint/2010/main" val="2954178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h-TH"/>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91">
            <a:extLst>
              <a:ext uri="{FF2B5EF4-FFF2-40B4-BE49-F238E27FC236}">
                <a16:creationId xmlns:a16="http://schemas.microsoft.com/office/drawing/2014/main" id="{DDFF531D-CD2F-49BF-9A48-14341A0EC8D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92">
            <a:extLst>
              <a:ext uri="{FF2B5EF4-FFF2-40B4-BE49-F238E27FC236}">
                <a16:creationId xmlns:a16="http://schemas.microsoft.com/office/drawing/2014/main" id="{A1A3A779-4978-4F78-96E6-61261D4A2CC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93">
            <a:extLst>
              <a:ext uri="{FF2B5EF4-FFF2-40B4-BE49-F238E27FC236}">
                <a16:creationId xmlns:a16="http://schemas.microsoft.com/office/drawing/2014/main" id="{FC1EC1FE-A8F0-4046-87BA-4E182094BF6E}"/>
              </a:ext>
            </a:extLst>
          </p:cNvPr>
          <p:cNvSpPr>
            <a:spLocks noGrp="1" noChangeArrowheads="1"/>
          </p:cNvSpPr>
          <p:nvPr>
            <p:ph type="sldNum" sz="quarter" idx="12"/>
          </p:nvPr>
        </p:nvSpPr>
        <p:spPr>
          <a:ln/>
        </p:spPr>
        <p:txBody>
          <a:bodyPr/>
          <a:lstStyle>
            <a:lvl1pPr>
              <a:defRPr/>
            </a:lvl1pPr>
          </a:lstStyle>
          <a:p>
            <a:fld id="{2B80717C-BA70-4F72-A664-B4F1C7F2DBE9}" type="slidenum">
              <a:rPr lang="en-US" altLang="en-US"/>
              <a:pPr/>
              <a:t>‹#›</a:t>
            </a:fld>
            <a:endParaRPr lang="en-US" altLang="en-US"/>
          </a:p>
        </p:txBody>
      </p:sp>
    </p:spTree>
    <p:extLst>
      <p:ext uri="{BB962C8B-B14F-4D97-AF65-F5344CB8AC3E}">
        <p14:creationId xmlns:p14="http://schemas.microsoft.com/office/powerpoint/2010/main" val="1899353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Rectangle 1091">
            <a:extLst>
              <a:ext uri="{FF2B5EF4-FFF2-40B4-BE49-F238E27FC236}">
                <a16:creationId xmlns:a16="http://schemas.microsoft.com/office/drawing/2014/main" id="{C44D5088-21AA-4E91-AC3B-2B719EBE751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92">
            <a:extLst>
              <a:ext uri="{FF2B5EF4-FFF2-40B4-BE49-F238E27FC236}">
                <a16:creationId xmlns:a16="http://schemas.microsoft.com/office/drawing/2014/main" id="{D7E95569-4798-46B0-8953-CFE84701AC5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093">
            <a:extLst>
              <a:ext uri="{FF2B5EF4-FFF2-40B4-BE49-F238E27FC236}">
                <a16:creationId xmlns:a16="http://schemas.microsoft.com/office/drawing/2014/main" id="{F92CE210-8874-44C9-A630-6C5C52F8F1B0}"/>
              </a:ext>
            </a:extLst>
          </p:cNvPr>
          <p:cNvSpPr>
            <a:spLocks noGrp="1" noChangeArrowheads="1"/>
          </p:cNvSpPr>
          <p:nvPr>
            <p:ph type="sldNum" sz="quarter" idx="12"/>
          </p:nvPr>
        </p:nvSpPr>
        <p:spPr>
          <a:ln/>
        </p:spPr>
        <p:txBody>
          <a:bodyPr/>
          <a:lstStyle>
            <a:lvl1pPr>
              <a:defRPr/>
            </a:lvl1pPr>
          </a:lstStyle>
          <a:p>
            <a:fld id="{0043DD56-AB2F-4BDE-8A93-0F87FA9406DC}" type="slidenum">
              <a:rPr lang="en-US" altLang="en-US"/>
              <a:pPr/>
              <a:t>‹#›</a:t>
            </a:fld>
            <a:endParaRPr lang="en-US" altLang="en-US"/>
          </a:p>
        </p:txBody>
      </p:sp>
    </p:spTree>
    <p:extLst>
      <p:ext uri="{BB962C8B-B14F-4D97-AF65-F5344CB8AC3E}">
        <p14:creationId xmlns:p14="http://schemas.microsoft.com/office/powerpoint/2010/main" val="1567905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th-TH"/>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Rectangle 1091">
            <a:extLst>
              <a:ext uri="{FF2B5EF4-FFF2-40B4-BE49-F238E27FC236}">
                <a16:creationId xmlns:a16="http://schemas.microsoft.com/office/drawing/2014/main" id="{A0A82C9A-EE1C-4D83-9CD6-33282EFEA73D}"/>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092">
            <a:extLst>
              <a:ext uri="{FF2B5EF4-FFF2-40B4-BE49-F238E27FC236}">
                <a16:creationId xmlns:a16="http://schemas.microsoft.com/office/drawing/2014/main" id="{8F6B3819-76E0-46B6-BF94-FF6B5B86513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093">
            <a:extLst>
              <a:ext uri="{FF2B5EF4-FFF2-40B4-BE49-F238E27FC236}">
                <a16:creationId xmlns:a16="http://schemas.microsoft.com/office/drawing/2014/main" id="{446E1A92-3A52-4A26-9A3C-D7D408B518FD}"/>
              </a:ext>
            </a:extLst>
          </p:cNvPr>
          <p:cNvSpPr>
            <a:spLocks noGrp="1" noChangeArrowheads="1"/>
          </p:cNvSpPr>
          <p:nvPr>
            <p:ph type="sldNum" sz="quarter" idx="12"/>
          </p:nvPr>
        </p:nvSpPr>
        <p:spPr>
          <a:ln/>
        </p:spPr>
        <p:txBody>
          <a:bodyPr/>
          <a:lstStyle>
            <a:lvl1pPr>
              <a:defRPr/>
            </a:lvl1pPr>
          </a:lstStyle>
          <a:p>
            <a:fld id="{6894A9DE-9DDD-4888-8759-371D2B86F7BF}" type="slidenum">
              <a:rPr lang="en-US" altLang="en-US"/>
              <a:pPr/>
              <a:t>‹#›</a:t>
            </a:fld>
            <a:endParaRPr lang="en-US" altLang="en-US"/>
          </a:p>
        </p:txBody>
      </p:sp>
    </p:spTree>
    <p:extLst>
      <p:ext uri="{BB962C8B-B14F-4D97-AF65-F5344CB8AC3E}">
        <p14:creationId xmlns:p14="http://schemas.microsoft.com/office/powerpoint/2010/main" val="4200175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Rectangle 1091">
            <a:extLst>
              <a:ext uri="{FF2B5EF4-FFF2-40B4-BE49-F238E27FC236}">
                <a16:creationId xmlns:a16="http://schemas.microsoft.com/office/drawing/2014/main" id="{6E3C5390-2B9E-4D2F-8029-8A5F5894F567}"/>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092">
            <a:extLst>
              <a:ext uri="{FF2B5EF4-FFF2-40B4-BE49-F238E27FC236}">
                <a16:creationId xmlns:a16="http://schemas.microsoft.com/office/drawing/2014/main" id="{7E2C77A6-99EE-487D-BE7A-805E650DFF9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093">
            <a:extLst>
              <a:ext uri="{FF2B5EF4-FFF2-40B4-BE49-F238E27FC236}">
                <a16:creationId xmlns:a16="http://schemas.microsoft.com/office/drawing/2014/main" id="{EFBF9700-901E-4BB8-861C-2F4A5FA3BF2F}"/>
              </a:ext>
            </a:extLst>
          </p:cNvPr>
          <p:cNvSpPr>
            <a:spLocks noGrp="1" noChangeArrowheads="1"/>
          </p:cNvSpPr>
          <p:nvPr>
            <p:ph type="sldNum" sz="quarter" idx="12"/>
          </p:nvPr>
        </p:nvSpPr>
        <p:spPr>
          <a:ln/>
        </p:spPr>
        <p:txBody>
          <a:bodyPr/>
          <a:lstStyle>
            <a:lvl1pPr>
              <a:defRPr/>
            </a:lvl1pPr>
          </a:lstStyle>
          <a:p>
            <a:fld id="{08704802-048B-41DB-B093-694D1AA44DF8}" type="slidenum">
              <a:rPr lang="en-US" altLang="en-US"/>
              <a:pPr/>
              <a:t>‹#›</a:t>
            </a:fld>
            <a:endParaRPr lang="en-US" altLang="en-US"/>
          </a:p>
        </p:txBody>
      </p:sp>
    </p:spTree>
    <p:extLst>
      <p:ext uri="{BB962C8B-B14F-4D97-AF65-F5344CB8AC3E}">
        <p14:creationId xmlns:p14="http://schemas.microsoft.com/office/powerpoint/2010/main" val="3539971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91">
            <a:extLst>
              <a:ext uri="{FF2B5EF4-FFF2-40B4-BE49-F238E27FC236}">
                <a16:creationId xmlns:a16="http://schemas.microsoft.com/office/drawing/2014/main" id="{81A75B88-F362-4B38-BEF0-B2E21DCAEEFF}"/>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092">
            <a:extLst>
              <a:ext uri="{FF2B5EF4-FFF2-40B4-BE49-F238E27FC236}">
                <a16:creationId xmlns:a16="http://schemas.microsoft.com/office/drawing/2014/main" id="{4FBFAEDD-D875-4DF1-8D2A-35119BF3B71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093">
            <a:extLst>
              <a:ext uri="{FF2B5EF4-FFF2-40B4-BE49-F238E27FC236}">
                <a16:creationId xmlns:a16="http://schemas.microsoft.com/office/drawing/2014/main" id="{058B3CD7-63CC-4C2F-A9E0-4E398B551E15}"/>
              </a:ext>
            </a:extLst>
          </p:cNvPr>
          <p:cNvSpPr>
            <a:spLocks noGrp="1" noChangeArrowheads="1"/>
          </p:cNvSpPr>
          <p:nvPr>
            <p:ph type="sldNum" sz="quarter" idx="12"/>
          </p:nvPr>
        </p:nvSpPr>
        <p:spPr>
          <a:ln/>
        </p:spPr>
        <p:txBody>
          <a:bodyPr/>
          <a:lstStyle>
            <a:lvl1pPr>
              <a:defRPr/>
            </a:lvl1pPr>
          </a:lstStyle>
          <a:p>
            <a:fld id="{34251B69-1FDB-4F15-81B6-131258274397}" type="slidenum">
              <a:rPr lang="en-US" altLang="en-US"/>
              <a:pPr/>
              <a:t>‹#›</a:t>
            </a:fld>
            <a:endParaRPr lang="en-US" altLang="en-US"/>
          </a:p>
        </p:txBody>
      </p:sp>
    </p:spTree>
    <p:extLst>
      <p:ext uri="{BB962C8B-B14F-4D97-AF65-F5344CB8AC3E}">
        <p14:creationId xmlns:p14="http://schemas.microsoft.com/office/powerpoint/2010/main" val="3773819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h-TH"/>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91">
            <a:extLst>
              <a:ext uri="{FF2B5EF4-FFF2-40B4-BE49-F238E27FC236}">
                <a16:creationId xmlns:a16="http://schemas.microsoft.com/office/drawing/2014/main" id="{B9172C55-C0F3-4630-9D5B-133777DF7A7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92">
            <a:extLst>
              <a:ext uri="{FF2B5EF4-FFF2-40B4-BE49-F238E27FC236}">
                <a16:creationId xmlns:a16="http://schemas.microsoft.com/office/drawing/2014/main" id="{1EAA9780-6731-4CCD-9086-ECC6DE80293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093">
            <a:extLst>
              <a:ext uri="{FF2B5EF4-FFF2-40B4-BE49-F238E27FC236}">
                <a16:creationId xmlns:a16="http://schemas.microsoft.com/office/drawing/2014/main" id="{92D31CE8-417F-45CC-90E9-80C36DDD7ECB}"/>
              </a:ext>
            </a:extLst>
          </p:cNvPr>
          <p:cNvSpPr>
            <a:spLocks noGrp="1" noChangeArrowheads="1"/>
          </p:cNvSpPr>
          <p:nvPr>
            <p:ph type="sldNum" sz="quarter" idx="12"/>
          </p:nvPr>
        </p:nvSpPr>
        <p:spPr>
          <a:ln/>
        </p:spPr>
        <p:txBody>
          <a:bodyPr/>
          <a:lstStyle>
            <a:lvl1pPr>
              <a:defRPr/>
            </a:lvl1pPr>
          </a:lstStyle>
          <a:p>
            <a:fld id="{B1E6899B-9512-421D-A898-E786DEB4656C}" type="slidenum">
              <a:rPr lang="en-US" altLang="en-US"/>
              <a:pPr/>
              <a:t>‹#›</a:t>
            </a:fld>
            <a:endParaRPr lang="en-US" altLang="en-US"/>
          </a:p>
        </p:txBody>
      </p:sp>
    </p:spTree>
    <p:extLst>
      <p:ext uri="{BB962C8B-B14F-4D97-AF65-F5344CB8AC3E}">
        <p14:creationId xmlns:p14="http://schemas.microsoft.com/office/powerpoint/2010/main" val="1607101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h-TH"/>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h-TH"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91">
            <a:extLst>
              <a:ext uri="{FF2B5EF4-FFF2-40B4-BE49-F238E27FC236}">
                <a16:creationId xmlns:a16="http://schemas.microsoft.com/office/drawing/2014/main" id="{DB072909-FD77-4000-B370-A63AC2B461A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92">
            <a:extLst>
              <a:ext uri="{FF2B5EF4-FFF2-40B4-BE49-F238E27FC236}">
                <a16:creationId xmlns:a16="http://schemas.microsoft.com/office/drawing/2014/main" id="{BF6FE268-291B-4701-B1F7-A4FAEDBCD76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093">
            <a:extLst>
              <a:ext uri="{FF2B5EF4-FFF2-40B4-BE49-F238E27FC236}">
                <a16:creationId xmlns:a16="http://schemas.microsoft.com/office/drawing/2014/main" id="{68084A07-3EA9-4598-85A2-7E04DD62C3EC}"/>
              </a:ext>
            </a:extLst>
          </p:cNvPr>
          <p:cNvSpPr>
            <a:spLocks noGrp="1" noChangeArrowheads="1"/>
          </p:cNvSpPr>
          <p:nvPr>
            <p:ph type="sldNum" sz="quarter" idx="12"/>
          </p:nvPr>
        </p:nvSpPr>
        <p:spPr>
          <a:ln/>
        </p:spPr>
        <p:txBody>
          <a:bodyPr/>
          <a:lstStyle>
            <a:lvl1pPr>
              <a:defRPr/>
            </a:lvl1pPr>
          </a:lstStyle>
          <a:p>
            <a:fld id="{C79FA1EF-5DB4-439A-A18E-322E50A84B3F}" type="slidenum">
              <a:rPr lang="en-US" altLang="en-US"/>
              <a:pPr/>
              <a:t>‹#›</a:t>
            </a:fld>
            <a:endParaRPr lang="en-US" altLang="en-US"/>
          </a:p>
        </p:txBody>
      </p:sp>
    </p:spTree>
    <p:extLst>
      <p:ext uri="{BB962C8B-B14F-4D97-AF65-F5344CB8AC3E}">
        <p14:creationId xmlns:p14="http://schemas.microsoft.com/office/powerpoint/2010/main" val="365371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1091">
            <a:extLst>
              <a:ext uri="{FF2B5EF4-FFF2-40B4-BE49-F238E27FC236}">
                <a16:creationId xmlns:a16="http://schemas.microsoft.com/office/drawing/2014/main" id="{F56F7710-7715-4B77-8DBC-94B9816327E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92">
            <a:extLst>
              <a:ext uri="{FF2B5EF4-FFF2-40B4-BE49-F238E27FC236}">
                <a16:creationId xmlns:a16="http://schemas.microsoft.com/office/drawing/2014/main" id="{7CD0726B-917B-45D8-8F58-6DEF2DD0CD5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93">
            <a:extLst>
              <a:ext uri="{FF2B5EF4-FFF2-40B4-BE49-F238E27FC236}">
                <a16:creationId xmlns:a16="http://schemas.microsoft.com/office/drawing/2014/main" id="{C6488CB9-4BE1-4258-9A14-031E48CB08FA}"/>
              </a:ext>
            </a:extLst>
          </p:cNvPr>
          <p:cNvSpPr>
            <a:spLocks noGrp="1" noChangeArrowheads="1"/>
          </p:cNvSpPr>
          <p:nvPr>
            <p:ph type="sldNum" sz="quarter" idx="12"/>
          </p:nvPr>
        </p:nvSpPr>
        <p:spPr>
          <a:ln/>
        </p:spPr>
        <p:txBody>
          <a:bodyPr/>
          <a:lstStyle>
            <a:lvl1pPr>
              <a:defRPr/>
            </a:lvl1pPr>
          </a:lstStyle>
          <a:p>
            <a:fld id="{5E3AFBCB-8080-49B3-8013-930A241817B2}" type="slidenum">
              <a:rPr lang="en-US" altLang="en-US"/>
              <a:pPr/>
              <a:t>‹#›</a:t>
            </a:fld>
            <a:endParaRPr lang="en-US" altLang="en-US"/>
          </a:p>
        </p:txBody>
      </p:sp>
    </p:spTree>
    <p:extLst>
      <p:ext uri="{BB962C8B-B14F-4D97-AF65-F5344CB8AC3E}">
        <p14:creationId xmlns:p14="http://schemas.microsoft.com/office/powerpoint/2010/main" val="537751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endParaRPr lang="th-TH"/>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1091">
            <a:extLst>
              <a:ext uri="{FF2B5EF4-FFF2-40B4-BE49-F238E27FC236}">
                <a16:creationId xmlns:a16="http://schemas.microsoft.com/office/drawing/2014/main" id="{4AC7C4E4-84E8-4D18-A62B-83C5F08C48D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92">
            <a:extLst>
              <a:ext uri="{FF2B5EF4-FFF2-40B4-BE49-F238E27FC236}">
                <a16:creationId xmlns:a16="http://schemas.microsoft.com/office/drawing/2014/main" id="{C724DC3A-8511-4D8B-82E7-8EC86297B5D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93">
            <a:extLst>
              <a:ext uri="{FF2B5EF4-FFF2-40B4-BE49-F238E27FC236}">
                <a16:creationId xmlns:a16="http://schemas.microsoft.com/office/drawing/2014/main" id="{2BC784A5-A4EF-481F-831E-A5EE54F3766E}"/>
              </a:ext>
            </a:extLst>
          </p:cNvPr>
          <p:cNvSpPr>
            <a:spLocks noGrp="1" noChangeArrowheads="1"/>
          </p:cNvSpPr>
          <p:nvPr>
            <p:ph type="sldNum" sz="quarter" idx="12"/>
          </p:nvPr>
        </p:nvSpPr>
        <p:spPr>
          <a:ln/>
        </p:spPr>
        <p:txBody>
          <a:bodyPr/>
          <a:lstStyle>
            <a:lvl1pPr>
              <a:defRPr/>
            </a:lvl1pPr>
          </a:lstStyle>
          <a:p>
            <a:fld id="{99758D29-1C81-4373-8474-3B4DEDECE127}" type="slidenum">
              <a:rPr lang="en-US" altLang="en-US"/>
              <a:pPr/>
              <a:t>‹#›</a:t>
            </a:fld>
            <a:endParaRPr lang="en-US" altLang="en-US"/>
          </a:p>
        </p:txBody>
      </p:sp>
    </p:spTree>
    <p:extLst>
      <p:ext uri="{BB962C8B-B14F-4D97-AF65-F5344CB8AC3E}">
        <p14:creationId xmlns:p14="http://schemas.microsoft.com/office/powerpoint/2010/main" val="108538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026">
            <a:extLst>
              <a:ext uri="{FF2B5EF4-FFF2-40B4-BE49-F238E27FC236}">
                <a16:creationId xmlns:a16="http://schemas.microsoft.com/office/drawing/2014/main" id="{99E51911-F891-4896-B8E0-5354F6027E03}"/>
              </a:ext>
            </a:extLst>
          </p:cNvPr>
          <p:cNvGrpSpPr>
            <a:grpSpLocks/>
          </p:cNvGrpSpPr>
          <p:nvPr/>
        </p:nvGrpSpPr>
        <p:grpSpPr bwMode="auto">
          <a:xfrm>
            <a:off x="3175" y="4267200"/>
            <a:ext cx="9140825" cy="2590800"/>
            <a:chOff x="2" y="2688"/>
            <a:chExt cx="5758" cy="1632"/>
          </a:xfrm>
        </p:grpSpPr>
        <p:sp>
          <p:nvSpPr>
            <p:cNvPr id="75779" name="Freeform 1027">
              <a:extLst>
                <a:ext uri="{FF2B5EF4-FFF2-40B4-BE49-F238E27FC236}">
                  <a16:creationId xmlns:a16="http://schemas.microsoft.com/office/drawing/2014/main" id="{9C928C76-3FC6-4563-98CB-9A909E9BFB24}"/>
                </a:ext>
              </a:extLst>
            </p:cNvPr>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grpSp>
          <p:nvGrpSpPr>
            <p:cNvPr id="1033" name="Group 1028">
              <a:extLst>
                <a:ext uri="{FF2B5EF4-FFF2-40B4-BE49-F238E27FC236}">
                  <a16:creationId xmlns:a16="http://schemas.microsoft.com/office/drawing/2014/main" id="{BD1A19E2-714C-4F99-9E12-55C50DCEA92E}"/>
                </a:ext>
              </a:extLst>
            </p:cNvPr>
            <p:cNvGrpSpPr>
              <a:grpSpLocks/>
            </p:cNvGrpSpPr>
            <p:nvPr/>
          </p:nvGrpSpPr>
          <p:grpSpPr bwMode="auto">
            <a:xfrm>
              <a:off x="1776" y="3024"/>
              <a:ext cx="3929" cy="1290"/>
              <a:chOff x="1776" y="3024"/>
              <a:chExt cx="3929" cy="1290"/>
            </a:xfrm>
          </p:grpSpPr>
          <p:grpSp>
            <p:nvGrpSpPr>
              <p:cNvPr id="1034" name="Group 1029">
                <a:extLst>
                  <a:ext uri="{FF2B5EF4-FFF2-40B4-BE49-F238E27FC236}">
                    <a16:creationId xmlns:a16="http://schemas.microsoft.com/office/drawing/2014/main" id="{C9A8FA8E-F668-4B94-8387-55B4556F6BE7}"/>
                  </a:ext>
                </a:extLst>
              </p:cNvPr>
              <p:cNvGrpSpPr>
                <a:grpSpLocks/>
              </p:cNvGrpSpPr>
              <p:nvPr userDrawn="1"/>
            </p:nvGrpSpPr>
            <p:grpSpPr bwMode="auto">
              <a:xfrm>
                <a:off x="2268" y="3934"/>
                <a:ext cx="638" cy="377"/>
                <a:chOff x="2268" y="3934"/>
                <a:chExt cx="638" cy="377"/>
              </a:xfrm>
            </p:grpSpPr>
            <p:sp>
              <p:nvSpPr>
                <p:cNvPr id="75782" name="Oval 1030">
                  <a:extLst>
                    <a:ext uri="{FF2B5EF4-FFF2-40B4-BE49-F238E27FC236}">
                      <a16:creationId xmlns:a16="http://schemas.microsoft.com/office/drawing/2014/main" id="{850FC24A-63FD-43EA-B8F5-C41B86EECDD9}"/>
                    </a:ext>
                  </a:extLst>
                </p:cNvPr>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lstStyle/>
                <a:p>
                  <a:pPr>
                    <a:defRPr/>
                  </a:pPr>
                  <a:endParaRPr lang="th-TH"/>
                </a:p>
              </p:txBody>
            </p:sp>
            <p:sp>
              <p:nvSpPr>
                <p:cNvPr id="75783" name="Oval 1031">
                  <a:extLst>
                    <a:ext uri="{FF2B5EF4-FFF2-40B4-BE49-F238E27FC236}">
                      <a16:creationId xmlns:a16="http://schemas.microsoft.com/office/drawing/2014/main" id="{44FC5367-A7D6-48A8-BE76-175FDC946729}"/>
                    </a:ext>
                  </a:extLst>
                </p:cNvPr>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lstStyle/>
                <a:p>
                  <a:pPr>
                    <a:defRPr/>
                  </a:pPr>
                  <a:endParaRPr lang="th-TH"/>
                </a:p>
              </p:txBody>
            </p:sp>
            <p:sp>
              <p:nvSpPr>
                <p:cNvPr id="75784" name="Oval 1032">
                  <a:extLst>
                    <a:ext uri="{FF2B5EF4-FFF2-40B4-BE49-F238E27FC236}">
                      <a16:creationId xmlns:a16="http://schemas.microsoft.com/office/drawing/2014/main" id="{CDF9AAD6-1F91-41CA-8BB2-3C3A7FD04244}"/>
                    </a:ext>
                  </a:extLst>
                </p:cNvPr>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lstStyle/>
                <a:p>
                  <a:pPr>
                    <a:defRPr/>
                  </a:pPr>
                  <a:endParaRPr lang="th-TH"/>
                </a:p>
              </p:txBody>
            </p:sp>
            <p:sp>
              <p:nvSpPr>
                <p:cNvPr id="75785" name="Oval 1033">
                  <a:extLst>
                    <a:ext uri="{FF2B5EF4-FFF2-40B4-BE49-F238E27FC236}">
                      <a16:creationId xmlns:a16="http://schemas.microsoft.com/office/drawing/2014/main" id="{024E90CD-455B-4FBE-BCE8-F0794D06FDBE}"/>
                    </a:ext>
                  </a:extLst>
                </p:cNvPr>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th-TH"/>
                </a:p>
              </p:txBody>
            </p:sp>
            <p:sp>
              <p:nvSpPr>
                <p:cNvPr id="75786" name="Oval 1034">
                  <a:extLst>
                    <a:ext uri="{FF2B5EF4-FFF2-40B4-BE49-F238E27FC236}">
                      <a16:creationId xmlns:a16="http://schemas.microsoft.com/office/drawing/2014/main" id="{91E7AFE1-14B3-4A86-B40B-7890E905C29F}"/>
                    </a:ext>
                  </a:extLst>
                </p:cNvPr>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sp>
              <p:nvSpPr>
                <p:cNvPr id="75787" name="Oval 1035">
                  <a:extLst>
                    <a:ext uri="{FF2B5EF4-FFF2-40B4-BE49-F238E27FC236}">
                      <a16:creationId xmlns:a16="http://schemas.microsoft.com/office/drawing/2014/main" id="{3DECBFFE-C4CD-47B2-B8E6-35A2FFD16F79}"/>
                    </a:ext>
                  </a:extLst>
                </p:cNvPr>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th-TH"/>
                </a:p>
              </p:txBody>
            </p:sp>
            <p:sp>
              <p:nvSpPr>
                <p:cNvPr id="75788" name="Oval 1036">
                  <a:extLst>
                    <a:ext uri="{FF2B5EF4-FFF2-40B4-BE49-F238E27FC236}">
                      <a16:creationId xmlns:a16="http://schemas.microsoft.com/office/drawing/2014/main" id="{6CB71409-3BAA-4312-99FB-BED4088FA5C2}"/>
                    </a:ext>
                  </a:extLst>
                </p:cNvPr>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lstStyle/>
                <a:p>
                  <a:pPr>
                    <a:defRPr/>
                  </a:pPr>
                  <a:endParaRPr lang="th-TH"/>
                </a:p>
              </p:txBody>
            </p:sp>
            <p:sp>
              <p:nvSpPr>
                <p:cNvPr id="75789" name="Oval 1037">
                  <a:extLst>
                    <a:ext uri="{FF2B5EF4-FFF2-40B4-BE49-F238E27FC236}">
                      <a16:creationId xmlns:a16="http://schemas.microsoft.com/office/drawing/2014/main" id="{19D319F8-740B-4D89-9384-F9AC1754870F}"/>
                    </a:ext>
                  </a:extLst>
                </p:cNvPr>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lstStyle/>
                <a:p>
                  <a:pPr>
                    <a:defRPr/>
                  </a:pPr>
                  <a:endParaRPr lang="th-TH"/>
                </a:p>
              </p:txBody>
            </p:sp>
          </p:grpSp>
          <p:sp>
            <p:nvSpPr>
              <p:cNvPr id="75790" name="Oval 1038">
                <a:extLst>
                  <a:ext uri="{FF2B5EF4-FFF2-40B4-BE49-F238E27FC236}">
                    <a16:creationId xmlns:a16="http://schemas.microsoft.com/office/drawing/2014/main" id="{668D21B9-6D08-41DB-861A-5E19D32DDE84}"/>
                  </a:ext>
                </a:extLst>
              </p:cNvPr>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lstStyle/>
              <a:p>
                <a:pPr>
                  <a:defRPr/>
                </a:pPr>
                <a:endParaRPr lang="th-TH"/>
              </a:p>
            </p:txBody>
          </p:sp>
          <p:sp>
            <p:nvSpPr>
              <p:cNvPr id="75791" name="Oval 1039">
                <a:extLst>
                  <a:ext uri="{FF2B5EF4-FFF2-40B4-BE49-F238E27FC236}">
                    <a16:creationId xmlns:a16="http://schemas.microsoft.com/office/drawing/2014/main" id="{C6AE30FD-7C2B-4239-8EDB-2E1B5CF04A9E}"/>
                  </a:ext>
                </a:extLst>
              </p:cNvPr>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lstStyle/>
              <a:p>
                <a:pPr>
                  <a:defRPr/>
                </a:pPr>
                <a:endParaRPr lang="th-TH"/>
              </a:p>
            </p:txBody>
          </p:sp>
          <p:sp>
            <p:nvSpPr>
              <p:cNvPr id="75792" name="Oval 1040">
                <a:extLst>
                  <a:ext uri="{FF2B5EF4-FFF2-40B4-BE49-F238E27FC236}">
                    <a16:creationId xmlns:a16="http://schemas.microsoft.com/office/drawing/2014/main" id="{5B90593C-D133-4DE5-828E-38B105E1BEC0}"/>
                  </a:ext>
                </a:extLst>
              </p:cNvPr>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75793" name="Oval 1041">
                <a:extLst>
                  <a:ext uri="{FF2B5EF4-FFF2-40B4-BE49-F238E27FC236}">
                    <a16:creationId xmlns:a16="http://schemas.microsoft.com/office/drawing/2014/main" id="{37DC05D0-6F4B-48F8-A783-E03456D0B204}"/>
                  </a:ext>
                </a:extLst>
              </p:cNvPr>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th-TH"/>
              </a:p>
            </p:txBody>
          </p:sp>
          <p:sp>
            <p:nvSpPr>
              <p:cNvPr id="75794" name="Oval 1042">
                <a:extLst>
                  <a:ext uri="{FF2B5EF4-FFF2-40B4-BE49-F238E27FC236}">
                    <a16:creationId xmlns:a16="http://schemas.microsoft.com/office/drawing/2014/main" id="{113B2F25-1883-48D1-933F-BDB18FD385F6}"/>
                  </a:ext>
                </a:extLst>
              </p:cNvPr>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75795" name="Freeform 1043">
                <a:extLst>
                  <a:ext uri="{FF2B5EF4-FFF2-40B4-BE49-F238E27FC236}">
                    <a16:creationId xmlns:a16="http://schemas.microsoft.com/office/drawing/2014/main" id="{F10ED275-151B-472D-A2F4-F8B9BCAD8D74}"/>
                  </a:ext>
                </a:extLst>
              </p:cNvPr>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lstStyle/>
              <a:p>
                <a:pPr>
                  <a:defRPr/>
                </a:pPr>
                <a:endParaRPr lang="th-TH"/>
              </a:p>
            </p:txBody>
          </p:sp>
          <p:sp>
            <p:nvSpPr>
              <p:cNvPr id="75796" name="Freeform 1044">
                <a:extLst>
                  <a:ext uri="{FF2B5EF4-FFF2-40B4-BE49-F238E27FC236}">
                    <a16:creationId xmlns:a16="http://schemas.microsoft.com/office/drawing/2014/main" id="{725459C3-9993-4B68-90FE-87FCE8272D69}"/>
                  </a:ext>
                </a:extLst>
              </p:cNvPr>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lstStyle/>
              <a:p>
                <a:pPr>
                  <a:defRPr/>
                </a:pPr>
                <a:endParaRPr lang="th-TH"/>
              </a:p>
            </p:txBody>
          </p:sp>
          <p:sp>
            <p:nvSpPr>
              <p:cNvPr id="75797" name="Freeform 1045">
                <a:extLst>
                  <a:ext uri="{FF2B5EF4-FFF2-40B4-BE49-F238E27FC236}">
                    <a16:creationId xmlns:a16="http://schemas.microsoft.com/office/drawing/2014/main" id="{80AC9714-531C-4824-AD79-94D20FD70BBC}"/>
                  </a:ext>
                </a:extLst>
              </p:cNvPr>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75798" name="Freeform 1046">
                <a:extLst>
                  <a:ext uri="{FF2B5EF4-FFF2-40B4-BE49-F238E27FC236}">
                    <a16:creationId xmlns:a16="http://schemas.microsoft.com/office/drawing/2014/main" id="{08CF6321-EBBC-4F0A-954F-A10568E54ED3}"/>
                  </a:ext>
                </a:extLst>
              </p:cNvPr>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lstStyle/>
              <a:p>
                <a:pPr>
                  <a:defRPr/>
                </a:pPr>
                <a:endParaRPr lang="th-TH"/>
              </a:p>
            </p:txBody>
          </p:sp>
          <p:sp>
            <p:nvSpPr>
              <p:cNvPr id="75799" name="Freeform 1047">
                <a:extLst>
                  <a:ext uri="{FF2B5EF4-FFF2-40B4-BE49-F238E27FC236}">
                    <a16:creationId xmlns:a16="http://schemas.microsoft.com/office/drawing/2014/main" id="{6CC42410-0835-411B-ACF5-DEA4660ACAB6}"/>
                  </a:ext>
                </a:extLst>
              </p:cNvPr>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lstStyle/>
              <a:p>
                <a:pPr>
                  <a:defRPr/>
                </a:pPr>
                <a:endParaRPr lang="th-TH"/>
              </a:p>
            </p:txBody>
          </p:sp>
          <p:sp>
            <p:nvSpPr>
              <p:cNvPr id="75800" name="Freeform 1048">
                <a:extLst>
                  <a:ext uri="{FF2B5EF4-FFF2-40B4-BE49-F238E27FC236}">
                    <a16:creationId xmlns:a16="http://schemas.microsoft.com/office/drawing/2014/main" id="{CDB7DEAC-8D86-4633-953C-D262A268F0C5}"/>
                  </a:ext>
                </a:extLst>
              </p:cNvPr>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lstStyle/>
              <a:p>
                <a:pPr>
                  <a:defRPr/>
                </a:pPr>
                <a:endParaRPr lang="th-TH"/>
              </a:p>
            </p:txBody>
          </p:sp>
          <p:sp>
            <p:nvSpPr>
              <p:cNvPr id="75801" name="Freeform 1049">
                <a:extLst>
                  <a:ext uri="{FF2B5EF4-FFF2-40B4-BE49-F238E27FC236}">
                    <a16:creationId xmlns:a16="http://schemas.microsoft.com/office/drawing/2014/main" id="{FC33B10D-BE1E-4C2E-A172-AA67C9F9ABA7}"/>
                  </a:ext>
                </a:extLst>
              </p:cNvPr>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lstStyle/>
              <a:p>
                <a:pPr>
                  <a:defRPr/>
                </a:pPr>
                <a:endParaRPr lang="th-TH"/>
              </a:p>
            </p:txBody>
          </p:sp>
          <p:sp>
            <p:nvSpPr>
              <p:cNvPr id="75802" name="Freeform 1050">
                <a:extLst>
                  <a:ext uri="{FF2B5EF4-FFF2-40B4-BE49-F238E27FC236}">
                    <a16:creationId xmlns:a16="http://schemas.microsoft.com/office/drawing/2014/main" id="{75C120B4-E5BA-45DD-ADC4-76160D45BEB2}"/>
                  </a:ext>
                </a:extLst>
              </p:cNvPr>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lstStyle/>
              <a:p>
                <a:pPr>
                  <a:defRPr/>
                </a:pPr>
                <a:endParaRPr lang="th-TH"/>
              </a:p>
            </p:txBody>
          </p:sp>
          <p:sp>
            <p:nvSpPr>
              <p:cNvPr id="75803" name="Freeform 1051">
                <a:extLst>
                  <a:ext uri="{FF2B5EF4-FFF2-40B4-BE49-F238E27FC236}">
                    <a16:creationId xmlns:a16="http://schemas.microsoft.com/office/drawing/2014/main" id="{78A43009-B025-4E7D-BE9D-C92A5590C344}"/>
                  </a:ext>
                </a:extLst>
              </p:cNvPr>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lstStyle/>
              <a:p>
                <a:pPr>
                  <a:defRPr/>
                </a:pPr>
                <a:endParaRPr lang="th-TH"/>
              </a:p>
            </p:txBody>
          </p:sp>
          <p:sp>
            <p:nvSpPr>
              <p:cNvPr id="75804" name="Freeform 1052">
                <a:extLst>
                  <a:ext uri="{FF2B5EF4-FFF2-40B4-BE49-F238E27FC236}">
                    <a16:creationId xmlns:a16="http://schemas.microsoft.com/office/drawing/2014/main" id="{58043502-515F-4100-9178-83267A622BC0}"/>
                  </a:ext>
                </a:extLst>
              </p:cNvPr>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lstStyle/>
              <a:p>
                <a:pPr>
                  <a:defRPr/>
                </a:pPr>
                <a:endParaRPr lang="th-TH"/>
              </a:p>
            </p:txBody>
          </p:sp>
          <p:sp>
            <p:nvSpPr>
              <p:cNvPr id="75805" name="Freeform 1053">
                <a:extLst>
                  <a:ext uri="{FF2B5EF4-FFF2-40B4-BE49-F238E27FC236}">
                    <a16:creationId xmlns:a16="http://schemas.microsoft.com/office/drawing/2014/main" id="{8987308C-DF05-4F7A-8F99-EF9B53A9E5AD}"/>
                  </a:ext>
                </a:extLst>
              </p:cNvPr>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lstStyle/>
              <a:p>
                <a:pPr>
                  <a:defRPr/>
                </a:pPr>
                <a:endParaRPr lang="th-TH"/>
              </a:p>
            </p:txBody>
          </p:sp>
          <p:sp>
            <p:nvSpPr>
              <p:cNvPr id="75806" name="Freeform 1054">
                <a:extLst>
                  <a:ext uri="{FF2B5EF4-FFF2-40B4-BE49-F238E27FC236}">
                    <a16:creationId xmlns:a16="http://schemas.microsoft.com/office/drawing/2014/main" id="{BC3E5684-2746-4786-8FA3-FE8D85DB07C9}"/>
                  </a:ext>
                </a:extLst>
              </p:cNvPr>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lstStyle/>
              <a:p>
                <a:pPr>
                  <a:defRPr/>
                </a:pPr>
                <a:endParaRPr lang="th-TH"/>
              </a:p>
            </p:txBody>
          </p:sp>
          <p:sp>
            <p:nvSpPr>
              <p:cNvPr id="75807" name="Freeform 1055">
                <a:extLst>
                  <a:ext uri="{FF2B5EF4-FFF2-40B4-BE49-F238E27FC236}">
                    <a16:creationId xmlns:a16="http://schemas.microsoft.com/office/drawing/2014/main" id="{52ABCFC6-C2B3-4A73-8456-DC441F8FACBB}"/>
                  </a:ext>
                </a:extLst>
              </p:cNvPr>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75808" name="Freeform 1056">
                <a:extLst>
                  <a:ext uri="{FF2B5EF4-FFF2-40B4-BE49-F238E27FC236}">
                    <a16:creationId xmlns:a16="http://schemas.microsoft.com/office/drawing/2014/main" id="{A500F31A-27FA-4718-899C-4E393AC5AF55}"/>
                  </a:ext>
                </a:extLst>
              </p:cNvPr>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75809" name="Freeform 1057">
                <a:extLst>
                  <a:ext uri="{FF2B5EF4-FFF2-40B4-BE49-F238E27FC236}">
                    <a16:creationId xmlns:a16="http://schemas.microsoft.com/office/drawing/2014/main" id="{928F775F-1F4F-46AB-9DDF-31DA3B5551D0}"/>
                  </a:ext>
                </a:extLst>
              </p:cNvPr>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75810" name="Freeform 1058">
                <a:extLst>
                  <a:ext uri="{FF2B5EF4-FFF2-40B4-BE49-F238E27FC236}">
                    <a16:creationId xmlns:a16="http://schemas.microsoft.com/office/drawing/2014/main" id="{F5C5623D-EDD8-46A4-A460-D26A18D437F9}"/>
                  </a:ext>
                </a:extLst>
              </p:cNvPr>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lstStyle/>
              <a:p>
                <a:pPr>
                  <a:defRPr/>
                </a:pPr>
                <a:endParaRPr lang="th-TH"/>
              </a:p>
            </p:txBody>
          </p:sp>
          <p:sp>
            <p:nvSpPr>
              <p:cNvPr id="75811" name="Freeform 1059">
                <a:extLst>
                  <a:ext uri="{FF2B5EF4-FFF2-40B4-BE49-F238E27FC236}">
                    <a16:creationId xmlns:a16="http://schemas.microsoft.com/office/drawing/2014/main" id="{10014F9B-BCCD-4812-8D63-88A415605702}"/>
                  </a:ext>
                </a:extLst>
              </p:cNvPr>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75812" name="Freeform 1060">
                <a:extLst>
                  <a:ext uri="{FF2B5EF4-FFF2-40B4-BE49-F238E27FC236}">
                    <a16:creationId xmlns:a16="http://schemas.microsoft.com/office/drawing/2014/main" id="{F1D8AF29-BE81-427A-A88C-4A036D481A2B}"/>
                  </a:ext>
                </a:extLst>
              </p:cNvPr>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75813" name="Freeform 1061">
                <a:extLst>
                  <a:ext uri="{FF2B5EF4-FFF2-40B4-BE49-F238E27FC236}">
                    <a16:creationId xmlns:a16="http://schemas.microsoft.com/office/drawing/2014/main" id="{5E14C14C-6E99-4A89-974A-5756D8EBCB63}"/>
                  </a:ext>
                </a:extLst>
              </p:cNvPr>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lstStyle/>
              <a:p>
                <a:pPr>
                  <a:defRPr/>
                </a:pPr>
                <a:endParaRPr lang="th-TH"/>
              </a:p>
            </p:txBody>
          </p:sp>
          <p:sp>
            <p:nvSpPr>
              <p:cNvPr id="75814" name="Freeform 1062">
                <a:extLst>
                  <a:ext uri="{FF2B5EF4-FFF2-40B4-BE49-F238E27FC236}">
                    <a16:creationId xmlns:a16="http://schemas.microsoft.com/office/drawing/2014/main" id="{7F3B21D0-A41A-4680-9A8B-86F288AF793E}"/>
                  </a:ext>
                </a:extLst>
              </p:cNvPr>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75815" name="Freeform 1063">
                <a:extLst>
                  <a:ext uri="{FF2B5EF4-FFF2-40B4-BE49-F238E27FC236}">
                    <a16:creationId xmlns:a16="http://schemas.microsoft.com/office/drawing/2014/main" id="{3C995C7C-121B-4988-B354-24CE02F135CF}"/>
                  </a:ext>
                </a:extLst>
              </p:cNvPr>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75816" name="Freeform 1064">
                <a:extLst>
                  <a:ext uri="{FF2B5EF4-FFF2-40B4-BE49-F238E27FC236}">
                    <a16:creationId xmlns:a16="http://schemas.microsoft.com/office/drawing/2014/main" id="{4A1B6D9B-FE41-4DE2-96B9-F03F3D168A6E}"/>
                  </a:ext>
                </a:extLst>
              </p:cNvPr>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75817" name="Freeform 1065">
                <a:extLst>
                  <a:ext uri="{FF2B5EF4-FFF2-40B4-BE49-F238E27FC236}">
                    <a16:creationId xmlns:a16="http://schemas.microsoft.com/office/drawing/2014/main" id="{11F85E01-A6D9-47E1-83A2-AC036F41E6BB}"/>
                  </a:ext>
                </a:extLst>
              </p:cNvPr>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75818" name="Freeform 1066">
                <a:extLst>
                  <a:ext uri="{FF2B5EF4-FFF2-40B4-BE49-F238E27FC236}">
                    <a16:creationId xmlns:a16="http://schemas.microsoft.com/office/drawing/2014/main" id="{CB980328-DF1A-4099-B78D-AC4EFFABA680}"/>
                  </a:ext>
                </a:extLst>
              </p:cNvPr>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lstStyle/>
              <a:p>
                <a:pPr>
                  <a:defRPr/>
                </a:pPr>
                <a:endParaRPr lang="th-TH"/>
              </a:p>
            </p:txBody>
          </p:sp>
          <p:sp>
            <p:nvSpPr>
              <p:cNvPr id="75819" name="Freeform 1067">
                <a:extLst>
                  <a:ext uri="{FF2B5EF4-FFF2-40B4-BE49-F238E27FC236}">
                    <a16:creationId xmlns:a16="http://schemas.microsoft.com/office/drawing/2014/main" id="{825CD371-C113-480E-AB53-AA72F0A5CDFC}"/>
                  </a:ext>
                </a:extLst>
              </p:cNvPr>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lstStyle/>
              <a:p>
                <a:pPr>
                  <a:defRPr/>
                </a:pPr>
                <a:endParaRPr lang="th-TH"/>
              </a:p>
            </p:txBody>
          </p:sp>
          <p:sp>
            <p:nvSpPr>
              <p:cNvPr id="75820" name="Freeform 1068">
                <a:extLst>
                  <a:ext uri="{FF2B5EF4-FFF2-40B4-BE49-F238E27FC236}">
                    <a16:creationId xmlns:a16="http://schemas.microsoft.com/office/drawing/2014/main" id="{BB63FCEE-5DF2-46ED-A230-9BC895378D32}"/>
                  </a:ext>
                </a:extLst>
              </p:cNvPr>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75821" name="Freeform 1069">
                <a:extLst>
                  <a:ext uri="{FF2B5EF4-FFF2-40B4-BE49-F238E27FC236}">
                    <a16:creationId xmlns:a16="http://schemas.microsoft.com/office/drawing/2014/main" id="{DB2CBF68-0709-441F-9756-753DF2DC301B}"/>
                  </a:ext>
                </a:extLst>
              </p:cNvPr>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75822" name="Freeform 1070">
                <a:extLst>
                  <a:ext uri="{FF2B5EF4-FFF2-40B4-BE49-F238E27FC236}">
                    <a16:creationId xmlns:a16="http://schemas.microsoft.com/office/drawing/2014/main" id="{48EDBF75-5C9E-4AD7-8489-3796640A00DE}"/>
                  </a:ext>
                </a:extLst>
              </p:cNvPr>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75823" name="Freeform 1071">
                <a:extLst>
                  <a:ext uri="{FF2B5EF4-FFF2-40B4-BE49-F238E27FC236}">
                    <a16:creationId xmlns:a16="http://schemas.microsoft.com/office/drawing/2014/main" id="{B42465A5-3CA6-4818-B037-1669B7E229E8}"/>
                  </a:ext>
                </a:extLst>
              </p:cNvPr>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75824" name="Freeform 1072">
                <a:extLst>
                  <a:ext uri="{FF2B5EF4-FFF2-40B4-BE49-F238E27FC236}">
                    <a16:creationId xmlns:a16="http://schemas.microsoft.com/office/drawing/2014/main" id="{32182CFF-3C26-488A-8237-25F43E57D474}"/>
                  </a:ext>
                </a:extLst>
              </p:cNvPr>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75825" name="Freeform 1073">
                <a:extLst>
                  <a:ext uri="{FF2B5EF4-FFF2-40B4-BE49-F238E27FC236}">
                    <a16:creationId xmlns:a16="http://schemas.microsoft.com/office/drawing/2014/main" id="{81248040-BAB2-40D5-8402-0F480265C045}"/>
                  </a:ext>
                </a:extLst>
              </p:cNvPr>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75826" name="Freeform 1074">
                <a:extLst>
                  <a:ext uri="{FF2B5EF4-FFF2-40B4-BE49-F238E27FC236}">
                    <a16:creationId xmlns:a16="http://schemas.microsoft.com/office/drawing/2014/main" id="{40B19B22-3CFB-4AAC-8245-C69773C63837}"/>
                  </a:ext>
                </a:extLst>
              </p:cNvPr>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sp>
            <p:nvSpPr>
              <p:cNvPr id="75827" name="Freeform 1075">
                <a:extLst>
                  <a:ext uri="{FF2B5EF4-FFF2-40B4-BE49-F238E27FC236}">
                    <a16:creationId xmlns:a16="http://schemas.microsoft.com/office/drawing/2014/main" id="{822E5C0C-1166-4951-8D8E-D9E075347069}"/>
                  </a:ext>
                </a:extLst>
              </p:cNvPr>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sp>
            <p:nvSpPr>
              <p:cNvPr id="75828" name="Freeform 1076">
                <a:extLst>
                  <a:ext uri="{FF2B5EF4-FFF2-40B4-BE49-F238E27FC236}">
                    <a16:creationId xmlns:a16="http://schemas.microsoft.com/office/drawing/2014/main" id="{76811EE6-D6F5-4234-9DBC-8E0DE5A13139}"/>
                  </a:ext>
                </a:extLst>
              </p:cNvPr>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75829" name="Oval 1077">
                <a:extLst>
                  <a:ext uri="{FF2B5EF4-FFF2-40B4-BE49-F238E27FC236}">
                    <a16:creationId xmlns:a16="http://schemas.microsoft.com/office/drawing/2014/main" id="{957C5B08-33A6-4F55-A86D-79CD7E6628A0}"/>
                  </a:ext>
                </a:extLst>
              </p:cNvPr>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grpSp>
            <p:nvGrpSpPr>
              <p:cNvPr id="1075" name="Group 1078">
                <a:extLst>
                  <a:ext uri="{FF2B5EF4-FFF2-40B4-BE49-F238E27FC236}">
                    <a16:creationId xmlns:a16="http://schemas.microsoft.com/office/drawing/2014/main" id="{382F9FEC-B622-4EEF-B08C-62F9BCFE8F94}"/>
                  </a:ext>
                </a:extLst>
              </p:cNvPr>
              <p:cNvGrpSpPr>
                <a:grpSpLocks/>
              </p:cNvGrpSpPr>
              <p:nvPr userDrawn="1"/>
            </p:nvGrpSpPr>
            <p:grpSpPr bwMode="auto">
              <a:xfrm>
                <a:off x="4546" y="3608"/>
                <a:ext cx="518" cy="319"/>
                <a:chOff x="4546" y="3608"/>
                <a:chExt cx="518" cy="319"/>
              </a:xfrm>
            </p:grpSpPr>
            <p:sp>
              <p:nvSpPr>
                <p:cNvPr id="75831" name="Oval 1079">
                  <a:extLst>
                    <a:ext uri="{FF2B5EF4-FFF2-40B4-BE49-F238E27FC236}">
                      <a16:creationId xmlns:a16="http://schemas.microsoft.com/office/drawing/2014/main" id="{55B3AC1D-E5F8-4264-BF8F-BBDC5E13FAB8}"/>
                    </a:ext>
                  </a:extLst>
                </p:cNvPr>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lstStyle/>
                <a:p>
                  <a:pPr>
                    <a:defRPr/>
                  </a:pPr>
                  <a:endParaRPr lang="th-TH"/>
                </a:p>
              </p:txBody>
            </p:sp>
            <p:sp>
              <p:nvSpPr>
                <p:cNvPr id="75832" name="Oval 1080">
                  <a:extLst>
                    <a:ext uri="{FF2B5EF4-FFF2-40B4-BE49-F238E27FC236}">
                      <a16:creationId xmlns:a16="http://schemas.microsoft.com/office/drawing/2014/main" id="{B084649E-2311-4B84-88E9-F192B503BC61}"/>
                    </a:ext>
                  </a:extLst>
                </p:cNvPr>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lstStyle/>
                <a:p>
                  <a:pPr>
                    <a:defRPr/>
                  </a:pPr>
                  <a:endParaRPr lang="th-TH"/>
                </a:p>
              </p:txBody>
            </p:sp>
            <p:sp>
              <p:nvSpPr>
                <p:cNvPr id="75833" name="Oval 1081">
                  <a:extLst>
                    <a:ext uri="{FF2B5EF4-FFF2-40B4-BE49-F238E27FC236}">
                      <a16:creationId xmlns:a16="http://schemas.microsoft.com/office/drawing/2014/main" id="{3FF3F3BC-ABF2-4925-9D49-27C2C3C2DD4E}"/>
                    </a:ext>
                  </a:extLst>
                </p:cNvPr>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75834" name="Oval 1082">
                  <a:extLst>
                    <a:ext uri="{FF2B5EF4-FFF2-40B4-BE49-F238E27FC236}">
                      <a16:creationId xmlns:a16="http://schemas.microsoft.com/office/drawing/2014/main" id="{0E119355-096E-44BD-A05C-5389A1A03CD3}"/>
                    </a:ext>
                  </a:extLst>
                </p:cNvPr>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sp>
              <p:nvSpPr>
                <p:cNvPr id="75835" name="Oval 1083">
                  <a:extLst>
                    <a:ext uri="{FF2B5EF4-FFF2-40B4-BE49-F238E27FC236}">
                      <a16:creationId xmlns:a16="http://schemas.microsoft.com/office/drawing/2014/main" id="{C17B39A8-F6D5-4536-9CC0-22042FCF7ACB}"/>
                    </a:ext>
                  </a:extLst>
                </p:cNvPr>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75836" name="Oval 1084">
                  <a:extLst>
                    <a:ext uri="{FF2B5EF4-FFF2-40B4-BE49-F238E27FC236}">
                      <a16:creationId xmlns:a16="http://schemas.microsoft.com/office/drawing/2014/main" id="{43053811-9523-4B0E-A365-5A8F54E180B6}"/>
                    </a:ext>
                  </a:extLst>
                </p:cNvPr>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th-TH"/>
                </a:p>
              </p:txBody>
            </p:sp>
          </p:grpSp>
          <p:grpSp>
            <p:nvGrpSpPr>
              <p:cNvPr id="1076" name="Group 1085">
                <a:extLst>
                  <a:ext uri="{FF2B5EF4-FFF2-40B4-BE49-F238E27FC236}">
                    <a16:creationId xmlns:a16="http://schemas.microsoft.com/office/drawing/2014/main" id="{095EB265-464E-4DAA-9E39-F9701AC6215A}"/>
                  </a:ext>
                </a:extLst>
              </p:cNvPr>
              <p:cNvGrpSpPr>
                <a:grpSpLocks/>
              </p:cNvGrpSpPr>
              <p:nvPr userDrawn="1"/>
            </p:nvGrpSpPr>
            <p:grpSpPr bwMode="auto">
              <a:xfrm>
                <a:off x="5381" y="3085"/>
                <a:ext cx="227" cy="132"/>
                <a:chOff x="5381" y="3085"/>
                <a:chExt cx="227" cy="132"/>
              </a:xfrm>
            </p:grpSpPr>
            <p:sp>
              <p:nvSpPr>
                <p:cNvPr id="75838" name="Oval 1086">
                  <a:extLst>
                    <a:ext uri="{FF2B5EF4-FFF2-40B4-BE49-F238E27FC236}">
                      <a16:creationId xmlns:a16="http://schemas.microsoft.com/office/drawing/2014/main" id="{637749DC-247C-4AA5-BB5F-5F3D11B38D28}"/>
                    </a:ext>
                  </a:extLst>
                </p:cNvPr>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th-TH"/>
                </a:p>
              </p:txBody>
            </p:sp>
            <p:sp>
              <p:nvSpPr>
                <p:cNvPr id="75839" name="Oval 1087">
                  <a:extLst>
                    <a:ext uri="{FF2B5EF4-FFF2-40B4-BE49-F238E27FC236}">
                      <a16:creationId xmlns:a16="http://schemas.microsoft.com/office/drawing/2014/main" id="{8C5F2C76-5DB4-46A2-8B96-29D5D37663AF}"/>
                    </a:ext>
                  </a:extLst>
                </p:cNvPr>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th-TH"/>
                </a:p>
              </p:txBody>
            </p:sp>
            <p:sp>
              <p:nvSpPr>
                <p:cNvPr id="75840" name="Oval 1088">
                  <a:extLst>
                    <a:ext uri="{FF2B5EF4-FFF2-40B4-BE49-F238E27FC236}">
                      <a16:creationId xmlns:a16="http://schemas.microsoft.com/office/drawing/2014/main" id="{5EB5864C-0B7A-4662-99D9-DB0BB60544BC}"/>
                    </a:ext>
                  </a:extLst>
                </p:cNvPr>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th-TH"/>
                </a:p>
              </p:txBody>
            </p:sp>
            <p:sp>
              <p:nvSpPr>
                <p:cNvPr id="75841" name="Oval 1089">
                  <a:extLst>
                    <a:ext uri="{FF2B5EF4-FFF2-40B4-BE49-F238E27FC236}">
                      <a16:creationId xmlns:a16="http://schemas.microsoft.com/office/drawing/2014/main" id="{F5EC4C34-F139-4F05-B808-20A2A1BA4F05}"/>
                    </a:ext>
                  </a:extLst>
                </p:cNvPr>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th-TH"/>
                </a:p>
              </p:txBody>
            </p:sp>
          </p:grpSp>
        </p:grpSp>
      </p:grpSp>
      <p:sp>
        <p:nvSpPr>
          <p:cNvPr id="75842" name="Rectangle 1090">
            <a:extLst>
              <a:ext uri="{FF2B5EF4-FFF2-40B4-BE49-F238E27FC236}">
                <a16:creationId xmlns:a16="http://schemas.microsoft.com/office/drawing/2014/main" id="{E2B9992C-B05B-43BD-8FEE-B50D76CA7528}"/>
              </a:ext>
            </a:extLst>
          </p:cNvPr>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75843" name="Rectangle 1091">
            <a:extLst>
              <a:ext uri="{FF2B5EF4-FFF2-40B4-BE49-F238E27FC236}">
                <a16:creationId xmlns:a16="http://schemas.microsoft.com/office/drawing/2014/main" id="{B2A96502-9F5A-4AFB-A9EE-CFA746869E80}"/>
              </a:ext>
            </a:extLst>
          </p:cNvPr>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defRPr>
            </a:lvl1pPr>
          </a:lstStyle>
          <a:p>
            <a:pPr>
              <a:defRPr/>
            </a:pPr>
            <a:endParaRPr lang="en-US"/>
          </a:p>
        </p:txBody>
      </p:sp>
      <p:sp>
        <p:nvSpPr>
          <p:cNvPr id="75844" name="Rectangle 1092">
            <a:extLst>
              <a:ext uri="{FF2B5EF4-FFF2-40B4-BE49-F238E27FC236}">
                <a16:creationId xmlns:a16="http://schemas.microsoft.com/office/drawing/2014/main" id="{3E79F462-1BDB-4F5E-B7E3-85758A21265F}"/>
              </a:ext>
            </a:extLst>
          </p:cNvPr>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defRPr>
            </a:lvl1pPr>
          </a:lstStyle>
          <a:p>
            <a:pPr>
              <a:defRPr/>
            </a:pPr>
            <a:endParaRPr lang="en-US"/>
          </a:p>
        </p:txBody>
      </p:sp>
      <p:sp>
        <p:nvSpPr>
          <p:cNvPr id="75845" name="Rectangle 1093">
            <a:extLst>
              <a:ext uri="{FF2B5EF4-FFF2-40B4-BE49-F238E27FC236}">
                <a16:creationId xmlns:a16="http://schemas.microsoft.com/office/drawing/2014/main" id="{20C1F024-0C1A-4503-B958-5D6EFB38E405}"/>
              </a:ext>
            </a:extLst>
          </p:cNvPr>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defRPr>
            </a:lvl1pPr>
          </a:lstStyle>
          <a:p>
            <a:fld id="{66554BE4-6B31-4FA6-A7B4-AAC8D207A094}" type="slidenum">
              <a:rPr lang="en-US" altLang="en-US"/>
              <a:pPr/>
              <a:t>‹#›</a:t>
            </a:fld>
            <a:endParaRPr lang="en-US" altLang="en-US"/>
          </a:p>
        </p:txBody>
      </p:sp>
      <p:sp>
        <p:nvSpPr>
          <p:cNvPr id="75846" name="Rectangle 1094">
            <a:extLst>
              <a:ext uri="{FF2B5EF4-FFF2-40B4-BE49-F238E27FC236}">
                <a16:creationId xmlns:a16="http://schemas.microsoft.com/office/drawing/2014/main" id="{BAD43995-84CC-4BE9-8B22-30DB8F8C76E8}"/>
              </a:ext>
            </a:extLst>
          </p:cNvPr>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84"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9pPr>
    </p:titleStyle>
    <p:body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Ø"/>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panose="05000000000000000000" pitchFamily="2" charset="2"/>
        <a:buChar char="l"/>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50000"/>
        <a:buFont typeface="Wingdings" panose="05000000000000000000" pitchFamily="2" charset="2"/>
        <a:buChar char="l"/>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gP4PqVGudtg"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rubbingalcoholic.github.io/cowcrypt/demos/aes.html" TargetMode="External"/><Relationship Id="rId2" Type="http://schemas.openxmlformats.org/officeDocument/2006/relationships/hyperlink" Target="https://www.youtube.com/watch?v=gP4PqVGudtg" TargetMode="External"/><Relationship Id="rId1" Type="http://schemas.openxmlformats.org/officeDocument/2006/relationships/slideLayout" Target="../slideLayouts/slideLayout2.xml"/><Relationship Id="rId4" Type="http://schemas.openxmlformats.org/officeDocument/2006/relationships/hyperlink" Target="https://github.com/mono/mono/blob/ef407901f8fdd9ed8c377dbec8123b5afb932ebb/mcs/class/System.Core/System.Security.Cryptography/AesTransform.cs"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026">
            <a:extLst>
              <a:ext uri="{FF2B5EF4-FFF2-40B4-BE49-F238E27FC236}">
                <a16:creationId xmlns:a16="http://schemas.microsoft.com/office/drawing/2014/main" id="{C3E24D61-C2C1-4B5B-9561-D72E34DA4D8D}"/>
              </a:ext>
            </a:extLst>
          </p:cNvPr>
          <p:cNvSpPr>
            <a:spLocks noGrp="1" noChangeArrowheads="1"/>
          </p:cNvSpPr>
          <p:nvPr>
            <p:ph type="ctrTitle"/>
          </p:nvPr>
        </p:nvSpPr>
        <p:spPr>
          <a:xfrm>
            <a:off x="838200" y="457200"/>
            <a:ext cx="7848600" cy="2765425"/>
          </a:xfrm>
        </p:spPr>
        <p:txBody>
          <a:bodyPr/>
          <a:lstStyle/>
          <a:p>
            <a:pPr eaLnBrk="1" hangingPunct="1">
              <a:defRPr/>
            </a:pPr>
            <a:r>
              <a:rPr lang="en-US" dirty="0"/>
              <a:t>Cryptography and Network Security</a:t>
            </a:r>
            <a:br>
              <a:rPr lang="en-US" dirty="0"/>
            </a:br>
            <a:r>
              <a:rPr lang="en-US" dirty="0"/>
              <a:t>Chapter 5</a:t>
            </a:r>
            <a:endParaRPr lang="en-AU" dirty="0"/>
          </a:p>
        </p:txBody>
      </p:sp>
      <p:sp>
        <p:nvSpPr>
          <p:cNvPr id="6" name="Rectangle 2">
            <a:extLst>
              <a:ext uri="{FF2B5EF4-FFF2-40B4-BE49-F238E27FC236}">
                <a16:creationId xmlns:a16="http://schemas.microsoft.com/office/drawing/2014/main" id="{E710356F-A61C-49D6-91F9-DA2E0E0EE3A5}"/>
              </a:ext>
            </a:extLst>
          </p:cNvPr>
          <p:cNvSpPr txBox="1">
            <a:spLocks noChangeArrowheads="1"/>
          </p:cNvSpPr>
          <p:nvPr/>
        </p:nvSpPr>
        <p:spPr bwMode="black">
          <a:xfrm>
            <a:off x="611188" y="4365625"/>
            <a:ext cx="8229600" cy="1358900"/>
          </a:xfrm>
          <a:prstGeom prst="rect">
            <a:avLst/>
          </a:prstGeom>
          <a:noFill/>
          <a:ln w="9525">
            <a:noFill/>
            <a:miter lim="800000"/>
            <a:headEnd/>
            <a:tailEnd/>
          </a:ln>
          <a:effectLst/>
        </p:spPr>
        <p:txBody>
          <a:bodyPr anchor="b" anchorCtr="1"/>
          <a:lstStyle/>
          <a:p>
            <a:pPr algn="ctr">
              <a:defRPr/>
            </a:pPr>
            <a:r>
              <a:rPr lang="en-AU" sz="4000" b="1" kern="0" dirty="0">
                <a:solidFill>
                  <a:schemeClr val="tx2"/>
                </a:solidFill>
                <a:effectLst>
                  <a:outerShdw blurRad="38100" dist="38100" dir="2700000" algn="tl">
                    <a:srgbClr val="000000"/>
                  </a:outerShdw>
                </a:effectLst>
                <a:latin typeface="+mj-lt"/>
                <a:ea typeface="+mj-ea"/>
                <a:cs typeface="+mj-cs"/>
              </a:rPr>
              <a:t>Advanced Encryption Standard</a:t>
            </a:r>
            <a:br>
              <a:rPr lang="en-AU" sz="4000" b="1" kern="0" dirty="0">
                <a:solidFill>
                  <a:schemeClr val="tx2"/>
                </a:solidFill>
                <a:effectLst>
                  <a:outerShdw blurRad="38100" dist="38100" dir="2700000" algn="tl">
                    <a:srgbClr val="000000"/>
                  </a:outerShdw>
                </a:effectLst>
                <a:latin typeface="+mj-lt"/>
                <a:ea typeface="+mj-ea"/>
                <a:cs typeface="+mj-cs"/>
              </a:rPr>
            </a:br>
            <a:endParaRPr lang="en-AU" sz="4000" b="1" kern="0" dirty="0">
              <a:solidFill>
                <a:schemeClr val="tx2"/>
              </a:solidFill>
              <a:effectLst>
                <a:outerShdw blurRad="38100" dist="38100" dir="2700000" algn="tl">
                  <a:srgbClr val="000000"/>
                </a:outerShdw>
              </a:effectLst>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6D15C08F-B001-4FFB-BC40-8E082816F4A0}"/>
              </a:ext>
            </a:extLst>
          </p:cNvPr>
          <p:cNvSpPr>
            <a:spLocks noGrp="1" noChangeArrowheads="1"/>
          </p:cNvSpPr>
          <p:nvPr>
            <p:ph type="title"/>
          </p:nvPr>
        </p:nvSpPr>
        <p:spPr/>
        <p:txBody>
          <a:bodyPr/>
          <a:lstStyle/>
          <a:p>
            <a:pPr eaLnBrk="1" hangingPunct="1">
              <a:defRPr/>
            </a:pPr>
            <a:r>
              <a:rPr lang="en-US"/>
              <a:t>Origins</a:t>
            </a:r>
            <a:endParaRPr lang="en-AU"/>
          </a:p>
        </p:txBody>
      </p:sp>
      <p:sp>
        <p:nvSpPr>
          <p:cNvPr id="46083" name="Rectangle 3">
            <a:extLst>
              <a:ext uri="{FF2B5EF4-FFF2-40B4-BE49-F238E27FC236}">
                <a16:creationId xmlns:a16="http://schemas.microsoft.com/office/drawing/2014/main" id="{7A7D5124-AD03-405B-9FB7-FC59EE5A0AAF}"/>
              </a:ext>
            </a:extLst>
          </p:cNvPr>
          <p:cNvSpPr>
            <a:spLocks noGrp="1" noChangeArrowheads="1"/>
          </p:cNvSpPr>
          <p:nvPr>
            <p:ph type="body" idx="1"/>
          </p:nvPr>
        </p:nvSpPr>
        <p:spPr/>
        <p:txBody>
          <a:bodyPr/>
          <a:lstStyle/>
          <a:p>
            <a:pPr eaLnBrk="1" hangingPunct="1">
              <a:lnSpc>
                <a:spcPct val="90000"/>
              </a:lnSpc>
              <a:defRPr/>
            </a:pPr>
            <a:r>
              <a:rPr lang="en-AU" sz="2800" dirty="0"/>
              <a:t>clear a replacement for DES was needed</a:t>
            </a:r>
          </a:p>
          <a:p>
            <a:pPr lvl="1" eaLnBrk="1" hangingPunct="1">
              <a:lnSpc>
                <a:spcPct val="90000"/>
              </a:lnSpc>
              <a:defRPr/>
            </a:pPr>
            <a:r>
              <a:rPr lang="en-US" sz="2400" dirty="0"/>
              <a:t>have theoretical attacks that can break it</a:t>
            </a:r>
          </a:p>
          <a:p>
            <a:pPr lvl="1" eaLnBrk="1" hangingPunct="1">
              <a:lnSpc>
                <a:spcPct val="90000"/>
              </a:lnSpc>
              <a:defRPr/>
            </a:pPr>
            <a:r>
              <a:rPr lang="en-US" sz="2400" dirty="0"/>
              <a:t>have demonstrated exhaustive key search attacks</a:t>
            </a:r>
            <a:endParaRPr lang="en-AU" sz="2400" dirty="0"/>
          </a:p>
          <a:p>
            <a:pPr eaLnBrk="1" hangingPunct="1">
              <a:lnSpc>
                <a:spcPct val="90000"/>
              </a:lnSpc>
              <a:defRPr/>
            </a:pPr>
            <a:r>
              <a:rPr lang="en-AU" sz="2800" dirty="0"/>
              <a:t>can use Triple-DES – but slow, has small blocks</a:t>
            </a:r>
          </a:p>
          <a:p>
            <a:pPr eaLnBrk="1" hangingPunct="1">
              <a:lnSpc>
                <a:spcPct val="90000"/>
              </a:lnSpc>
              <a:defRPr/>
            </a:pPr>
            <a:r>
              <a:rPr lang="en-AU" sz="2800" dirty="0"/>
              <a:t>US NIST issued call for ciphers in 1997</a:t>
            </a:r>
          </a:p>
          <a:p>
            <a:pPr eaLnBrk="1" hangingPunct="1">
              <a:lnSpc>
                <a:spcPct val="90000"/>
              </a:lnSpc>
              <a:defRPr/>
            </a:pPr>
            <a:r>
              <a:rPr lang="en-AU" sz="2800" dirty="0"/>
              <a:t>15 candidates accepted in Jun 98 </a:t>
            </a:r>
          </a:p>
          <a:p>
            <a:pPr eaLnBrk="1" hangingPunct="1">
              <a:lnSpc>
                <a:spcPct val="90000"/>
              </a:lnSpc>
              <a:defRPr/>
            </a:pPr>
            <a:r>
              <a:rPr lang="en-AU" sz="2800" dirty="0"/>
              <a:t>5 were shortlisted in Aug-99 </a:t>
            </a:r>
          </a:p>
          <a:p>
            <a:pPr eaLnBrk="1" hangingPunct="1">
              <a:lnSpc>
                <a:spcPct val="90000"/>
              </a:lnSpc>
              <a:defRPr/>
            </a:pPr>
            <a:r>
              <a:rPr lang="en-AU" sz="2800" dirty="0"/>
              <a:t>Rijndael was selected as the AES in Oct-2000</a:t>
            </a:r>
          </a:p>
          <a:p>
            <a:pPr eaLnBrk="1" hangingPunct="1">
              <a:lnSpc>
                <a:spcPct val="90000"/>
              </a:lnSpc>
              <a:defRPr/>
            </a:pPr>
            <a:r>
              <a:rPr lang="en-AU" sz="2800" dirty="0"/>
              <a:t>issued as FIPS PUB 197 standard in Nov-2001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DD6BCB88-926F-4D55-BF1D-15D20B1B4132}"/>
              </a:ext>
            </a:extLst>
          </p:cNvPr>
          <p:cNvSpPr>
            <a:spLocks noGrp="1" noChangeArrowheads="1"/>
          </p:cNvSpPr>
          <p:nvPr>
            <p:ph type="title"/>
          </p:nvPr>
        </p:nvSpPr>
        <p:spPr/>
        <p:txBody>
          <a:bodyPr/>
          <a:lstStyle/>
          <a:p>
            <a:pPr eaLnBrk="1" hangingPunct="1">
              <a:defRPr/>
            </a:pPr>
            <a:r>
              <a:rPr lang="en-AU"/>
              <a:t>AES Requirements</a:t>
            </a:r>
          </a:p>
        </p:txBody>
      </p:sp>
      <p:sp>
        <p:nvSpPr>
          <p:cNvPr id="48131" name="Rectangle 3">
            <a:extLst>
              <a:ext uri="{FF2B5EF4-FFF2-40B4-BE49-F238E27FC236}">
                <a16:creationId xmlns:a16="http://schemas.microsoft.com/office/drawing/2014/main" id="{79AD00B9-7D3E-4A47-ADEA-8C8F479AC15F}"/>
              </a:ext>
            </a:extLst>
          </p:cNvPr>
          <p:cNvSpPr>
            <a:spLocks noGrp="1" noChangeArrowheads="1"/>
          </p:cNvSpPr>
          <p:nvPr>
            <p:ph type="body" idx="1"/>
          </p:nvPr>
        </p:nvSpPr>
        <p:spPr/>
        <p:txBody>
          <a:bodyPr/>
          <a:lstStyle/>
          <a:p>
            <a:pPr eaLnBrk="1" hangingPunct="1">
              <a:lnSpc>
                <a:spcPct val="90000"/>
              </a:lnSpc>
              <a:defRPr/>
            </a:pPr>
            <a:r>
              <a:rPr lang="en-AU"/>
              <a:t>private key symmetric block cipher </a:t>
            </a:r>
          </a:p>
          <a:p>
            <a:pPr eaLnBrk="1" hangingPunct="1">
              <a:lnSpc>
                <a:spcPct val="90000"/>
              </a:lnSpc>
              <a:defRPr/>
            </a:pPr>
            <a:r>
              <a:rPr lang="en-AU"/>
              <a:t>128-bit data, 128/192/256-bit keys </a:t>
            </a:r>
          </a:p>
          <a:p>
            <a:pPr eaLnBrk="1" hangingPunct="1">
              <a:lnSpc>
                <a:spcPct val="90000"/>
              </a:lnSpc>
              <a:defRPr/>
            </a:pPr>
            <a:r>
              <a:rPr lang="en-AU"/>
              <a:t>stronger &amp; faster than Triple-DES </a:t>
            </a:r>
          </a:p>
          <a:p>
            <a:pPr eaLnBrk="1" hangingPunct="1">
              <a:lnSpc>
                <a:spcPct val="90000"/>
              </a:lnSpc>
              <a:defRPr/>
            </a:pPr>
            <a:r>
              <a:rPr lang="en-AU"/>
              <a:t>active life of 20-30 years (+ archival use) </a:t>
            </a:r>
          </a:p>
          <a:p>
            <a:pPr eaLnBrk="1" hangingPunct="1">
              <a:lnSpc>
                <a:spcPct val="90000"/>
              </a:lnSpc>
              <a:defRPr/>
            </a:pPr>
            <a:r>
              <a:rPr lang="en-AU"/>
              <a:t>provide full specification &amp; design details </a:t>
            </a:r>
          </a:p>
          <a:p>
            <a:pPr eaLnBrk="1" hangingPunct="1">
              <a:lnSpc>
                <a:spcPct val="90000"/>
              </a:lnSpc>
              <a:defRPr/>
            </a:pPr>
            <a:r>
              <a:rPr lang="en-AU"/>
              <a:t>both C &amp; Java implementations</a:t>
            </a:r>
          </a:p>
          <a:p>
            <a:pPr eaLnBrk="1" hangingPunct="1">
              <a:lnSpc>
                <a:spcPct val="90000"/>
              </a:lnSpc>
              <a:defRPr/>
            </a:pPr>
            <a:r>
              <a:rPr lang="en-AU"/>
              <a:t>NIST have released all submissions &amp; unclassified analyses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1AB72E6E-C13C-44D0-9D4C-87885F21FD1C}"/>
              </a:ext>
            </a:extLst>
          </p:cNvPr>
          <p:cNvSpPr>
            <a:spLocks noGrp="1" noChangeArrowheads="1"/>
          </p:cNvSpPr>
          <p:nvPr>
            <p:ph type="title"/>
          </p:nvPr>
        </p:nvSpPr>
        <p:spPr/>
        <p:txBody>
          <a:bodyPr/>
          <a:lstStyle/>
          <a:p>
            <a:pPr eaLnBrk="1" hangingPunct="1">
              <a:defRPr/>
            </a:pPr>
            <a:r>
              <a:rPr lang="en-AU"/>
              <a:t>AES Evaluation Criteria</a:t>
            </a:r>
          </a:p>
        </p:txBody>
      </p:sp>
      <p:sp>
        <p:nvSpPr>
          <p:cNvPr id="49155" name="Rectangle 3">
            <a:extLst>
              <a:ext uri="{FF2B5EF4-FFF2-40B4-BE49-F238E27FC236}">
                <a16:creationId xmlns:a16="http://schemas.microsoft.com/office/drawing/2014/main" id="{48B02155-5993-4C31-92C1-CC5400D59F05}"/>
              </a:ext>
            </a:extLst>
          </p:cNvPr>
          <p:cNvSpPr>
            <a:spLocks noGrp="1" noChangeArrowheads="1"/>
          </p:cNvSpPr>
          <p:nvPr>
            <p:ph type="body" idx="1"/>
          </p:nvPr>
        </p:nvSpPr>
        <p:spPr/>
        <p:txBody>
          <a:bodyPr/>
          <a:lstStyle/>
          <a:p>
            <a:pPr eaLnBrk="1" hangingPunct="1">
              <a:lnSpc>
                <a:spcPct val="90000"/>
              </a:lnSpc>
              <a:defRPr/>
            </a:pPr>
            <a:r>
              <a:rPr lang="en-US"/>
              <a:t>initial criteria:</a:t>
            </a:r>
          </a:p>
          <a:p>
            <a:pPr lvl="1" eaLnBrk="1" hangingPunct="1">
              <a:lnSpc>
                <a:spcPct val="90000"/>
              </a:lnSpc>
              <a:defRPr/>
            </a:pPr>
            <a:r>
              <a:rPr lang="en-US"/>
              <a:t>security – effort for practical cryptanalysis</a:t>
            </a:r>
          </a:p>
          <a:p>
            <a:pPr lvl="1" eaLnBrk="1" hangingPunct="1">
              <a:lnSpc>
                <a:spcPct val="90000"/>
              </a:lnSpc>
              <a:defRPr/>
            </a:pPr>
            <a:r>
              <a:rPr lang="en-US"/>
              <a:t>cost – in terms of computational efficiency</a:t>
            </a:r>
          </a:p>
          <a:p>
            <a:pPr lvl="1" eaLnBrk="1" hangingPunct="1">
              <a:lnSpc>
                <a:spcPct val="90000"/>
              </a:lnSpc>
              <a:defRPr/>
            </a:pPr>
            <a:r>
              <a:rPr lang="en-US"/>
              <a:t>algorithm &amp; implementation characteristics</a:t>
            </a:r>
          </a:p>
          <a:p>
            <a:pPr eaLnBrk="1" hangingPunct="1">
              <a:lnSpc>
                <a:spcPct val="90000"/>
              </a:lnSpc>
              <a:defRPr/>
            </a:pPr>
            <a:r>
              <a:rPr lang="en-US"/>
              <a:t>final criteria</a:t>
            </a:r>
          </a:p>
          <a:p>
            <a:pPr lvl="1" eaLnBrk="1" hangingPunct="1">
              <a:lnSpc>
                <a:spcPct val="90000"/>
              </a:lnSpc>
              <a:defRPr/>
            </a:pPr>
            <a:r>
              <a:rPr lang="en-US"/>
              <a:t>general security</a:t>
            </a:r>
          </a:p>
          <a:p>
            <a:pPr lvl="1" eaLnBrk="1" hangingPunct="1">
              <a:lnSpc>
                <a:spcPct val="90000"/>
              </a:lnSpc>
              <a:defRPr/>
            </a:pPr>
            <a:r>
              <a:rPr lang="en-US"/>
              <a:t>ease of software &amp; hardware implementation</a:t>
            </a:r>
          </a:p>
          <a:p>
            <a:pPr lvl="1" eaLnBrk="1" hangingPunct="1">
              <a:lnSpc>
                <a:spcPct val="90000"/>
              </a:lnSpc>
              <a:defRPr/>
            </a:pPr>
            <a:r>
              <a:rPr lang="en-US"/>
              <a:t>implementation attacks</a:t>
            </a:r>
          </a:p>
          <a:p>
            <a:pPr lvl="1" eaLnBrk="1" hangingPunct="1">
              <a:lnSpc>
                <a:spcPct val="90000"/>
              </a:lnSpc>
              <a:defRPr/>
            </a:pPr>
            <a:r>
              <a:rPr lang="en-US"/>
              <a:t>flexibility (in en/decrypt, keying, other factors)</a:t>
            </a:r>
            <a:endParaRPr lang="en-A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34F6A300-5F69-413D-82CC-3FE14CF92DAD}"/>
              </a:ext>
            </a:extLst>
          </p:cNvPr>
          <p:cNvSpPr>
            <a:spLocks noGrp="1" noChangeArrowheads="1"/>
          </p:cNvSpPr>
          <p:nvPr>
            <p:ph type="title"/>
          </p:nvPr>
        </p:nvSpPr>
        <p:spPr/>
        <p:txBody>
          <a:bodyPr/>
          <a:lstStyle/>
          <a:p>
            <a:pPr eaLnBrk="1" hangingPunct="1">
              <a:defRPr/>
            </a:pPr>
            <a:r>
              <a:rPr lang="en-AU"/>
              <a:t>AES Shortlist</a:t>
            </a:r>
          </a:p>
        </p:txBody>
      </p:sp>
      <p:sp>
        <p:nvSpPr>
          <p:cNvPr id="51203" name="Rectangle 3">
            <a:extLst>
              <a:ext uri="{FF2B5EF4-FFF2-40B4-BE49-F238E27FC236}">
                <a16:creationId xmlns:a16="http://schemas.microsoft.com/office/drawing/2014/main" id="{84F93617-5C63-45D6-A58A-9C45022D67ED}"/>
              </a:ext>
            </a:extLst>
          </p:cNvPr>
          <p:cNvSpPr>
            <a:spLocks noGrp="1" noChangeArrowheads="1"/>
          </p:cNvSpPr>
          <p:nvPr>
            <p:ph type="body" idx="1"/>
          </p:nvPr>
        </p:nvSpPr>
        <p:spPr/>
        <p:txBody>
          <a:bodyPr/>
          <a:lstStyle/>
          <a:p>
            <a:pPr eaLnBrk="1" hangingPunct="1">
              <a:lnSpc>
                <a:spcPct val="90000"/>
              </a:lnSpc>
              <a:defRPr/>
            </a:pPr>
            <a:r>
              <a:rPr lang="en-AU" sz="2800"/>
              <a:t>after testing and evaluation, shortlist in Aug-99: </a:t>
            </a:r>
          </a:p>
          <a:p>
            <a:pPr lvl="1" eaLnBrk="1" hangingPunct="1">
              <a:lnSpc>
                <a:spcPct val="90000"/>
              </a:lnSpc>
              <a:defRPr/>
            </a:pPr>
            <a:r>
              <a:rPr lang="en-AU" sz="2400"/>
              <a:t>MARS (IBM) - complex, fast, high security margin </a:t>
            </a:r>
          </a:p>
          <a:p>
            <a:pPr lvl="1" eaLnBrk="1" hangingPunct="1">
              <a:lnSpc>
                <a:spcPct val="90000"/>
              </a:lnSpc>
              <a:defRPr/>
            </a:pPr>
            <a:r>
              <a:rPr lang="en-AU" sz="2400"/>
              <a:t>RC6 (USA) - v. simple, v. fast, low security margin </a:t>
            </a:r>
          </a:p>
          <a:p>
            <a:pPr lvl="1" eaLnBrk="1" hangingPunct="1">
              <a:lnSpc>
                <a:spcPct val="90000"/>
              </a:lnSpc>
              <a:defRPr/>
            </a:pPr>
            <a:r>
              <a:rPr lang="en-AU" sz="2400"/>
              <a:t>Rijndael (Belgium) - clean, fast, good security margin </a:t>
            </a:r>
          </a:p>
          <a:p>
            <a:pPr lvl="1" eaLnBrk="1" hangingPunct="1">
              <a:lnSpc>
                <a:spcPct val="90000"/>
              </a:lnSpc>
              <a:defRPr/>
            </a:pPr>
            <a:r>
              <a:rPr lang="en-AU" sz="2400"/>
              <a:t>Serpent (Euro) - slow, clean, v. high security margin </a:t>
            </a:r>
          </a:p>
          <a:p>
            <a:pPr lvl="1" eaLnBrk="1" hangingPunct="1">
              <a:lnSpc>
                <a:spcPct val="90000"/>
              </a:lnSpc>
              <a:defRPr/>
            </a:pPr>
            <a:r>
              <a:rPr lang="en-AU" sz="2400"/>
              <a:t>Twofish (USA) - complex, v. fast, high security margin </a:t>
            </a:r>
          </a:p>
          <a:p>
            <a:pPr eaLnBrk="1" hangingPunct="1">
              <a:lnSpc>
                <a:spcPct val="90000"/>
              </a:lnSpc>
              <a:defRPr/>
            </a:pPr>
            <a:r>
              <a:rPr lang="en-AU" sz="2800"/>
              <a:t>then subject to further analysis &amp; comment</a:t>
            </a:r>
          </a:p>
          <a:p>
            <a:pPr eaLnBrk="1" hangingPunct="1">
              <a:lnSpc>
                <a:spcPct val="90000"/>
              </a:lnSpc>
              <a:defRPr/>
            </a:pPr>
            <a:r>
              <a:rPr lang="en-AU" sz="2800"/>
              <a:t>saw contrast between algorithms with </a:t>
            </a:r>
          </a:p>
          <a:p>
            <a:pPr lvl="1" eaLnBrk="1" hangingPunct="1">
              <a:lnSpc>
                <a:spcPct val="90000"/>
              </a:lnSpc>
              <a:defRPr/>
            </a:pPr>
            <a:r>
              <a:rPr lang="en-AU" sz="2400"/>
              <a:t>few complex rounds verses many simple rounds </a:t>
            </a:r>
          </a:p>
          <a:p>
            <a:pPr lvl="1" eaLnBrk="1" hangingPunct="1">
              <a:lnSpc>
                <a:spcPct val="90000"/>
              </a:lnSpc>
              <a:defRPr/>
            </a:pPr>
            <a:r>
              <a:rPr lang="en-AU" sz="2400"/>
              <a:t>which refined existing ciphers verses new proposals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B83A1D84-C643-4F4C-B610-4CCE3AC2E080}"/>
              </a:ext>
            </a:extLst>
          </p:cNvPr>
          <p:cNvSpPr>
            <a:spLocks noGrp="1" noChangeArrowheads="1"/>
          </p:cNvSpPr>
          <p:nvPr>
            <p:ph type="title"/>
          </p:nvPr>
        </p:nvSpPr>
        <p:spPr/>
        <p:txBody>
          <a:bodyPr/>
          <a:lstStyle/>
          <a:p>
            <a:pPr eaLnBrk="1" hangingPunct="1">
              <a:defRPr/>
            </a:pPr>
            <a:r>
              <a:rPr lang="en-AU"/>
              <a:t>The AES Cipher - Rijndael </a:t>
            </a:r>
          </a:p>
        </p:txBody>
      </p:sp>
      <p:sp>
        <p:nvSpPr>
          <p:cNvPr id="53251" name="Rectangle 3">
            <a:extLst>
              <a:ext uri="{FF2B5EF4-FFF2-40B4-BE49-F238E27FC236}">
                <a16:creationId xmlns:a16="http://schemas.microsoft.com/office/drawing/2014/main" id="{3D6F07A0-51C1-4A7D-863B-F2AD7F470BBC}"/>
              </a:ext>
            </a:extLst>
          </p:cNvPr>
          <p:cNvSpPr>
            <a:spLocks noGrp="1" noChangeArrowheads="1"/>
          </p:cNvSpPr>
          <p:nvPr>
            <p:ph type="body" idx="1"/>
          </p:nvPr>
        </p:nvSpPr>
        <p:spPr/>
        <p:txBody>
          <a:bodyPr/>
          <a:lstStyle/>
          <a:p>
            <a:pPr eaLnBrk="1" hangingPunct="1">
              <a:lnSpc>
                <a:spcPct val="90000"/>
              </a:lnSpc>
              <a:defRPr/>
            </a:pPr>
            <a:r>
              <a:rPr lang="en-AU" sz="2800"/>
              <a:t>designed by Rijmen-Daemen in Belgium </a:t>
            </a:r>
          </a:p>
          <a:p>
            <a:pPr eaLnBrk="1" hangingPunct="1">
              <a:lnSpc>
                <a:spcPct val="90000"/>
              </a:lnSpc>
              <a:defRPr/>
            </a:pPr>
            <a:r>
              <a:rPr lang="en-AU" sz="2800"/>
              <a:t>has 128/192/256 bit keys, 128 bit data </a:t>
            </a:r>
          </a:p>
          <a:p>
            <a:pPr eaLnBrk="1" hangingPunct="1">
              <a:lnSpc>
                <a:spcPct val="90000"/>
              </a:lnSpc>
              <a:defRPr/>
            </a:pPr>
            <a:r>
              <a:rPr lang="en-AU" sz="2800"/>
              <a:t>an </a:t>
            </a:r>
            <a:r>
              <a:rPr lang="en-AU" sz="2800" b="1"/>
              <a:t>iterative</a:t>
            </a:r>
            <a:r>
              <a:rPr lang="en-AU" sz="2800"/>
              <a:t> rather than </a:t>
            </a:r>
            <a:r>
              <a:rPr lang="en-AU" sz="2800" b="1"/>
              <a:t>feistel</a:t>
            </a:r>
            <a:r>
              <a:rPr lang="en-AU" sz="2800"/>
              <a:t> cipher</a:t>
            </a:r>
          </a:p>
          <a:p>
            <a:pPr lvl="1" eaLnBrk="1" hangingPunct="1">
              <a:lnSpc>
                <a:spcPct val="90000"/>
              </a:lnSpc>
              <a:defRPr/>
            </a:pPr>
            <a:r>
              <a:rPr lang="en-US" sz="2400"/>
              <a:t>processes </a:t>
            </a:r>
            <a:r>
              <a:rPr lang="en-AU" sz="2400"/>
              <a:t>data as block of 4 columns of 4 bytes</a:t>
            </a:r>
          </a:p>
          <a:p>
            <a:pPr lvl="1" eaLnBrk="1" hangingPunct="1">
              <a:lnSpc>
                <a:spcPct val="90000"/>
              </a:lnSpc>
              <a:defRPr/>
            </a:pPr>
            <a:r>
              <a:rPr lang="en-US" sz="2400"/>
              <a:t>operates on entire data block in every round</a:t>
            </a:r>
            <a:endParaRPr lang="en-AU" sz="2400"/>
          </a:p>
          <a:p>
            <a:pPr eaLnBrk="1" hangingPunct="1">
              <a:lnSpc>
                <a:spcPct val="90000"/>
              </a:lnSpc>
              <a:defRPr/>
            </a:pPr>
            <a:r>
              <a:rPr lang="en-US" sz="2800"/>
              <a:t>designed to be:</a:t>
            </a:r>
          </a:p>
          <a:p>
            <a:pPr lvl="1" eaLnBrk="1" hangingPunct="1">
              <a:lnSpc>
                <a:spcPct val="90000"/>
              </a:lnSpc>
              <a:defRPr/>
            </a:pPr>
            <a:r>
              <a:rPr lang="en-US" sz="2400"/>
              <a:t>resistant against known attacks</a:t>
            </a:r>
          </a:p>
          <a:p>
            <a:pPr lvl="1" eaLnBrk="1" hangingPunct="1">
              <a:lnSpc>
                <a:spcPct val="90000"/>
              </a:lnSpc>
              <a:defRPr/>
            </a:pPr>
            <a:r>
              <a:rPr lang="en-US" sz="2400"/>
              <a:t>speed and code compactness on many CPUs</a:t>
            </a:r>
          </a:p>
          <a:p>
            <a:pPr lvl="1" eaLnBrk="1" hangingPunct="1">
              <a:lnSpc>
                <a:spcPct val="90000"/>
              </a:lnSpc>
              <a:defRPr/>
            </a:pPr>
            <a:r>
              <a:rPr lang="en-US" sz="2400"/>
              <a:t>design simplicity</a:t>
            </a:r>
            <a:endParaRPr lang="en-AU" sz="2400"/>
          </a:p>
          <a:p>
            <a:pPr eaLnBrk="1" hangingPunct="1">
              <a:lnSpc>
                <a:spcPct val="90000"/>
              </a:lnSpc>
              <a:defRPr/>
            </a:pPr>
            <a:endParaRPr lang="en-AU"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523E6542-FCE2-471B-9A5D-B65AB391E0EA}"/>
              </a:ext>
            </a:extLst>
          </p:cNvPr>
          <p:cNvSpPr>
            <a:spLocks noGrp="1" noChangeArrowheads="1"/>
          </p:cNvSpPr>
          <p:nvPr>
            <p:ph type="title"/>
          </p:nvPr>
        </p:nvSpPr>
        <p:spPr/>
        <p:txBody>
          <a:bodyPr/>
          <a:lstStyle/>
          <a:p>
            <a:pPr eaLnBrk="1" hangingPunct="1">
              <a:defRPr/>
            </a:pPr>
            <a:r>
              <a:rPr lang="en-AU" dirty="0"/>
              <a:t>Rijndael</a:t>
            </a:r>
          </a:p>
        </p:txBody>
      </p:sp>
      <p:sp>
        <p:nvSpPr>
          <p:cNvPr id="54275" name="Rectangle 3">
            <a:extLst>
              <a:ext uri="{FF2B5EF4-FFF2-40B4-BE49-F238E27FC236}">
                <a16:creationId xmlns:a16="http://schemas.microsoft.com/office/drawing/2014/main" id="{C9671A34-BCDD-453F-BF21-3AD4F9C91DBC}"/>
              </a:ext>
            </a:extLst>
          </p:cNvPr>
          <p:cNvSpPr>
            <a:spLocks noGrp="1" noChangeArrowheads="1"/>
          </p:cNvSpPr>
          <p:nvPr>
            <p:ph type="body" idx="1"/>
          </p:nvPr>
        </p:nvSpPr>
        <p:spPr>
          <a:xfrm>
            <a:off x="457200" y="1371600"/>
            <a:ext cx="8229600" cy="5257800"/>
          </a:xfrm>
        </p:spPr>
        <p:txBody>
          <a:bodyPr/>
          <a:lstStyle/>
          <a:p>
            <a:pPr eaLnBrk="1" hangingPunct="1">
              <a:defRPr/>
            </a:pPr>
            <a:r>
              <a:rPr lang="en-US" sz="2800"/>
              <a:t>data block of </a:t>
            </a:r>
            <a:r>
              <a:rPr lang="en-AU" sz="2800"/>
              <a:t>4 columns of 4 bytes is state</a:t>
            </a:r>
          </a:p>
          <a:p>
            <a:pPr eaLnBrk="1" hangingPunct="1">
              <a:defRPr/>
            </a:pPr>
            <a:r>
              <a:rPr lang="en-AU" sz="2800"/>
              <a:t>key is expanded to array of words</a:t>
            </a:r>
          </a:p>
          <a:p>
            <a:pPr eaLnBrk="1" hangingPunct="1">
              <a:defRPr/>
            </a:pPr>
            <a:r>
              <a:rPr lang="en-AU" sz="2800"/>
              <a:t>has 9/11/13 rounds in which state undergoes: </a:t>
            </a:r>
          </a:p>
          <a:p>
            <a:pPr lvl="1" eaLnBrk="1" hangingPunct="1">
              <a:defRPr/>
            </a:pPr>
            <a:r>
              <a:rPr lang="en-AU" sz="2400"/>
              <a:t>byte substitution (1 S-box used on every byte) </a:t>
            </a:r>
          </a:p>
          <a:p>
            <a:pPr lvl="1" eaLnBrk="1" hangingPunct="1">
              <a:defRPr/>
            </a:pPr>
            <a:r>
              <a:rPr lang="en-AU" sz="2400"/>
              <a:t>shift rows (permute bytes between groups/columns) </a:t>
            </a:r>
          </a:p>
          <a:p>
            <a:pPr lvl="1" eaLnBrk="1" hangingPunct="1">
              <a:defRPr/>
            </a:pPr>
            <a:r>
              <a:rPr lang="en-AU" sz="2400"/>
              <a:t>mix columns (subs using matrix multipy of groups) </a:t>
            </a:r>
          </a:p>
          <a:p>
            <a:pPr lvl="1" eaLnBrk="1" hangingPunct="1">
              <a:defRPr/>
            </a:pPr>
            <a:r>
              <a:rPr lang="en-AU" sz="2400"/>
              <a:t>add round key (XOR state with key material)</a:t>
            </a:r>
          </a:p>
          <a:p>
            <a:pPr lvl="1" eaLnBrk="1" hangingPunct="1">
              <a:defRPr/>
            </a:pPr>
            <a:r>
              <a:rPr lang="en-AU" sz="2400"/>
              <a:t>view as alternating XOR key &amp; scramble data bytes</a:t>
            </a:r>
          </a:p>
          <a:p>
            <a:pPr eaLnBrk="1" hangingPunct="1">
              <a:defRPr/>
            </a:pPr>
            <a:r>
              <a:rPr lang="en-AU" sz="2800"/>
              <a:t>initial XOR key material &amp; incomplete last round</a:t>
            </a:r>
          </a:p>
          <a:p>
            <a:pPr eaLnBrk="1" hangingPunct="1">
              <a:defRPr/>
            </a:pPr>
            <a:r>
              <a:rPr lang="en-AU" sz="2800"/>
              <a:t>with fast XOR &amp; table lookup implementation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391AE4B-4C28-4703-AE13-616F974D57FB}"/>
              </a:ext>
            </a:extLst>
          </p:cNvPr>
          <p:cNvSpPr>
            <a:spLocks noGrp="1" noChangeArrowheads="1"/>
          </p:cNvSpPr>
          <p:nvPr>
            <p:ph type="title"/>
          </p:nvPr>
        </p:nvSpPr>
        <p:spPr/>
        <p:txBody>
          <a:bodyPr/>
          <a:lstStyle/>
          <a:p>
            <a:pPr eaLnBrk="1" hangingPunct="1">
              <a:defRPr/>
            </a:pPr>
            <a:r>
              <a:rPr lang="en-AU"/>
              <a:t>Rijndael</a:t>
            </a:r>
          </a:p>
        </p:txBody>
      </p:sp>
      <p:pic>
        <p:nvPicPr>
          <p:cNvPr id="10243" name="Picture 5">
            <a:extLst>
              <a:ext uri="{FF2B5EF4-FFF2-40B4-BE49-F238E27FC236}">
                <a16:creationId xmlns:a16="http://schemas.microsoft.com/office/drawing/2014/main" id="{EDA14139-99C2-4733-AEE7-1C68454F5A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295400"/>
            <a:ext cx="4275138" cy="526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728E221-8F3B-4B30-802F-79DCC5EF9288}"/>
              </a:ext>
            </a:extLst>
          </p:cNvPr>
          <p:cNvSpPr>
            <a:spLocks noGrp="1" noChangeArrowheads="1"/>
          </p:cNvSpPr>
          <p:nvPr>
            <p:ph type="title"/>
          </p:nvPr>
        </p:nvSpPr>
        <p:spPr/>
        <p:txBody>
          <a:bodyPr/>
          <a:lstStyle/>
          <a:p>
            <a:pPr eaLnBrk="1" hangingPunct="1">
              <a:defRPr/>
            </a:pPr>
            <a:r>
              <a:rPr lang="en-AU"/>
              <a:t>Byte Substitution</a:t>
            </a:r>
          </a:p>
        </p:txBody>
      </p:sp>
      <p:sp>
        <p:nvSpPr>
          <p:cNvPr id="58371" name="Rectangle 3">
            <a:extLst>
              <a:ext uri="{FF2B5EF4-FFF2-40B4-BE49-F238E27FC236}">
                <a16:creationId xmlns:a16="http://schemas.microsoft.com/office/drawing/2014/main" id="{8101F40D-EBBF-448A-8B9A-9D7918255BC1}"/>
              </a:ext>
            </a:extLst>
          </p:cNvPr>
          <p:cNvSpPr>
            <a:spLocks noGrp="1" noChangeArrowheads="1"/>
          </p:cNvSpPr>
          <p:nvPr>
            <p:ph type="body" idx="1"/>
          </p:nvPr>
        </p:nvSpPr>
        <p:spPr/>
        <p:txBody>
          <a:bodyPr/>
          <a:lstStyle/>
          <a:p>
            <a:pPr eaLnBrk="1" hangingPunct="1">
              <a:lnSpc>
                <a:spcPct val="90000"/>
              </a:lnSpc>
              <a:defRPr/>
            </a:pPr>
            <a:r>
              <a:rPr lang="en-US" sz="2800" dirty="0"/>
              <a:t>a simple substitution of each byte</a:t>
            </a:r>
          </a:p>
          <a:p>
            <a:pPr eaLnBrk="1" hangingPunct="1">
              <a:lnSpc>
                <a:spcPct val="90000"/>
              </a:lnSpc>
              <a:defRPr/>
            </a:pPr>
            <a:r>
              <a:rPr lang="en-US" sz="2800" dirty="0"/>
              <a:t>uses one table of 16x16 bytes containing a permutation of all 256 8-bit values</a:t>
            </a:r>
          </a:p>
          <a:p>
            <a:pPr eaLnBrk="1" hangingPunct="1">
              <a:lnSpc>
                <a:spcPct val="90000"/>
              </a:lnSpc>
              <a:defRPr/>
            </a:pPr>
            <a:r>
              <a:rPr lang="en-US" sz="2800" dirty="0"/>
              <a:t>each byte of state is replaced by byte indexed by row (left 4-bits) &amp; column (right 4-bits)</a:t>
            </a:r>
          </a:p>
          <a:p>
            <a:pPr lvl="1" eaLnBrk="1" hangingPunct="1">
              <a:lnSpc>
                <a:spcPct val="90000"/>
              </a:lnSpc>
              <a:defRPr/>
            </a:pPr>
            <a:r>
              <a:rPr lang="en-US" sz="2400" dirty="0" err="1"/>
              <a:t>eg</a:t>
            </a:r>
            <a:r>
              <a:rPr lang="en-US" sz="2400" dirty="0"/>
              <a:t>. byte {95} is replaced by byte in row 9 column 5</a:t>
            </a:r>
          </a:p>
          <a:p>
            <a:pPr lvl="1" eaLnBrk="1" hangingPunct="1">
              <a:lnSpc>
                <a:spcPct val="90000"/>
              </a:lnSpc>
              <a:defRPr/>
            </a:pPr>
            <a:r>
              <a:rPr lang="en-US" sz="2400" dirty="0"/>
              <a:t>which has value {2A}</a:t>
            </a:r>
          </a:p>
          <a:p>
            <a:pPr eaLnBrk="1" hangingPunct="1">
              <a:lnSpc>
                <a:spcPct val="90000"/>
              </a:lnSpc>
              <a:defRPr/>
            </a:pPr>
            <a:r>
              <a:rPr lang="en-US" sz="2800" dirty="0"/>
              <a:t>S-box constructed using defined transformation of values in GF(2</a:t>
            </a:r>
            <a:r>
              <a:rPr lang="en-US" sz="2800" baseline="30000" dirty="0"/>
              <a:t>8</a:t>
            </a:r>
            <a:r>
              <a:rPr lang="en-US" sz="2800" dirty="0"/>
              <a:t>)</a:t>
            </a:r>
          </a:p>
          <a:p>
            <a:pPr eaLnBrk="1" hangingPunct="1">
              <a:lnSpc>
                <a:spcPct val="90000"/>
              </a:lnSpc>
              <a:defRPr/>
            </a:pPr>
            <a:r>
              <a:rPr lang="en-US" sz="2800" dirty="0"/>
              <a:t>designed to be resistant to all known attacks</a:t>
            </a:r>
            <a:endParaRPr lang="en-AU"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64D44B8F-561B-41D8-A07E-0CBB14BEBA8F}"/>
              </a:ext>
            </a:extLst>
          </p:cNvPr>
          <p:cNvSpPr>
            <a:spLocks noGrp="1" noChangeArrowheads="1"/>
          </p:cNvSpPr>
          <p:nvPr>
            <p:ph type="title"/>
          </p:nvPr>
        </p:nvSpPr>
        <p:spPr/>
        <p:txBody>
          <a:bodyPr/>
          <a:lstStyle/>
          <a:p>
            <a:pPr>
              <a:defRPr/>
            </a:pPr>
            <a:r>
              <a:rPr lang="en-US" dirty="0"/>
              <a:t>Galois Fields</a:t>
            </a:r>
            <a:endParaRPr lang="en-AU" dirty="0"/>
          </a:p>
        </p:txBody>
      </p:sp>
      <p:sp>
        <p:nvSpPr>
          <p:cNvPr id="68611" name="Rectangle 3">
            <a:extLst>
              <a:ext uri="{FF2B5EF4-FFF2-40B4-BE49-F238E27FC236}">
                <a16:creationId xmlns:a16="http://schemas.microsoft.com/office/drawing/2014/main" id="{77E3EC71-80C9-4232-9046-4B2DCD3C8456}"/>
              </a:ext>
            </a:extLst>
          </p:cNvPr>
          <p:cNvSpPr>
            <a:spLocks noGrp="1" noChangeArrowheads="1"/>
          </p:cNvSpPr>
          <p:nvPr>
            <p:ph type="body" idx="1"/>
          </p:nvPr>
        </p:nvSpPr>
        <p:spPr/>
        <p:txBody>
          <a:bodyPr/>
          <a:lstStyle/>
          <a:p>
            <a:pPr>
              <a:defRPr/>
            </a:pPr>
            <a:r>
              <a:rPr lang="en-US" dirty="0"/>
              <a:t>finite fields play a key role in cryptography</a:t>
            </a:r>
          </a:p>
          <a:p>
            <a:pPr>
              <a:defRPr/>
            </a:pPr>
            <a:r>
              <a:rPr lang="en-US" dirty="0"/>
              <a:t>can show number of elements in a finite field </a:t>
            </a:r>
            <a:r>
              <a:rPr lang="en-US" b="1" dirty="0"/>
              <a:t>must</a:t>
            </a:r>
            <a:r>
              <a:rPr lang="en-US" dirty="0"/>
              <a:t> be a power of a prime </a:t>
            </a:r>
            <a:r>
              <a:rPr lang="en-US" dirty="0" err="1"/>
              <a:t>p</a:t>
            </a:r>
            <a:r>
              <a:rPr lang="en-US" baseline="30000" dirty="0" err="1"/>
              <a:t>n</a:t>
            </a:r>
            <a:endParaRPr lang="en-US" baseline="30000" dirty="0"/>
          </a:p>
          <a:p>
            <a:pPr>
              <a:defRPr/>
            </a:pPr>
            <a:r>
              <a:rPr lang="en-US" dirty="0"/>
              <a:t>known as Galois fields</a:t>
            </a:r>
          </a:p>
          <a:p>
            <a:pPr>
              <a:defRPr/>
            </a:pPr>
            <a:r>
              <a:rPr lang="en-US" dirty="0"/>
              <a:t>denoted GF(</a:t>
            </a:r>
            <a:r>
              <a:rPr lang="en-US" dirty="0" err="1"/>
              <a:t>p</a:t>
            </a:r>
            <a:r>
              <a:rPr lang="en-US" baseline="30000" dirty="0" err="1"/>
              <a:t>n</a:t>
            </a:r>
            <a:r>
              <a:rPr lang="en-US" dirty="0"/>
              <a:t>)</a:t>
            </a:r>
          </a:p>
          <a:p>
            <a:pPr>
              <a:defRPr/>
            </a:pPr>
            <a:r>
              <a:rPr lang="en-US" dirty="0"/>
              <a:t>in particular often use the fields:</a:t>
            </a:r>
          </a:p>
          <a:p>
            <a:pPr lvl="1">
              <a:defRPr/>
            </a:pPr>
            <a:r>
              <a:rPr lang="en-US" dirty="0"/>
              <a:t>GF(p)</a:t>
            </a:r>
          </a:p>
          <a:p>
            <a:pPr lvl="1">
              <a:defRPr/>
            </a:pPr>
            <a:r>
              <a:rPr lang="en-US" dirty="0"/>
              <a:t>GF(2</a:t>
            </a:r>
            <a:r>
              <a:rPr lang="en-US" baseline="30000" dirty="0"/>
              <a:t>n</a:t>
            </a:r>
            <a:r>
              <a:rPr lang="en-US" dirty="0"/>
              <a:t>)</a:t>
            </a:r>
            <a:endParaRPr lang="en-AU"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036FA9DF-266C-4C1E-B127-F172D248C29C}"/>
              </a:ext>
            </a:extLst>
          </p:cNvPr>
          <p:cNvSpPr>
            <a:spLocks noGrp="1" noChangeArrowheads="1"/>
          </p:cNvSpPr>
          <p:nvPr>
            <p:ph type="title"/>
          </p:nvPr>
        </p:nvSpPr>
        <p:spPr/>
        <p:txBody>
          <a:bodyPr/>
          <a:lstStyle/>
          <a:p>
            <a:pPr>
              <a:defRPr/>
            </a:pPr>
            <a:r>
              <a:rPr lang="en-US"/>
              <a:t>Galois Fields GF(p)</a:t>
            </a:r>
            <a:endParaRPr lang="en-AU"/>
          </a:p>
        </p:txBody>
      </p:sp>
      <p:sp>
        <p:nvSpPr>
          <p:cNvPr id="69635" name="Rectangle 3">
            <a:extLst>
              <a:ext uri="{FF2B5EF4-FFF2-40B4-BE49-F238E27FC236}">
                <a16:creationId xmlns:a16="http://schemas.microsoft.com/office/drawing/2014/main" id="{66E20E49-116A-4545-9F12-5D8867D76F2E}"/>
              </a:ext>
            </a:extLst>
          </p:cNvPr>
          <p:cNvSpPr>
            <a:spLocks noGrp="1" noChangeArrowheads="1"/>
          </p:cNvSpPr>
          <p:nvPr>
            <p:ph type="body" idx="1"/>
          </p:nvPr>
        </p:nvSpPr>
        <p:spPr/>
        <p:txBody>
          <a:bodyPr/>
          <a:lstStyle/>
          <a:p>
            <a:pPr>
              <a:defRPr/>
            </a:pPr>
            <a:r>
              <a:rPr lang="en-US"/>
              <a:t>GF(p) is the set of integers {0,1, … , p-1} with arithmetic operations modulo prime p</a:t>
            </a:r>
          </a:p>
          <a:p>
            <a:pPr>
              <a:defRPr/>
            </a:pPr>
            <a:r>
              <a:rPr lang="en-US"/>
              <a:t>these form a finite field</a:t>
            </a:r>
          </a:p>
          <a:p>
            <a:pPr lvl="1">
              <a:defRPr/>
            </a:pPr>
            <a:r>
              <a:rPr lang="en-US"/>
              <a:t>since have multiplicative inverses</a:t>
            </a:r>
          </a:p>
          <a:p>
            <a:pPr>
              <a:defRPr/>
            </a:pPr>
            <a:r>
              <a:rPr lang="en-US"/>
              <a:t>hence arithmetic is “well-behaved” and can do addition, subtraction, multiplication, and division without leaving the field GF(p)</a:t>
            </a:r>
          </a:p>
          <a:p>
            <a:pPr>
              <a:buFont typeface="Wingdings" panose="05000000000000000000" pitchFamily="2" charset="2"/>
              <a:buNone/>
              <a:defRPr/>
            </a:pPr>
            <a:endParaRPr lang="en-A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F26D91DB-5858-4ACB-A174-E9474652F3BB}"/>
              </a:ext>
            </a:extLst>
          </p:cNvPr>
          <p:cNvSpPr>
            <a:spLocks noGrp="1" noChangeArrowheads="1"/>
          </p:cNvSpPr>
          <p:nvPr>
            <p:ph type="title"/>
          </p:nvPr>
        </p:nvSpPr>
        <p:spPr/>
        <p:txBody>
          <a:bodyPr/>
          <a:lstStyle/>
          <a:p>
            <a:pPr>
              <a:defRPr/>
            </a:pPr>
            <a:r>
              <a:rPr lang="en-US"/>
              <a:t>Modulo 8 Addition Example</a:t>
            </a:r>
            <a:endParaRPr lang="en-AU"/>
          </a:p>
        </p:txBody>
      </p:sp>
      <p:sp>
        <p:nvSpPr>
          <p:cNvPr id="14339" name="Text Box 4">
            <a:extLst>
              <a:ext uri="{FF2B5EF4-FFF2-40B4-BE49-F238E27FC236}">
                <a16:creationId xmlns:a16="http://schemas.microsoft.com/office/drawing/2014/main" id="{0433E148-A552-4130-958A-2F264A4D0888}"/>
              </a:ext>
            </a:extLst>
          </p:cNvPr>
          <p:cNvSpPr txBox="1">
            <a:spLocks noChangeArrowheads="1"/>
          </p:cNvSpPr>
          <p:nvPr/>
        </p:nvSpPr>
        <p:spPr bwMode="auto">
          <a:xfrm>
            <a:off x="914400" y="1295400"/>
            <a:ext cx="1371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spcBef>
                <a:spcPct val="50000"/>
              </a:spcBef>
            </a:pPr>
            <a:endParaRPr lang="en-US" altLang="en-US" sz="1800"/>
          </a:p>
        </p:txBody>
      </p:sp>
      <p:graphicFrame>
        <p:nvGraphicFramePr>
          <p:cNvPr id="61945" name="Group 505">
            <a:extLst>
              <a:ext uri="{FF2B5EF4-FFF2-40B4-BE49-F238E27FC236}">
                <a16:creationId xmlns:a16="http://schemas.microsoft.com/office/drawing/2014/main" id="{2F571C91-7F06-4D3E-9745-A7495B68E3D0}"/>
              </a:ext>
            </a:extLst>
          </p:cNvPr>
          <p:cNvGraphicFramePr>
            <a:graphicFrameLocks noGrp="1"/>
          </p:cNvGraphicFramePr>
          <p:nvPr/>
        </p:nvGraphicFramePr>
        <p:xfrm>
          <a:off x="2438400" y="1371600"/>
          <a:ext cx="3676650" cy="5000625"/>
        </p:xfrm>
        <a:graphic>
          <a:graphicData uri="http://schemas.openxmlformats.org/drawingml/2006/table">
            <a:tbl>
              <a:tblPr/>
              <a:tblGrid>
                <a:gridCol w="384175">
                  <a:extLst>
                    <a:ext uri="{9D8B030D-6E8A-4147-A177-3AD203B41FA5}">
                      <a16:colId xmlns:a16="http://schemas.microsoft.com/office/drawing/2014/main" val="20000"/>
                    </a:ext>
                  </a:extLst>
                </a:gridCol>
                <a:gridCol w="411163">
                  <a:extLst>
                    <a:ext uri="{9D8B030D-6E8A-4147-A177-3AD203B41FA5}">
                      <a16:colId xmlns:a16="http://schemas.microsoft.com/office/drawing/2014/main" val="20001"/>
                    </a:ext>
                  </a:extLst>
                </a:gridCol>
                <a:gridCol w="411162">
                  <a:extLst>
                    <a:ext uri="{9D8B030D-6E8A-4147-A177-3AD203B41FA5}">
                      <a16:colId xmlns:a16="http://schemas.microsoft.com/office/drawing/2014/main" val="20002"/>
                    </a:ext>
                  </a:extLst>
                </a:gridCol>
                <a:gridCol w="412750">
                  <a:extLst>
                    <a:ext uri="{9D8B030D-6E8A-4147-A177-3AD203B41FA5}">
                      <a16:colId xmlns:a16="http://schemas.microsoft.com/office/drawing/2014/main" val="20003"/>
                    </a:ext>
                  </a:extLst>
                </a:gridCol>
                <a:gridCol w="411163">
                  <a:extLst>
                    <a:ext uri="{9D8B030D-6E8A-4147-A177-3AD203B41FA5}">
                      <a16:colId xmlns:a16="http://schemas.microsoft.com/office/drawing/2014/main" val="20004"/>
                    </a:ext>
                  </a:extLst>
                </a:gridCol>
                <a:gridCol w="411162">
                  <a:extLst>
                    <a:ext uri="{9D8B030D-6E8A-4147-A177-3AD203B41FA5}">
                      <a16:colId xmlns:a16="http://schemas.microsoft.com/office/drawing/2014/main" val="20005"/>
                    </a:ext>
                  </a:extLst>
                </a:gridCol>
                <a:gridCol w="411163">
                  <a:extLst>
                    <a:ext uri="{9D8B030D-6E8A-4147-A177-3AD203B41FA5}">
                      <a16:colId xmlns:a16="http://schemas.microsoft.com/office/drawing/2014/main" val="20006"/>
                    </a:ext>
                  </a:extLst>
                </a:gridCol>
                <a:gridCol w="411162">
                  <a:extLst>
                    <a:ext uri="{9D8B030D-6E8A-4147-A177-3AD203B41FA5}">
                      <a16:colId xmlns:a16="http://schemas.microsoft.com/office/drawing/2014/main" val="20007"/>
                    </a:ext>
                  </a:extLst>
                </a:gridCol>
                <a:gridCol w="412750">
                  <a:extLst>
                    <a:ext uri="{9D8B030D-6E8A-4147-A177-3AD203B41FA5}">
                      <a16:colId xmlns:a16="http://schemas.microsoft.com/office/drawing/2014/main" val="20008"/>
                    </a:ext>
                  </a:extLst>
                </a:gridCol>
              </a:tblGrid>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7</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7</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7</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7</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7</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7</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7</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7</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7</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7</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C3BFBBE1-875F-4E23-8CA5-A2095AE38307}"/>
              </a:ext>
            </a:extLst>
          </p:cNvPr>
          <p:cNvSpPr>
            <a:spLocks noGrp="1" noChangeArrowheads="1"/>
          </p:cNvSpPr>
          <p:nvPr>
            <p:ph type="title"/>
          </p:nvPr>
        </p:nvSpPr>
        <p:spPr/>
        <p:txBody>
          <a:bodyPr/>
          <a:lstStyle/>
          <a:p>
            <a:pPr>
              <a:defRPr/>
            </a:pPr>
            <a:r>
              <a:rPr lang="en-US"/>
              <a:t>GF(7) Multiplication Example </a:t>
            </a:r>
            <a:endParaRPr lang="en-AU"/>
          </a:p>
        </p:txBody>
      </p:sp>
      <p:sp>
        <p:nvSpPr>
          <p:cNvPr id="15363" name="Text Box 5">
            <a:extLst>
              <a:ext uri="{FF2B5EF4-FFF2-40B4-BE49-F238E27FC236}">
                <a16:creationId xmlns:a16="http://schemas.microsoft.com/office/drawing/2014/main" id="{56C17A02-9AAE-48C1-B300-3046074F9846}"/>
              </a:ext>
            </a:extLst>
          </p:cNvPr>
          <p:cNvSpPr txBox="1">
            <a:spLocks noChangeArrowheads="1"/>
          </p:cNvSpPr>
          <p:nvPr/>
        </p:nvSpPr>
        <p:spPr bwMode="auto">
          <a:xfrm>
            <a:off x="822325" y="14843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endParaRPr lang="en-US" altLang="en-US" sz="1800"/>
          </a:p>
        </p:txBody>
      </p:sp>
      <p:graphicFrame>
        <p:nvGraphicFramePr>
          <p:cNvPr id="70851" name="Group 195">
            <a:extLst>
              <a:ext uri="{FF2B5EF4-FFF2-40B4-BE49-F238E27FC236}">
                <a16:creationId xmlns:a16="http://schemas.microsoft.com/office/drawing/2014/main" id="{DE59F3BC-7CFF-4F37-B6EA-3F66D9BA6CE8}"/>
              </a:ext>
            </a:extLst>
          </p:cNvPr>
          <p:cNvGraphicFramePr>
            <a:graphicFrameLocks noGrp="1"/>
          </p:cNvGraphicFramePr>
          <p:nvPr/>
        </p:nvGraphicFramePr>
        <p:xfrm>
          <a:off x="2438400" y="1524000"/>
          <a:ext cx="3292475" cy="4445000"/>
        </p:xfrm>
        <a:graphic>
          <a:graphicData uri="http://schemas.openxmlformats.org/drawingml/2006/table">
            <a:tbl>
              <a:tblPr/>
              <a:tblGrid>
                <a:gridCol w="411163">
                  <a:extLst>
                    <a:ext uri="{9D8B030D-6E8A-4147-A177-3AD203B41FA5}">
                      <a16:colId xmlns:a16="http://schemas.microsoft.com/office/drawing/2014/main" val="20000"/>
                    </a:ext>
                  </a:extLst>
                </a:gridCol>
                <a:gridCol w="411162">
                  <a:extLst>
                    <a:ext uri="{9D8B030D-6E8A-4147-A177-3AD203B41FA5}">
                      <a16:colId xmlns:a16="http://schemas.microsoft.com/office/drawing/2014/main" val="20001"/>
                    </a:ext>
                  </a:extLst>
                </a:gridCol>
                <a:gridCol w="412750">
                  <a:extLst>
                    <a:ext uri="{9D8B030D-6E8A-4147-A177-3AD203B41FA5}">
                      <a16:colId xmlns:a16="http://schemas.microsoft.com/office/drawing/2014/main" val="20002"/>
                    </a:ext>
                  </a:extLst>
                </a:gridCol>
                <a:gridCol w="411163">
                  <a:extLst>
                    <a:ext uri="{9D8B030D-6E8A-4147-A177-3AD203B41FA5}">
                      <a16:colId xmlns:a16="http://schemas.microsoft.com/office/drawing/2014/main" val="20003"/>
                    </a:ext>
                  </a:extLst>
                </a:gridCol>
                <a:gridCol w="411162">
                  <a:extLst>
                    <a:ext uri="{9D8B030D-6E8A-4147-A177-3AD203B41FA5}">
                      <a16:colId xmlns:a16="http://schemas.microsoft.com/office/drawing/2014/main" val="20004"/>
                    </a:ext>
                  </a:extLst>
                </a:gridCol>
                <a:gridCol w="411163">
                  <a:extLst>
                    <a:ext uri="{9D8B030D-6E8A-4147-A177-3AD203B41FA5}">
                      <a16:colId xmlns:a16="http://schemas.microsoft.com/office/drawing/2014/main" val="20005"/>
                    </a:ext>
                  </a:extLst>
                </a:gridCol>
                <a:gridCol w="411162">
                  <a:extLst>
                    <a:ext uri="{9D8B030D-6E8A-4147-A177-3AD203B41FA5}">
                      <a16:colId xmlns:a16="http://schemas.microsoft.com/office/drawing/2014/main" val="20006"/>
                    </a:ext>
                  </a:extLst>
                </a:gridCol>
                <a:gridCol w="412750">
                  <a:extLst>
                    <a:ext uri="{9D8B030D-6E8A-4147-A177-3AD203B41FA5}">
                      <a16:colId xmlns:a16="http://schemas.microsoft.com/office/drawing/2014/main" val="20007"/>
                    </a:ext>
                  </a:extLst>
                </a:gridCol>
              </a:tblGrid>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Symbol" pitchFamily="18" charset="2"/>
                          <a:sym typeface="Symbol" pitchFamily="18" charset="2"/>
                        </a:rPr>
                        <a:t></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55625">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0</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6</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5</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4</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3</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2</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latin typeface="Times" charset="0"/>
                        </a:rPr>
                        <a:t>1</a:t>
                      </a:r>
                      <a:endParaRPr kumimoji="0" lang="en-US" sz="2800" b="0" i="0" u="none" strike="noStrike" cap="none" normalizeH="0" baseline="0">
                        <a:ln>
                          <a:noFill/>
                        </a:ln>
                        <a:solidFill>
                          <a:schemeClr val="tx1"/>
                        </a:solidFill>
                        <a:effectLst>
                          <a:outerShdw blurRad="38100" dist="38100" dir="2700000" algn="tl">
                            <a:srgbClr val="000000"/>
                          </a:outerShdw>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F9FACAAA-9C84-4FA8-90A7-6AE4FF9F945C}"/>
              </a:ext>
            </a:extLst>
          </p:cNvPr>
          <p:cNvSpPr>
            <a:spLocks noGrp="1" noChangeArrowheads="1"/>
          </p:cNvSpPr>
          <p:nvPr>
            <p:ph type="title"/>
          </p:nvPr>
        </p:nvSpPr>
        <p:spPr/>
        <p:txBody>
          <a:bodyPr/>
          <a:lstStyle/>
          <a:p>
            <a:pPr eaLnBrk="1" hangingPunct="1">
              <a:defRPr/>
            </a:pPr>
            <a:r>
              <a:rPr lang="en-AU"/>
              <a:t>Byte Substitution</a:t>
            </a:r>
          </a:p>
        </p:txBody>
      </p:sp>
      <p:pic>
        <p:nvPicPr>
          <p:cNvPr id="16387" name="Picture 5">
            <a:extLst>
              <a:ext uri="{FF2B5EF4-FFF2-40B4-BE49-F238E27FC236}">
                <a16:creationId xmlns:a16="http://schemas.microsoft.com/office/drawing/2014/main" id="{29C7A713-DFAE-49B1-80BA-97CCD631E5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828800"/>
            <a:ext cx="7023100" cy="412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39DDF163-A4F3-4363-A6DB-27F923BC8E78}"/>
              </a:ext>
            </a:extLst>
          </p:cNvPr>
          <p:cNvSpPr>
            <a:spLocks noGrp="1" noChangeArrowheads="1"/>
          </p:cNvSpPr>
          <p:nvPr>
            <p:ph type="title"/>
          </p:nvPr>
        </p:nvSpPr>
        <p:spPr/>
        <p:txBody>
          <a:bodyPr/>
          <a:lstStyle/>
          <a:p>
            <a:pPr eaLnBrk="1" hangingPunct="1">
              <a:defRPr/>
            </a:pPr>
            <a:r>
              <a:rPr lang="en-AU"/>
              <a:t>Shift Rows</a:t>
            </a:r>
          </a:p>
        </p:txBody>
      </p:sp>
      <p:sp>
        <p:nvSpPr>
          <p:cNvPr id="60419" name="Rectangle 3">
            <a:extLst>
              <a:ext uri="{FF2B5EF4-FFF2-40B4-BE49-F238E27FC236}">
                <a16:creationId xmlns:a16="http://schemas.microsoft.com/office/drawing/2014/main" id="{3BD3C678-0394-4BCD-BED7-3E51379FCDBC}"/>
              </a:ext>
            </a:extLst>
          </p:cNvPr>
          <p:cNvSpPr>
            <a:spLocks noGrp="1" noChangeArrowheads="1"/>
          </p:cNvSpPr>
          <p:nvPr>
            <p:ph type="body" idx="1"/>
          </p:nvPr>
        </p:nvSpPr>
        <p:spPr/>
        <p:txBody>
          <a:bodyPr/>
          <a:lstStyle/>
          <a:p>
            <a:pPr eaLnBrk="1" hangingPunct="1">
              <a:lnSpc>
                <a:spcPct val="90000"/>
              </a:lnSpc>
              <a:defRPr/>
            </a:pPr>
            <a:r>
              <a:rPr lang="en-US" sz="2800"/>
              <a:t>a circular byte shift in each each</a:t>
            </a:r>
          </a:p>
          <a:p>
            <a:pPr lvl="1" eaLnBrk="1" hangingPunct="1">
              <a:lnSpc>
                <a:spcPct val="90000"/>
              </a:lnSpc>
              <a:defRPr/>
            </a:pPr>
            <a:r>
              <a:rPr lang="en-US" sz="2400"/>
              <a:t>1</a:t>
            </a:r>
            <a:r>
              <a:rPr lang="en-US" sz="2400" baseline="30000"/>
              <a:t>st</a:t>
            </a:r>
            <a:r>
              <a:rPr lang="en-US" sz="2400"/>
              <a:t> row is unchanged</a:t>
            </a:r>
          </a:p>
          <a:p>
            <a:pPr lvl="1" eaLnBrk="1" hangingPunct="1">
              <a:lnSpc>
                <a:spcPct val="90000"/>
              </a:lnSpc>
              <a:defRPr/>
            </a:pPr>
            <a:r>
              <a:rPr lang="en-US" sz="2400"/>
              <a:t>2</a:t>
            </a:r>
            <a:r>
              <a:rPr lang="en-US" sz="2400" baseline="30000"/>
              <a:t>nd</a:t>
            </a:r>
            <a:r>
              <a:rPr lang="en-US" sz="2400"/>
              <a:t> row does 1 byte circular shift to left</a:t>
            </a:r>
          </a:p>
          <a:p>
            <a:pPr lvl="1" eaLnBrk="1" hangingPunct="1">
              <a:lnSpc>
                <a:spcPct val="90000"/>
              </a:lnSpc>
              <a:defRPr/>
            </a:pPr>
            <a:r>
              <a:rPr lang="en-US" sz="2400"/>
              <a:t>3rd row does 2 byte circular shift to left</a:t>
            </a:r>
          </a:p>
          <a:p>
            <a:pPr lvl="1" eaLnBrk="1" hangingPunct="1">
              <a:lnSpc>
                <a:spcPct val="90000"/>
              </a:lnSpc>
              <a:defRPr/>
            </a:pPr>
            <a:r>
              <a:rPr lang="en-US" sz="2400"/>
              <a:t>4th row does 3 byte circular shift to left</a:t>
            </a:r>
          </a:p>
          <a:p>
            <a:pPr eaLnBrk="1" hangingPunct="1">
              <a:lnSpc>
                <a:spcPct val="90000"/>
              </a:lnSpc>
              <a:defRPr/>
            </a:pPr>
            <a:r>
              <a:rPr lang="en-US" sz="2800"/>
              <a:t>decrypt inverts using shifts to right</a:t>
            </a:r>
          </a:p>
          <a:p>
            <a:pPr eaLnBrk="1" hangingPunct="1">
              <a:lnSpc>
                <a:spcPct val="90000"/>
              </a:lnSpc>
              <a:defRPr/>
            </a:pPr>
            <a:r>
              <a:rPr lang="en-US" sz="2800"/>
              <a:t>since state is processed by columns, this step permutes bytes between the columns</a:t>
            </a:r>
            <a:endParaRPr lang="en-AU" sz="2800"/>
          </a:p>
          <a:p>
            <a:pPr lvl="1" eaLnBrk="1" hangingPunct="1">
              <a:lnSpc>
                <a:spcPct val="90000"/>
              </a:lnSpc>
              <a:defRPr/>
            </a:pPr>
            <a:endParaRPr lang="en-AU" sz="2400"/>
          </a:p>
          <a:p>
            <a:pPr lvl="1" eaLnBrk="1" hangingPunct="1">
              <a:lnSpc>
                <a:spcPct val="90000"/>
              </a:lnSpc>
              <a:defRPr/>
            </a:pPr>
            <a:endParaRPr lang="en-AU"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DFBDC02E-53EB-4BA3-A1AA-F7E27AA43B92}"/>
              </a:ext>
            </a:extLst>
          </p:cNvPr>
          <p:cNvSpPr>
            <a:spLocks noGrp="1" noChangeArrowheads="1"/>
          </p:cNvSpPr>
          <p:nvPr>
            <p:ph type="title"/>
          </p:nvPr>
        </p:nvSpPr>
        <p:spPr/>
        <p:txBody>
          <a:bodyPr/>
          <a:lstStyle/>
          <a:p>
            <a:pPr eaLnBrk="1" hangingPunct="1">
              <a:defRPr/>
            </a:pPr>
            <a:r>
              <a:rPr lang="en-AU"/>
              <a:t>Shift Rows</a:t>
            </a:r>
          </a:p>
        </p:txBody>
      </p:sp>
      <p:pic>
        <p:nvPicPr>
          <p:cNvPr id="18435" name="Picture 5">
            <a:extLst>
              <a:ext uri="{FF2B5EF4-FFF2-40B4-BE49-F238E27FC236}">
                <a16:creationId xmlns:a16="http://schemas.microsoft.com/office/drawing/2014/main" id="{9EC60331-1221-438C-9163-0E2588CF52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188" y="2252663"/>
            <a:ext cx="7162800"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AA4BD53C-1458-450E-BAC9-A1FA717A8AE9}"/>
              </a:ext>
            </a:extLst>
          </p:cNvPr>
          <p:cNvSpPr>
            <a:spLocks noGrp="1" noChangeArrowheads="1"/>
          </p:cNvSpPr>
          <p:nvPr>
            <p:ph type="title"/>
          </p:nvPr>
        </p:nvSpPr>
        <p:spPr/>
        <p:txBody>
          <a:bodyPr/>
          <a:lstStyle/>
          <a:p>
            <a:pPr eaLnBrk="1" hangingPunct="1">
              <a:defRPr/>
            </a:pPr>
            <a:r>
              <a:rPr lang="en-AU"/>
              <a:t>Mix Columns</a:t>
            </a:r>
          </a:p>
        </p:txBody>
      </p:sp>
      <p:sp>
        <p:nvSpPr>
          <p:cNvPr id="62467" name="Rectangle 3">
            <a:extLst>
              <a:ext uri="{FF2B5EF4-FFF2-40B4-BE49-F238E27FC236}">
                <a16:creationId xmlns:a16="http://schemas.microsoft.com/office/drawing/2014/main" id="{064F058D-36E9-42D8-BEF4-EA3FFED9C62C}"/>
              </a:ext>
            </a:extLst>
          </p:cNvPr>
          <p:cNvSpPr>
            <a:spLocks noGrp="1" noChangeArrowheads="1"/>
          </p:cNvSpPr>
          <p:nvPr>
            <p:ph type="body" idx="1"/>
          </p:nvPr>
        </p:nvSpPr>
        <p:spPr/>
        <p:txBody>
          <a:bodyPr/>
          <a:lstStyle/>
          <a:p>
            <a:pPr eaLnBrk="1" hangingPunct="1">
              <a:defRPr/>
            </a:pPr>
            <a:r>
              <a:rPr lang="en-US" dirty="0"/>
              <a:t>each column is processed separately</a:t>
            </a:r>
          </a:p>
          <a:p>
            <a:pPr eaLnBrk="1" hangingPunct="1">
              <a:defRPr/>
            </a:pPr>
            <a:r>
              <a:rPr lang="en-US" dirty="0"/>
              <a:t>each byte is replaced by a value dependent on all 4 bytes in the column</a:t>
            </a:r>
          </a:p>
          <a:p>
            <a:pPr eaLnBrk="1" hangingPunct="1">
              <a:defRPr/>
            </a:pPr>
            <a:r>
              <a:rPr lang="en-US" dirty="0"/>
              <a:t>effectively a matrix multiplication in GF(2</a:t>
            </a:r>
            <a:r>
              <a:rPr lang="en-US" baseline="30000" dirty="0"/>
              <a:t>8</a:t>
            </a:r>
            <a:r>
              <a:rPr lang="en-US" dirty="0"/>
              <a:t>) using prime poly m(x) =x</a:t>
            </a:r>
            <a:r>
              <a:rPr lang="en-US" baseline="30000" dirty="0"/>
              <a:t>8</a:t>
            </a:r>
            <a:r>
              <a:rPr lang="en-US" dirty="0"/>
              <a:t>+x</a:t>
            </a:r>
            <a:r>
              <a:rPr lang="en-US" baseline="30000" dirty="0"/>
              <a:t>4</a:t>
            </a:r>
            <a:r>
              <a:rPr lang="en-US" dirty="0"/>
              <a:t>+x</a:t>
            </a:r>
            <a:r>
              <a:rPr lang="en-US" baseline="30000" dirty="0"/>
              <a:t>3</a:t>
            </a:r>
            <a:r>
              <a:rPr lang="en-US" dirty="0"/>
              <a:t>+x+1</a:t>
            </a:r>
            <a:endParaRPr lang="en-AU" dirty="0"/>
          </a:p>
        </p:txBody>
      </p:sp>
      <p:pic>
        <p:nvPicPr>
          <p:cNvPr id="19460" name="Picture 4">
            <a:extLst>
              <a:ext uri="{FF2B5EF4-FFF2-40B4-BE49-F238E27FC236}">
                <a16:creationId xmlns:a16="http://schemas.microsoft.com/office/drawing/2014/main" id="{544CAABB-DA95-48F7-B381-DF7109484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4508500"/>
            <a:ext cx="72009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26">
            <a:extLst>
              <a:ext uri="{FF2B5EF4-FFF2-40B4-BE49-F238E27FC236}">
                <a16:creationId xmlns:a16="http://schemas.microsoft.com/office/drawing/2014/main" id="{A3E91233-3C41-43B2-B2F7-4E1C766E76EE}"/>
              </a:ext>
            </a:extLst>
          </p:cNvPr>
          <p:cNvSpPr>
            <a:spLocks noGrp="1" noChangeArrowheads="1"/>
          </p:cNvSpPr>
          <p:nvPr>
            <p:ph type="title"/>
          </p:nvPr>
        </p:nvSpPr>
        <p:spPr/>
        <p:txBody>
          <a:bodyPr/>
          <a:lstStyle/>
          <a:p>
            <a:pPr eaLnBrk="1" hangingPunct="1">
              <a:defRPr/>
            </a:pPr>
            <a:r>
              <a:rPr lang="en-AU"/>
              <a:t>Mix Columns</a:t>
            </a:r>
          </a:p>
        </p:txBody>
      </p:sp>
      <p:pic>
        <p:nvPicPr>
          <p:cNvPr id="20483" name="Picture 1030">
            <a:extLst>
              <a:ext uri="{FF2B5EF4-FFF2-40B4-BE49-F238E27FC236}">
                <a16:creationId xmlns:a16="http://schemas.microsoft.com/office/drawing/2014/main" id="{0B6B39A3-6DDD-4CA7-857C-07219BC97E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188" y="1554163"/>
            <a:ext cx="7162800" cy="374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7B4A3A5D-11E4-4587-9722-8E4CD9E0F5B6}"/>
              </a:ext>
            </a:extLst>
          </p:cNvPr>
          <p:cNvSpPr>
            <a:spLocks noGrp="1" noChangeArrowheads="1"/>
          </p:cNvSpPr>
          <p:nvPr>
            <p:ph type="title"/>
          </p:nvPr>
        </p:nvSpPr>
        <p:spPr/>
        <p:txBody>
          <a:bodyPr/>
          <a:lstStyle/>
          <a:p>
            <a:pPr eaLnBrk="1" hangingPunct="1">
              <a:defRPr/>
            </a:pPr>
            <a:r>
              <a:rPr lang="en-AU"/>
              <a:t>Mix Columns</a:t>
            </a:r>
          </a:p>
        </p:txBody>
      </p:sp>
      <p:sp>
        <p:nvSpPr>
          <p:cNvPr id="84995" name="Rectangle 3">
            <a:extLst>
              <a:ext uri="{FF2B5EF4-FFF2-40B4-BE49-F238E27FC236}">
                <a16:creationId xmlns:a16="http://schemas.microsoft.com/office/drawing/2014/main" id="{54CE671C-C2C7-48F1-9CA4-DB8EF3ACDB8E}"/>
              </a:ext>
            </a:extLst>
          </p:cNvPr>
          <p:cNvSpPr>
            <a:spLocks noGrp="1" noChangeArrowheads="1"/>
          </p:cNvSpPr>
          <p:nvPr>
            <p:ph type="body" idx="1"/>
          </p:nvPr>
        </p:nvSpPr>
        <p:spPr/>
        <p:txBody>
          <a:bodyPr/>
          <a:lstStyle/>
          <a:p>
            <a:pPr eaLnBrk="1" hangingPunct="1">
              <a:defRPr/>
            </a:pPr>
            <a:r>
              <a:rPr lang="en-US" sz="2800" dirty="0"/>
              <a:t>can express each </a:t>
            </a:r>
            <a:r>
              <a:rPr lang="en-US" sz="2800" dirty="0" err="1"/>
              <a:t>col</a:t>
            </a:r>
            <a:r>
              <a:rPr lang="en-US" sz="2800" dirty="0"/>
              <a:t> as 4 equations</a:t>
            </a:r>
          </a:p>
          <a:p>
            <a:pPr lvl="1" eaLnBrk="1" hangingPunct="1">
              <a:defRPr/>
            </a:pPr>
            <a:r>
              <a:rPr lang="en-US" sz="2400" dirty="0"/>
              <a:t>to derive each new byte in </a:t>
            </a:r>
            <a:r>
              <a:rPr lang="en-US" sz="2400" dirty="0" err="1"/>
              <a:t>col</a:t>
            </a:r>
            <a:endParaRPr lang="en-US" sz="2400" dirty="0"/>
          </a:p>
          <a:p>
            <a:pPr eaLnBrk="1" hangingPunct="1">
              <a:defRPr/>
            </a:pPr>
            <a:r>
              <a:rPr lang="en-US" sz="2800" dirty="0"/>
              <a:t>decryption requires use of inverse matrix</a:t>
            </a:r>
          </a:p>
          <a:p>
            <a:pPr lvl="1" eaLnBrk="1" hangingPunct="1">
              <a:defRPr/>
            </a:pPr>
            <a:r>
              <a:rPr lang="en-US" sz="2400" dirty="0"/>
              <a:t>with larger coefficients, hence a little harder</a:t>
            </a:r>
          </a:p>
          <a:p>
            <a:pPr eaLnBrk="1" hangingPunct="1">
              <a:defRPr/>
            </a:pPr>
            <a:r>
              <a:rPr lang="en-US" sz="2800" dirty="0"/>
              <a:t>have an alternate </a:t>
            </a:r>
            <a:r>
              <a:rPr lang="en-US" sz="2800" dirty="0" err="1"/>
              <a:t>characterisation</a:t>
            </a:r>
            <a:r>
              <a:rPr lang="en-US" sz="2800" dirty="0"/>
              <a:t> </a:t>
            </a:r>
          </a:p>
          <a:p>
            <a:pPr lvl="1" eaLnBrk="1" hangingPunct="1">
              <a:defRPr/>
            </a:pPr>
            <a:r>
              <a:rPr lang="en-US" sz="2400" dirty="0"/>
              <a:t>each column a 4-term polynomial</a:t>
            </a:r>
          </a:p>
          <a:p>
            <a:pPr lvl="1" eaLnBrk="1" hangingPunct="1">
              <a:defRPr/>
            </a:pPr>
            <a:r>
              <a:rPr lang="en-US" sz="2400" dirty="0"/>
              <a:t>with coefficients in GF(2</a:t>
            </a:r>
            <a:r>
              <a:rPr lang="en-US" sz="2400" baseline="30000" dirty="0"/>
              <a:t>8</a:t>
            </a:r>
            <a:r>
              <a:rPr lang="en-US" sz="2400" dirty="0"/>
              <a:t>) </a:t>
            </a:r>
          </a:p>
          <a:p>
            <a:pPr lvl="1" eaLnBrk="1" hangingPunct="1">
              <a:defRPr/>
            </a:pPr>
            <a:r>
              <a:rPr lang="en-US" sz="2400" dirty="0"/>
              <a:t>and polynomials multiplied modulo (x</a:t>
            </a:r>
            <a:r>
              <a:rPr lang="en-US" sz="2400" baseline="30000" dirty="0"/>
              <a:t>4</a:t>
            </a:r>
            <a:r>
              <a:rPr lang="en-US" sz="2400" dirty="0"/>
              <a:t>+1)</a:t>
            </a:r>
          </a:p>
          <a:p>
            <a:pPr eaLnBrk="1" hangingPunct="1">
              <a:buFont typeface="Wingdings" panose="05000000000000000000" pitchFamily="2" charset="2"/>
              <a:buNone/>
              <a:defRPr/>
            </a:pPr>
            <a:endParaRPr lang="en-AU"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D176071F-4C64-4910-8C13-FA250187C6D3}"/>
              </a:ext>
            </a:extLst>
          </p:cNvPr>
          <p:cNvSpPr>
            <a:spLocks noGrp="1" noChangeArrowheads="1"/>
          </p:cNvSpPr>
          <p:nvPr>
            <p:ph type="title"/>
          </p:nvPr>
        </p:nvSpPr>
        <p:spPr/>
        <p:txBody>
          <a:bodyPr/>
          <a:lstStyle/>
          <a:p>
            <a:pPr eaLnBrk="1" hangingPunct="1">
              <a:defRPr/>
            </a:pPr>
            <a:r>
              <a:rPr lang="en-AU"/>
              <a:t>Add Round Key</a:t>
            </a:r>
          </a:p>
        </p:txBody>
      </p:sp>
      <p:sp>
        <p:nvSpPr>
          <p:cNvPr id="63491" name="Rectangle 3">
            <a:extLst>
              <a:ext uri="{FF2B5EF4-FFF2-40B4-BE49-F238E27FC236}">
                <a16:creationId xmlns:a16="http://schemas.microsoft.com/office/drawing/2014/main" id="{484CDCAA-8C0A-48D6-9C19-CCF942984E76}"/>
              </a:ext>
            </a:extLst>
          </p:cNvPr>
          <p:cNvSpPr>
            <a:spLocks noGrp="1" noChangeArrowheads="1"/>
          </p:cNvSpPr>
          <p:nvPr>
            <p:ph type="body" idx="1"/>
          </p:nvPr>
        </p:nvSpPr>
        <p:spPr/>
        <p:txBody>
          <a:bodyPr/>
          <a:lstStyle/>
          <a:p>
            <a:pPr eaLnBrk="1" hangingPunct="1">
              <a:defRPr/>
            </a:pPr>
            <a:r>
              <a:rPr lang="en-US"/>
              <a:t>XOR state with 128-bits of the round key</a:t>
            </a:r>
          </a:p>
          <a:p>
            <a:pPr eaLnBrk="1" hangingPunct="1">
              <a:defRPr/>
            </a:pPr>
            <a:r>
              <a:rPr lang="en-US"/>
              <a:t>again processed by column (though effectively a series of byte operations)</a:t>
            </a:r>
          </a:p>
          <a:p>
            <a:pPr eaLnBrk="1" hangingPunct="1">
              <a:defRPr/>
            </a:pPr>
            <a:r>
              <a:rPr lang="en-US"/>
              <a:t>inverse for decryption identical</a:t>
            </a:r>
          </a:p>
          <a:p>
            <a:pPr lvl="1" eaLnBrk="1" hangingPunct="1">
              <a:defRPr/>
            </a:pPr>
            <a:r>
              <a:rPr lang="en-US"/>
              <a:t>since XOR own inverse, with reversed keys</a:t>
            </a:r>
          </a:p>
          <a:p>
            <a:pPr eaLnBrk="1" hangingPunct="1">
              <a:defRPr/>
            </a:pPr>
            <a:r>
              <a:rPr lang="en-US"/>
              <a:t>designed to be as simple as possible</a:t>
            </a:r>
          </a:p>
          <a:p>
            <a:pPr lvl="1" eaLnBrk="1" hangingPunct="1">
              <a:defRPr/>
            </a:pPr>
            <a:r>
              <a:rPr lang="en-AU"/>
              <a:t>a form of Vernam cipher on expanded key</a:t>
            </a:r>
          </a:p>
          <a:p>
            <a:pPr lvl="1" eaLnBrk="1" hangingPunct="1">
              <a:defRPr/>
            </a:pPr>
            <a:r>
              <a:rPr lang="en-AU"/>
              <a:t>requires other stages for complexity / security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026">
            <a:extLst>
              <a:ext uri="{FF2B5EF4-FFF2-40B4-BE49-F238E27FC236}">
                <a16:creationId xmlns:a16="http://schemas.microsoft.com/office/drawing/2014/main" id="{F1B9F431-5BFE-404B-857D-A89E7E160753}"/>
              </a:ext>
            </a:extLst>
          </p:cNvPr>
          <p:cNvSpPr>
            <a:spLocks noGrp="1" noChangeArrowheads="1"/>
          </p:cNvSpPr>
          <p:nvPr>
            <p:ph type="title"/>
          </p:nvPr>
        </p:nvSpPr>
        <p:spPr/>
        <p:txBody>
          <a:bodyPr/>
          <a:lstStyle/>
          <a:p>
            <a:pPr eaLnBrk="1" hangingPunct="1">
              <a:defRPr/>
            </a:pPr>
            <a:r>
              <a:rPr lang="en-AU"/>
              <a:t>Add Round Key</a:t>
            </a:r>
          </a:p>
        </p:txBody>
      </p:sp>
      <p:pic>
        <p:nvPicPr>
          <p:cNvPr id="23555" name="Picture 1029">
            <a:extLst>
              <a:ext uri="{FF2B5EF4-FFF2-40B4-BE49-F238E27FC236}">
                <a16:creationId xmlns:a16="http://schemas.microsoft.com/office/drawing/2014/main" id="{E01ED9E2-8CFE-4335-82D2-9427D1428E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438400"/>
            <a:ext cx="7010400"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026">
            <a:extLst>
              <a:ext uri="{FF2B5EF4-FFF2-40B4-BE49-F238E27FC236}">
                <a16:creationId xmlns:a16="http://schemas.microsoft.com/office/drawing/2014/main" id="{99BDDD2D-F73C-4792-9DF5-9A123DB60651}"/>
              </a:ext>
            </a:extLst>
          </p:cNvPr>
          <p:cNvSpPr>
            <a:spLocks noGrp="1" noChangeArrowheads="1"/>
          </p:cNvSpPr>
          <p:nvPr>
            <p:ph type="title"/>
          </p:nvPr>
        </p:nvSpPr>
        <p:spPr/>
        <p:txBody>
          <a:bodyPr/>
          <a:lstStyle/>
          <a:p>
            <a:pPr eaLnBrk="1" hangingPunct="1">
              <a:defRPr/>
            </a:pPr>
            <a:r>
              <a:rPr lang="en-US" dirty="0">
                <a:hlinkClick r:id="rId3"/>
              </a:rPr>
              <a:t>AES Round</a:t>
            </a:r>
            <a:endParaRPr lang="en-AU" dirty="0"/>
          </a:p>
        </p:txBody>
      </p:sp>
      <p:pic>
        <p:nvPicPr>
          <p:cNvPr id="24579" name="Picture 1029">
            <a:extLst>
              <a:ext uri="{FF2B5EF4-FFF2-40B4-BE49-F238E27FC236}">
                <a16:creationId xmlns:a16="http://schemas.microsoft.com/office/drawing/2014/main" id="{F506AEF3-CE71-45AF-B340-84614EC0D7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371600"/>
            <a:ext cx="6675438" cy="515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A5C9333C-52FD-4ADC-9CA6-AF0FB4133B13}"/>
              </a:ext>
            </a:extLst>
          </p:cNvPr>
          <p:cNvSpPr>
            <a:spLocks noGrp="1" noChangeArrowheads="1"/>
          </p:cNvSpPr>
          <p:nvPr>
            <p:ph type="title"/>
          </p:nvPr>
        </p:nvSpPr>
        <p:spPr/>
        <p:txBody>
          <a:bodyPr/>
          <a:lstStyle/>
          <a:p>
            <a:pPr eaLnBrk="1" hangingPunct="1">
              <a:defRPr/>
            </a:pPr>
            <a:r>
              <a:rPr lang="en-US"/>
              <a:t>AES Key Expansion</a:t>
            </a:r>
            <a:endParaRPr lang="en-AU"/>
          </a:p>
        </p:txBody>
      </p:sp>
      <p:sp>
        <p:nvSpPr>
          <p:cNvPr id="66563" name="Rectangle 3">
            <a:extLst>
              <a:ext uri="{FF2B5EF4-FFF2-40B4-BE49-F238E27FC236}">
                <a16:creationId xmlns:a16="http://schemas.microsoft.com/office/drawing/2014/main" id="{85275EAF-194D-4F31-ACE6-A32C32E5BF53}"/>
              </a:ext>
            </a:extLst>
          </p:cNvPr>
          <p:cNvSpPr>
            <a:spLocks noGrp="1" noChangeArrowheads="1"/>
          </p:cNvSpPr>
          <p:nvPr>
            <p:ph type="body" idx="1"/>
          </p:nvPr>
        </p:nvSpPr>
        <p:spPr/>
        <p:txBody>
          <a:bodyPr/>
          <a:lstStyle/>
          <a:p>
            <a:pPr eaLnBrk="1" hangingPunct="1">
              <a:defRPr/>
            </a:pPr>
            <a:r>
              <a:rPr lang="en-US"/>
              <a:t>takes 128-bit (16-byte) key and expands into array of 44/52/60 32-bit words</a:t>
            </a:r>
          </a:p>
          <a:p>
            <a:pPr eaLnBrk="1" hangingPunct="1">
              <a:defRPr/>
            </a:pPr>
            <a:r>
              <a:rPr lang="en-US"/>
              <a:t>start by copying key into first 4 words</a:t>
            </a:r>
          </a:p>
          <a:p>
            <a:pPr eaLnBrk="1" hangingPunct="1">
              <a:defRPr/>
            </a:pPr>
            <a:r>
              <a:rPr lang="en-US"/>
              <a:t>then loop creating words that depend on values in previous &amp; 4 places back</a:t>
            </a:r>
          </a:p>
          <a:p>
            <a:pPr lvl="1" eaLnBrk="1" hangingPunct="1">
              <a:defRPr/>
            </a:pPr>
            <a:r>
              <a:rPr lang="en-US"/>
              <a:t>in 3 of 4 cases just XOR these together</a:t>
            </a:r>
          </a:p>
          <a:p>
            <a:pPr lvl="1" eaLnBrk="1" hangingPunct="1">
              <a:defRPr/>
            </a:pPr>
            <a:r>
              <a:rPr lang="en-US"/>
              <a:t>1</a:t>
            </a:r>
            <a:r>
              <a:rPr lang="en-US" baseline="30000"/>
              <a:t>st</a:t>
            </a:r>
            <a:r>
              <a:rPr lang="en-US"/>
              <a:t> word in 4 has rotate + S-box + XOR round constant on previous, before XOR 4</a:t>
            </a:r>
            <a:r>
              <a:rPr lang="en-US" baseline="30000"/>
              <a:t>th</a:t>
            </a:r>
            <a:r>
              <a:rPr lang="en-US"/>
              <a:t> back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72F57598-8FDB-4309-B323-8C2BC22ACCA1}"/>
              </a:ext>
            </a:extLst>
          </p:cNvPr>
          <p:cNvSpPr>
            <a:spLocks noGrp="1" noChangeArrowheads="1"/>
          </p:cNvSpPr>
          <p:nvPr>
            <p:ph type="title"/>
          </p:nvPr>
        </p:nvSpPr>
        <p:spPr/>
        <p:txBody>
          <a:bodyPr/>
          <a:lstStyle/>
          <a:p>
            <a:pPr eaLnBrk="1" hangingPunct="1">
              <a:defRPr/>
            </a:pPr>
            <a:r>
              <a:rPr lang="en-US"/>
              <a:t>AES Key Expansion</a:t>
            </a:r>
            <a:endParaRPr lang="en-AU"/>
          </a:p>
        </p:txBody>
      </p:sp>
      <p:pic>
        <p:nvPicPr>
          <p:cNvPr id="26627" name="Picture 5">
            <a:extLst>
              <a:ext uri="{FF2B5EF4-FFF2-40B4-BE49-F238E27FC236}">
                <a16:creationId xmlns:a16="http://schemas.microsoft.com/office/drawing/2014/main" id="{98F819C8-EF9D-473D-B6B5-896DD08E68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752600"/>
            <a:ext cx="366712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5F5B8C2E-4ACC-4266-9B95-3B577F2B846D}"/>
              </a:ext>
            </a:extLst>
          </p:cNvPr>
          <p:cNvSpPr>
            <a:spLocks noGrp="1" noChangeArrowheads="1"/>
          </p:cNvSpPr>
          <p:nvPr>
            <p:ph type="title"/>
          </p:nvPr>
        </p:nvSpPr>
        <p:spPr/>
        <p:txBody>
          <a:bodyPr/>
          <a:lstStyle/>
          <a:p>
            <a:pPr eaLnBrk="1" hangingPunct="1">
              <a:defRPr/>
            </a:pPr>
            <a:r>
              <a:rPr lang="en-US"/>
              <a:t>Key Expansion Rationale</a:t>
            </a:r>
            <a:endParaRPr lang="en-AU"/>
          </a:p>
        </p:txBody>
      </p:sp>
      <p:sp>
        <p:nvSpPr>
          <p:cNvPr id="95235" name="Rectangle 3">
            <a:extLst>
              <a:ext uri="{FF2B5EF4-FFF2-40B4-BE49-F238E27FC236}">
                <a16:creationId xmlns:a16="http://schemas.microsoft.com/office/drawing/2014/main" id="{A6AAB9F8-9FBA-4E26-987D-0725E319C7F8}"/>
              </a:ext>
            </a:extLst>
          </p:cNvPr>
          <p:cNvSpPr>
            <a:spLocks noGrp="1" noChangeArrowheads="1"/>
          </p:cNvSpPr>
          <p:nvPr>
            <p:ph type="body" idx="1"/>
          </p:nvPr>
        </p:nvSpPr>
        <p:spPr>
          <a:xfrm>
            <a:off x="457200" y="1676400"/>
            <a:ext cx="8458200" cy="4454525"/>
          </a:xfrm>
        </p:spPr>
        <p:txBody>
          <a:bodyPr/>
          <a:lstStyle/>
          <a:p>
            <a:pPr eaLnBrk="1" hangingPunct="1">
              <a:lnSpc>
                <a:spcPct val="90000"/>
              </a:lnSpc>
              <a:defRPr/>
            </a:pPr>
            <a:r>
              <a:rPr lang="en-US"/>
              <a:t>designed to resist known attacks</a:t>
            </a:r>
          </a:p>
          <a:p>
            <a:pPr eaLnBrk="1" hangingPunct="1">
              <a:lnSpc>
                <a:spcPct val="90000"/>
              </a:lnSpc>
              <a:defRPr/>
            </a:pPr>
            <a:r>
              <a:rPr lang="en-US"/>
              <a:t>design criteria included</a:t>
            </a:r>
          </a:p>
          <a:p>
            <a:pPr lvl="1" eaLnBrk="1" hangingPunct="1">
              <a:lnSpc>
                <a:spcPct val="90000"/>
              </a:lnSpc>
              <a:defRPr/>
            </a:pPr>
            <a:r>
              <a:rPr lang="en-AU"/>
              <a:t>knowing part key insufficient to find many more</a:t>
            </a:r>
          </a:p>
          <a:p>
            <a:pPr lvl="1" eaLnBrk="1" hangingPunct="1">
              <a:lnSpc>
                <a:spcPct val="90000"/>
              </a:lnSpc>
              <a:defRPr/>
            </a:pPr>
            <a:r>
              <a:rPr lang="en-AU"/>
              <a:t>invertible transformation</a:t>
            </a:r>
          </a:p>
          <a:p>
            <a:pPr lvl="1" eaLnBrk="1" hangingPunct="1">
              <a:lnSpc>
                <a:spcPct val="90000"/>
              </a:lnSpc>
              <a:defRPr/>
            </a:pPr>
            <a:r>
              <a:rPr lang="en-AU"/>
              <a:t>fast on wide range of CPU’s</a:t>
            </a:r>
          </a:p>
          <a:p>
            <a:pPr lvl="1" eaLnBrk="1" hangingPunct="1">
              <a:lnSpc>
                <a:spcPct val="90000"/>
              </a:lnSpc>
              <a:defRPr/>
            </a:pPr>
            <a:r>
              <a:rPr lang="en-AU"/>
              <a:t>use round constants to break symmetry</a:t>
            </a:r>
          </a:p>
          <a:p>
            <a:pPr lvl="1" eaLnBrk="1" hangingPunct="1">
              <a:lnSpc>
                <a:spcPct val="90000"/>
              </a:lnSpc>
              <a:defRPr/>
            </a:pPr>
            <a:r>
              <a:rPr lang="en-AU"/>
              <a:t>diffuse key bits into round keys</a:t>
            </a:r>
          </a:p>
          <a:p>
            <a:pPr lvl="1" eaLnBrk="1" hangingPunct="1">
              <a:lnSpc>
                <a:spcPct val="90000"/>
              </a:lnSpc>
              <a:defRPr/>
            </a:pPr>
            <a:r>
              <a:rPr lang="en-AU"/>
              <a:t>enough non-linearity to hinder analysis</a:t>
            </a:r>
          </a:p>
          <a:p>
            <a:pPr lvl="1" eaLnBrk="1" hangingPunct="1">
              <a:lnSpc>
                <a:spcPct val="90000"/>
              </a:lnSpc>
              <a:defRPr/>
            </a:pPr>
            <a:r>
              <a:rPr lang="en-AU"/>
              <a:t>simplicity of description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91E44055-C0E9-49F9-BC09-CF0AB7E03326}"/>
              </a:ext>
            </a:extLst>
          </p:cNvPr>
          <p:cNvSpPr>
            <a:spLocks noGrp="1" noChangeArrowheads="1"/>
          </p:cNvSpPr>
          <p:nvPr>
            <p:ph type="title"/>
          </p:nvPr>
        </p:nvSpPr>
        <p:spPr/>
        <p:txBody>
          <a:bodyPr/>
          <a:lstStyle/>
          <a:p>
            <a:pPr eaLnBrk="1" hangingPunct="1">
              <a:defRPr/>
            </a:pPr>
            <a:r>
              <a:rPr lang="en-US"/>
              <a:t>AES Decryption</a:t>
            </a:r>
            <a:endParaRPr lang="en-AU"/>
          </a:p>
        </p:txBody>
      </p:sp>
      <p:sp>
        <p:nvSpPr>
          <p:cNvPr id="68611" name="Rectangle 3">
            <a:extLst>
              <a:ext uri="{FF2B5EF4-FFF2-40B4-BE49-F238E27FC236}">
                <a16:creationId xmlns:a16="http://schemas.microsoft.com/office/drawing/2014/main" id="{39BB0AA5-0CF8-436C-BBB0-2BAD39831A3A}"/>
              </a:ext>
            </a:extLst>
          </p:cNvPr>
          <p:cNvSpPr>
            <a:spLocks noGrp="1" noChangeArrowheads="1"/>
          </p:cNvSpPr>
          <p:nvPr>
            <p:ph type="body" idx="1"/>
          </p:nvPr>
        </p:nvSpPr>
        <p:spPr/>
        <p:txBody>
          <a:bodyPr/>
          <a:lstStyle/>
          <a:p>
            <a:pPr eaLnBrk="1" hangingPunct="1">
              <a:lnSpc>
                <a:spcPct val="90000"/>
              </a:lnSpc>
              <a:defRPr/>
            </a:pPr>
            <a:r>
              <a:rPr lang="en-US"/>
              <a:t>AES decryption is not identical to encryption since steps done in reverse</a:t>
            </a:r>
          </a:p>
          <a:p>
            <a:pPr eaLnBrk="1" hangingPunct="1">
              <a:lnSpc>
                <a:spcPct val="90000"/>
              </a:lnSpc>
              <a:defRPr/>
            </a:pPr>
            <a:r>
              <a:rPr lang="en-US"/>
              <a:t>but can define an equivalent inverse cipher with steps as for encryption</a:t>
            </a:r>
          </a:p>
          <a:p>
            <a:pPr lvl="1" eaLnBrk="1" hangingPunct="1">
              <a:lnSpc>
                <a:spcPct val="90000"/>
              </a:lnSpc>
              <a:defRPr/>
            </a:pPr>
            <a:r>
              <a:rPr lang="en-US"/>
              <a:t>but using inverses of each step</a:t>
            </a:r>
          </a:p>
          <a:p>
            <a:pPr lvl="1" eaLnBrk="1" hangingPunct="1">
              <a:lnSpc>
                <a:spcPct val="90000"/>
              </a:lnSpc>
              <a:defRPr/>
            </a:pPr>
            <a:r>
              <a:rPr lang="en-US"/>
              <a:t>with a different key schedule</a:t>
            </a:r>
          </a:p>
          <a:p>
            <a:pPr eaLnBrk="1" hangingPunct="1">
              <a:lnSpc>
                <a:spcPct val="90000"/>
              </a:lnSpc>
              <a:defRPr/>
            </a:pPr>
            <a:r>
              <a:rPr lang="en-US"/>
              <a:t>works since result is unchanged when</a:t>
            </a:r>
          </a:p>
          <a:p>
            <a:pPr lvl="1" eaLnBrk="1" hangingPunct="1">
              <a:lnSpc>
                <a:spcPct val="90000"/>
              </a:lnSpc>
              <a:defRPr/>
            </a:pPr>
            <a:r>
              <a:rPr lang="en-US"/>
              <a:t>swap byte substitution &amp; shift rows</a:t>
            </a:r>
          </a:p>
          <a:p>
            <a:pPr lvl="1" eaLnBrk="1" hangingPunct="1">
              <a:lnSpc>
                <a:spcPct val="90000"/>
              </a:lnSpc>
              <a:defRPr/>
            </a:pPr>
            <a:r>
              <a:rPr lang="en-US"/>
              <a:t>swap mix columns &amp; add (tweaked) round key</a:t>
            </a:r>
            <a:endParaRPr lang="en-AU"/>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5DF8372D-B993-4BA7-B375-BFA12601AAED}"/>
              </a:ext>
            </a:extLst>
          </p:cNvPr>
          <p:cNvSpPr>
            <a:spLocks noGrp="1" noChangeArrowheads="1"/>
          </p:cNvSpPr>
          <p:nvPr>
            <p:ph type="title"/>
          </p:nvPr>
        </p:nvSpPr>
        <p:spPr/>
        <p:txBody>
          <a:bodyPr/>
          <a:lstStyle/>
          <a:p>
            <a:pPr eaLnBrk="1" hangingPunct="1">
              <a:defRPr/>
            </a:pPr>
            <a:r>
              <a:rPr lang="en-US"/>
              <a:t>AES Decryption</a:t>
            </a:r>
            <a:endParaRPr lang="en-AU"/>
          </a:p>
        </p:txBody>
      </p:sp>
      <p:pic>
        <p:nvPicPr>
          <p:cNvPr id="29699" name="Picture 5">
            <a:extLst>
              <a:ext uri="{FF2B5EF4-FFF2-40B4-BE49-F238E27FC236}">
                <a16:creationId xmlns:a16="http://schemas.microsoft.com/office/drawing/2014/main" id="{2037B495-B5C9-4E2D-84A2-B021920CC7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447800"/>
            <a:ext cx="3390900" cy="501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246777F4-87F8-4CA7-8DD3-482434AB0932}"/>
              </a:ext>
            </a:extLst>
          </p:cNvPr>
          <p:cNvSpPr>
            <a:spLocks noGrp="1" noChangeArrowheads="1"/>
          </p:cNvSpPr>
          <p:nvPr>
            <p:ph type="title"/>
          </p:nvPr>
        </p:nvSpPr>
        <p:spPr/>
        <p:txBody>
          <a:bodyPr/>
          <a:lstStyle/>
          <a:p>
            <a:pPr eaLnBrk="1" hangingPunct="1">
              <a:defRPr/>
            </a:pPr>
            <a:r>
              <a:rPr lang="en-US"/>
              <a:t>Implementation Aspects</a:t>
            </a:r>
            <a:endParaRPr lang="en-AU"/>
          </a:p>
        </p:txBody>
      </p:sp>
      <p:sp>
        <p:nvSpPr>
          <p:cNvPr id="70659" name="Rectangle 3">
            <a:extLst>
              <a:ext uri="{FF2B5EF4-FFF2-40B4-BE49-F238E27FC236}">
                <a16:creationId xmlns:a16="http://schemas.microsoft.com/office/drawing/2014/main" id="{7DC78771-A46C-4DBA-96E4-F8282E27E42E}"/>
              </a:ext>
            </a:extLst>
          </p:cNvPr>
          <p:cNvSpPr>
            <a:spLocks noGrp="1" noChangeArrowheads="1"/>
          </p:cNvSpPr>
          <p:nvPr>
            <p:ph type="body" idx="1"/>
          </p:nvPr>
        </p:nvSpPr>
        <p:spPr/>
        <p:txBody>
          <a:bodyPr/>
          <a:lstStyle/>
          <a:p>
            <a:pPr eaLnBrk="1" hangingPunct="1">
              <a:defRPr/>
            </a:pPr>
            <a:r>
              <a:rPr lang="en-US" dirty="0"/>
              <a:t>can efficiently implement on 8-bit CPU</a:t>
            </a:r>
          </a:p>
          <a:p>
            <a:pPr lvl="1" eaLnBrk="1" hangingPunct="1">
              <a:defRPr/>
            </a:pPr>
            <a:r>
              <a:rPr lang="en-AU" dirty="0"/>
              <a:t>byte substitution works on bytes using a table of 256 entries</a:t>
            </a:r>
          </a:p>
          <a:p>
            <a:pPr lvl="1" eaLnBrk="1" hangingPunct="1">
              <a:defRPr/>
            </a:pPr>
            <a:r>
              <a:rPr lang="en-AU" dirty="0"/>
              <a:t>shift rows is simple byte shift</a:t>
            </a:r>
          </a:p>
          <a:p>
            <a:pPr lvl="1" eaLnBrk="1" hangingPunct="1">
              <a:defRPr/>
            </a:pPr>
            <a:r>
              <a:rPr lang="en-AU" dirty="0"/>
              <a:t>add round key works on byte XOR’s</a:t>
            </a:r>
          </a:p>
          <a:p>
            <a:pPr lvl="1" eaLnBrk="1" hangingPunct="1">
              <a:defRPr/>
            </a:pPr>
            <a:r>
              <a:rPr lang="en-AU" dirty="0"/>
              <a:t>mix columns requires matrix multiply in </a:t>
            </a:r>
            <a:r>
              <a:rPr lang="en-US" dirty="0"/>
              <a:t>GF(2</a:t>
            </a:r>
            <a:r>
              <a:rPr lang="en-US" baseline="30000" dirty="0"/>
              <a:t>8</a:t>
            </a:r>
            <a:r>
              <a:rPr lang="en-US" dirty="0"/>
              <a:t>) which works on byte values, can be simplified to use table lookups &amp; byte XOR’s</a:t>
            </a:r>
            <a:endParaRPr lang="en-AU"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70EC471A-36D8-4764-830D-6608D0C85C9A}"/>
              </a:ext>
            </a:extLst>
          </p:cNvPr>
          <p:cNvSpPr>
            <a:spLocks noGrp="1" noChangeArrowheads="1"/>
          </p:cNvSpPr>
          <p:nvPr>
            <p:ph type="title"/>
          </p:nvPr>
        </p:nvSpPr>
        <p:spPr/>
        <p:txBody>
          <a:bodyPr/>
          <a:lstStyle/>
          <a:p>
            <a:pPr eaLnBrk="1" hangingPunct="1">
              <a:defRPr/>
            </a:pPr>
            <a:r>
              <a:rPr lang="en-US"/>
              <a:t>Implementation Aspects</a:t>
            </a:r>
            <a:endParaRPr lang="en-AU"/>
          </a:p>
        </p:txBody>
      </p:sp>
      <p:sp>
        <p:nvSpPr>
          <p:cNvPr id="71683" name="Rectangle 3">
            <a:extLst>
              <a:ext uri="{FF2B5EF4-FFF2-40B4-BE49-F238E27FC236}">
                <a16:creationId xmlns:a16="http://schemas.microsoft.com/office/drawing/2014/main" id="{66676BCF-499C-4FA9-BB26-A1CB0318E992}"/>
              </a:ext>
            </a:extLst>
          </p:cNvPr>
          <p:cNvSpPr>
            <a:spLocks noGrp="1" noChangeArrowheads="1"/>
          </p:cNvSpPr>
          <p:nvPr>
            <p:ph type="body" idx="1"/>
          </p:nvPr>
        </p:nvSpPr>
        <p:spPr/>
        <p:txBody>
          <a:bodyPr/>
          <a:lstStyle/>
          <a:p>
            <a:pPr eaLnBrk="1" hangingPunct="1">
              <a:lnSpc>
                <a:spcPct val="90000"/>
              </a:lnSpc>
              <a:defRPr/>
            </a:pPr>
            <a:r>
              <a:rPr lang="en-US"/>
              <a:t>can efficiently implement on 32-bit CPU</a:t>
            </a:r>
          </a:p>
          <a:p>
            <a:pPr lvl="1" eaLnBrk="1" hangingPunct="1">
              <a:lnSpc>
                <a:spcPct val="90000"/>
              </a:lnSpc>
              <a:defRPr/>
            </a:pPr>
            <a:r>
              <a:rPr lang="en-US"/>
              <a:t>redefine steps to use 32-bit words</a:t>
            </a:r>
          </a:p>
          <a:p>
            <a:pPr lvl="1" eaLnBrk="1" hangingPunct="1">
              <a:lnSpc>
                <a:spcPct val="90000"/>
              </a:lnSpc>
              <a:defRPr/>
            </a:pPr>
            <a:r>
              <a:rPr lang="en-US"/>
              <a:t>can precompute 4 tables of 256-words</a:t>
            </a:r>
          </a:p>
          <a:p>
            <a:pPr lvl="1" eaLnBrk="1" hangingPunct="1">
              <a:lnSpc>
                <a:spcPct val="90000"/>
              </a:lnSpc>
              <a:defRPr/>
            </a:pPr>
            <a:r>
              <a:rPr lang="en-US"/>
              <a:t>then each column in each round can be computed using 4 table lookups + 4 XORs</a:t>
            </a:r>
          </a:p>
          <a:p>
            <a:pPr lvl="1" eaLnBrk="1" hangingPunct="1">
              <a:lnSpc>
                <a:spcPct val="90000"/>
              </a:lnSpc>
              <a:defRPr/>
            </a:pPr>
            <a:r>
              <a:rPr lang="en-US"/>
              <a:t>at a cost of 4Kb to store tables</a:t>
            </a:r>
          </a:p>
          <a:p>
            <a:pPr eaLnBrk="1" hangingPunct="1">
              <a:lnSpc>
                <a:spcPct val="90000"/>
              </a:lnSpc>
              <a:defRPr/>
            </a:pPr>
            <a:r>
              <a:rPr lang="en-US"/>
              <a:t>designers believe this very efficient implementation was a key factor in its selection as the AES cipher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34957-1DC0-43B1-AD41-63C4A620A2FE}"/>
              </a:ext>
            </a:extLst>
          </p:cNvPr>
          <p:cNvSpPr>
            <a:spLocks noGrp="1"/>
          </p:cNvSpPr>
          <p:nvPr>
            <p:ph type="title"/>
          </p:nvPr>
        </p:nvSpPr>
        <p:spPr/>
        <p:txBody>
          <a:bodyPr/>
          <a:lstStyle/>
          <a:p>
            <a:r>
              <a:rPr lang="en-US" dirty="0"/>
              <a:t>Demo</a:t>
            </a:r>
          </a:p>
        </p:txBody>
      </p:sp>
      <p:sp>
        <p:nvSpPr>
          <p:cNvPr id="3" name="Content Placeholder 2">
            <a:extLst>
              <a:ext uri="{FF2B5EF4-FFF2-40B4-BE49-F238E27FC236}">
                <a16:creationId xmlns:a16="http://schemas.microsoft.com/office/drawing/2014/main" id="{0F9C75D2-DA88-4503-A75C-E45E4EEBBFFB}"/>
              </a:ext>
            </a:extLst>
          </p:cNvPr>
          <p:cNvSpPr>
            <a:spLocks noGrp="1"/>
          </p:cNvSpPr>
          <p:nvPr>
            <p:ph idx="1"/>
          </p:nvPr>
        </p:nvSpPr>
        <p:spPr/>
        <p:txBody>
          <a:bodyPr/>
          <a:lstStyle/>
          <a:p>
            <a:r>
              <a:rPr lang="en-US" dirty="0">
                <a:hlinkClick r:id="rId2"/>
              </a:rPr>
              <a:t>https://www.youtube.com/watch?v=gP4PqVGudtg</a:t>
            </a:r>
            <a:endParaRPr lang="en-US" dirty="0">
              <a:hlinkClick r:id="rId3"/>
            </a:endParaRPr>
          </a:p>
          <a:p>
            <a:endParaRPr lang="en-US" dirty="0">
              <a:hlinkClick r:id="rId3"/>
            </a:endParaRPr>
          </a:p>
          <a:p>
            <a:r>
              <a:rPr lang="en-US" dirty="0">
                <a:hlinkClick r:id="rId3"/>
              </a:rPr>
              <a:t>http://rubbingalcoholic.github.io/cowcrypt/demos/aes.html</a:t>
            </a:r>
            <a:endParaRPr lang="en-US" dirty="0"/>
          </a:p>
          <a:p>
            <a:endParaRPr lang="en-US" dirty="0">
              <a:hlinkClick r:id="rId4"/>
            </a:endParaRPr>
          </a:p>
          <a:p>
            <a:r>
              <a:rPr lang="en-US" dirty="0">
                <a:hlinkClick r:id="rId4"/>
              </a:rPr>
              <a:t>http://rubbingalcoholic.github.io/cowcrypt/demos/aes.html</a:t>
            </a:r>
          </a:p>
          <a:p>
            <a:endParaRPr lang="en-US" dirty="0">
              <a:hlinkClick r:id="rId4"/>
            </a:endParaRPr>
          </a:p>
          <a:p>
            <a:endParaRPr lang="en-US" dirty="0"/>
          </a:p>
          <a:p>
            <a:endParaRPr lang="en-US" dirty="0"/>
          </a:p>
        </p:txBody>
      </p:sp>
    </p:spTree>
    <p:extLst>
      <p:ext uri="{BB962C8B-B14F-4D97-AF65-F5344CB8AC3E}">
        <p14:creationId xmlns:p14="http://schemas.microsoft.com/office/powerpoint/2010/main" val="1443406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C49CAC7E-C386-4AF2-9E38-AC9BC5AE6BE8}"/>
              </a:ext>
            </a:extLst>
          </p:cNvPr>
          <p:cNvSpPr>
            <a:spLocks noGrp="1" noChangeArrowheads="1"/>
          </p:cNvSpPr>
          <p:nvPr>
            <p:ph type="title"/>
          </p:nvPr>
        </p:nvSpPr>
        <p:spPr/>
        <p:txBody>
          <a:bodyPr/>
          <a:lstStyle/>
          <a:p>
            <a:pPr eaLnBrk="1" hangingPunct="1">
              <a:defRPr/>
            </a:pPr>
            <a:r>
              <a:rPr lang="en-US"/>
              <a:t>Summary</a:t>
            </a:r>
            <a:endParaRPr lang="en-AU"/>
          </a:p>
        </p:txBody>
      </p:sp>
      <p:sp>
        <p:nvSpPr>
          <p:cNvPr id="45059" name="Rectangle 3">
            <a:extLst>
              <a:ext uri="{FF2B5EF4-FFF2-40B4-BE49-F238E27FC236}">
                <a16:creationId xmlns:a16="http://schemas.microsoft.com/office/drawing/2014/main" id="{64EB88D7-67F1-4040-887F-15860C7F0C33}"/>
              </a:ext>
            </a:extLst>
          </p:cNvPr>
          <p:cNvSpPr>
            <a:spLocks noGrp="1" noChangeArrowheads="1"/>
          </p:cNvSpPr>
          <p:nvPr>
            <p:ph type="body" idx="1"/>
          </p:nvPr>
        </p:nvSpPr>
        <p:spPr/>
        <p:txBody>
          <a:bodyPr/>
          <a:lstStyle/>
          <a:p>
            <a:pPr eaLnBrk="1" hangingPunct="1">
              <a:defRPr/>
            </a:pPr>
            <a:r>
              <a:rPr lang="en-US"/>
              <a:t>have considered:</a:t>
            </a:r>
          </a:p>
          <a:p>
            <a:pPr lvl="1" eaLnBrk="1" hangingPunct="1">
              <a:defRPr/>
            </a:pPr>
            <a:r>
              <a:rPr lang="en-US"/>
              <a:t>the AES selection process</a:t>
            </a:r>
          </a:p>
          <a:p>
            <a:pPr lvl="1" eaLnBrk="1" hangingPunct="1">
              <a:defRPr/>
            </a:pPr>
            <a:r>
              <a:rPr lang="en-US"/>
              <a:t>the details of Rijndael – the AES cipher</a:t>
            </a:r>
          </a:p>
          <a:p>
            <a:pPr lvl="1" eaLnBrk="1" hangingPunct="1">
              <a:defRPr/>
            </a:pPr>
            <a:r>
              <a:rPr lang="en-US"/>
              <a:t>looked at the steps in each round</a:t>
            </a:r>
          </a:p>
          <a:p>
            <a:pPr lvl="1" eaLnBrk="1" hangingPunct="1">
              <a:defRPr/>
            </a:pPr>
            <a:r>
              <a:rPr lang="en-US"/>
              <a:t>the key expansion</a:t>
            </a:r>
          </a:p>
          <a:p>
            <a:pPr lvl="1" eaLnBrk="1" hangingPunct="1">
              <a:defRPr/>
            </a:pPr>
            <a:r>
              <a:rPr lang="en-US"/>
              <a:t>implementation aspects</a:t>
            </a:r>
          </a:p>
          <a:p>
            <a:pPr lvl="1" eaLnBrk="1" hangingPunct="1">
              <a:defRPr/>
            </a:pPr>
            <a:endParaRPr lang="en-US"/>
          </a:p>
          <a:p>
            <a:pPr lvl="1" eaLnBrk="1" hangingPunct="1">
              <a:defRPr/>
            </a:pPr>
            <a:endParaRPr lang="en-AU"/>
          </a:p>
        </p:txBody>
      </p:sp>
    </p:spTree>
  </p:cSld>
  <p:clrMapOvr>
    <a:masterClrMapping/>
  </p:clrMapOvr>
</p:sld>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3DF40221A5A747B9428815DED67DED" ma:contentTypeVersion="10" ma:contentTypeDescription="Create a new document." ma:contentTypeScope="" ma:versionID="d0f0a0ed34c5972daecef95a5985b95e">
  <xsd:schema xmlns:xsd="http://www.w3.org/2001/XMLSchema" xmlns:xs="http://www.w3.org/2001/XMLSchema" xmlns:p="http://schemas.microsoft.com/office/2006/metadata/properties" xmlns:ns2="81b1b38b-1728-467a-aa8a-c19a9cfce538" xmlns:ns3="514333d6-4808-4746-a875-3c8d1b8a0326" targetNamespace="http://schemas.microsoft.com/office/2006/metadata/properties" ma:root="true" ma:fieldsID="2bb5ddbc2cd01d83382089ed07f9918a" ns2:_="" ns3:_="">
    <xsd:import namespace="81b1b38b-1728-467a-aa8a-c19a9cfce538"/>
    <xsd:import namespace="514333d6-4808-4746-a875-3c8d1b8a032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b1b38b-1728-467a-aa8a-c19a9cfce5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998298d-0a5b-46c5-8f32-181cac62bf5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14333d6-4808-4746-a875-3c8d1b8a032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6d13f901-ec8c-4016-8814-34551a297e3b}" ma:internalName="TaxCatchAll" ma:showField="CatchAllData" ma:web="514333d6-4808-4746-a875-3c8d1b8a03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1b1b38b-1728-467a-aa8a-c19a9cfce538">
      <Terms xmlns="http://schemas.microsoft.com/office/infopath/2007/PartnerControls"/>
    </lcf76f155ced4ddcb4097134ff3c332f>
    <TaxCatchAll xmlns="514333d6-4808-4746-a875-3c8d1b8a0326" xsi:nil="true"/>
  </documentManagement>
</p:properties>
</file>

<file path=customXml/itemProps1.xml><?xml version="1.0" encoding="utf-8"?>
<ds:datastoreItem xmlns:ds="http://schemas.openxmlformats.org/officeDocument/2006/customXml" ds:itemID="{338E4F4F-0FD3-4C62-997D-4089BE4C3ADE}"/>
</file>

<file path=customXml/itemProps2.xml><?xml version="1.0" encoding="utf-8"?>
<ds:datastoreItem xmlns:ds="http://schemas.openxmlformats.org/officeDocument/2006/customXml" ds:itemID="{ED806D24-36C5-4159-A87E-F477C0C65378}"/>
</file>

<file path=customXml/itemProps3.xml><?xml version="1.0" encoding="utf-8"?>
<ds:datastoreItem xmlns:ds="http://schemas.openxmlformats.org/officeDocument/2006/customXml" ds:itemID="{93767FFF-9750-429B-9441-9E921AF2EF90}"/>
</file>

<file path=docProps/app.xml><?xml version="1.0" encoding="utf-8"?>
<Properties xmlns="http://schemas.openxmlformats.org/officeDocument/2006/extended-properties" xmlns:vt="http://schemas.openxmlformats.org/officeDocument/2006/docPropsVTypes">
  <Template>Macintosh HD:Users:lpb:admin:consult:Prentice-Hall:Slides:ch01.ppt</Template>
  <TotalTime>205</TotalTime>
  <Words>3741</Words>
  <Application>Microsoft Office PowerPoint</Application>
  <PresentationFormat>On-screen Show (4:3)</PresentationFormat>
  <Paragraphs>393</Paragraphs>
  <Slides>31</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Helvetica</vt:lpstr>
      <vt:lpstr>Symbol</vt:lpstr>
      <vt:lpstr>Times</vt:lpstr>
      <vt:lpstr>Times-Roman</vt:lpstr>
      <vt:lpstr>Wingdings</vt:lpstr>
      <vt:lpstr>ch01</vt:lpstr>
      <vt:lpstr>Cryptography and Network Security Chapter 5</vt:lpstr>
      <vt:lpstr>Origins</vt:lpstr>
      <vt:lpstr>AES Requirements</vt:lpstr>
      <vt:lpstr>AES Evaluation Criteria</vt:lpstr>
      <vt:lpstr>AES Shortlist</vt:lpstr>
      <vt:lpstr>The AES Cipher - Rijndael </vt:lpstr>
      <vt:lpstr>Rijndael</vt:lpstr>
      <vt:lpstr>Rijndael</vt:lpstr>
      <vt:lpstr>Byte Substitution</vt:lpstr>
      <vt:lpstr>Galois Fields</vt:lpstr>
      <vt:lpstr>Galois Fields GF(p)</vt:lpstr>
      <vt:lpstr>Modulo 8 Addition Example</vt:lpstr>
      <vt:lpstr>GF(7) Multiplication Example </vt:lpstr>
      <vt:lpstr>Byte Substitution</vt:lpstr>
      <vt:lpstr>Shift Rows</vt:lpstr>
      <vt:lpstr>Shift Rows</vt:lpstr>
      <vt:lpstr>Mix Columns</vt:lpstr>
      <vt:lpstr>Mix Columns</vt:lpstr>
      <vt:lpstr>Mix Columns</vt:lpstr>
      <vt:lpstr>Add Round Key</vt:lpstr>
      <vt:lpstr>Add Round Key</vt:lpstr>
      <vt:lpstr>AES Round</vt:lpstr>
      <vt:lpstr>AES Key Expansion</vt:lpstr>
      <vt:lpstr>AES Key Expansion</vt:lpstr>
      <vt:lpstr>Key Expansion Rationale</vt:lpstr>
      <vt:lpstr>AES Decryption</vt:lpstr>
      <vt:lpstr>AES Decryption</vt:lpstr>
      <vt:lpstr>Implementation Aspects</vt:lpstr>
      <vt:lpstr>Implementation Aspects</vt:lpstr>
      <vt:lpstr>Demo</vt:lpstr>
      <vt:lpstr>Summary</vt:lpstr>
    </vt:vector>
  </TitlesOfParts>
  <Manager/>
  <Company>School of IT&amp;EE,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and Network Security 4/e</dc:title>
  <dc:subject>Lecture Overheads</dc:subject>
  <dc:creator>Dr Lawrie Brown</dc:creator>
  <cp:keywords/>
  <dc:description/>
  <cp:lastModifiedBy>MONTRI SUPATTATHAM</cp:lastModifiedBy>
  <cp:revision>37</cp:revision>
  <dcterms:created xsi:type="dcterms:W3CDTF">2002-03-28T02:06:54Z</dcterms:created>
  <dcterms:modified xsi:type="dcterms:W3CDTF">2023-02-09T05:32:55Z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0x0101009E3DF40221A5A747B9428815DED67DED</vt:lpwstr>
  </property>
</Properties>
</file>