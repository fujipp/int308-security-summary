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diagrams/data1.xml" ContentType="application/vnd.openxmlformats-officedocument.drawingml.diagramData+xml"/>
  <Override PartName="/ppt/presentation.xml" ContentType="application/vnd.openxmlformats-officedocument.presentationml.presentation.main+xml"/>
  <Override PartName="/ppt/diagrams/data2.xml" ContentType="application/vnd.openxmlformats-officedocument.drawingml.diagramData+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drawing2.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9"/>
  </p:notesMasterIdLst>
  <p:handoutMasterIdLst>
    <p:handoutMasterId r:id="rId30"/>
  </p:handoutMasterIdLst>
  <p:sldIdLst>
    <p:sldId id="323" r:id="rId2"/>
    <p:sldId id="276" r:id="rId3"/>
    <p:sldId id="378" r:id="rId4"/>
    <p:sldId id="396" r:id="rId5"/>
    <p:sldId id="275"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5" r:id="rId23"/>
    <p:sldId id="297" r:id="rId24"/>
    <p:sldId id="296" r:id="rId25"/>
    <p:sldId id="298" r:id="rId26"/>
    <p:sldId id="299" r:id="rId27"/>
    <p:sldId id="303" r:id="rId28"/>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53" autoAdjust="0"/>
  </p:normalViewPr>
  <p:slideViewPr>
    <p:cSldViewPr>
      <p:cViewPr varScale="1">
        <p:scale>
          <a:sx n="72" d="100"/>
          <a:sy n="72" d="100"/>
        </p:scale>
        <p:origin x="1518"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50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E11971-5984-FB4D-808C-C913769AB92D}" type="doc">
      <dgm:prSet loTypeId="urn:microsoft.com/office/officeart/2005/8/layout/arrow4" loCatId="relationship" qsTypeId="urn:microsoft.com/office/officeart/2005/8/quickstyle/3D1" qsCatId="3D" csTypeId="urn:microsoft.com/office/officeart/2005/8/colors/accent1_2" csCatId="accent1" phldr="1"/>
      <dgm:spPr/>
      <dgm:t>
        <a:bodyPr/>
        <a:lstStyle/>
        <a:p>
          <a:endParaRPr lang="en-US"/>
        </a:p>
      </dgm:t>
    </dgm:pt>
    <dgm:pt modelId="{D6E55461-A1ED-1549-B148-C16F35E977F6}">
      <dgm:prSet custT="1"/>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latin typeface="+mj-lt"/>
              <a:ea typeface="+mn-ea"/>
              <a:cs typeface="+mn-cs"/>
            </a:rPr>
            <a:t>- The most widely used encryption</a:t>
          </a:r>
        </a:p>
      </dgm:t>
    </dgm:pt>
    <dgm:pt modelId="{3594470A-1D33-E74F-9216-4EDA6336884E}" type="parTrans" cxnId="{CF3D2E1B-4F8E-754E-B3C4-534E14228DB4}">
      <dgm:prSet/>
      <dgm:spPr/>
      <dgm:t>
        <a:bodyPr/>
        <a:lstStyle/>
        <a:p>
          <a:endParaRPr lang="en-US"/>
        </a:p>
      </dgm:t>
    </dgm:pt>
    <dgm:pt modelId="{E72AB9F9-649C-1644-A69B-40B54E82EF5D}" type="sibTrans" cxnId="{CF3D2E1B-4F8E-754E-B3C4-534E14228DB4}">
      <dgm:prSet/>
      <dgm:spPr/>
      <dgm:t>
        <a:bodyPr/>
        <a:lstStyle/>
        <a:p>
          <a:endParaRPr lang="en-US"/>
        </a:p>
      </dgm:t>
    </dgm:pt>
    <dgm:pt modelId="{97C0C7C4-120E-334E-AC61-7BE0E7017C6C}">
      <dgm:prSet custT="1"/>
      <dgm:spPr/>
      <dgm:t>
        <a:bodyPr/>
        <a:lstStyle/>
        <a:p>
          <a:pPr algn="l" defTabSz="889000" rtl="0">
            <a:lnSpc>
              <a:spcPct val="90000"/>
            </a:lnSpc>
            <a:spcBef>
              <a:spcPct val="0"/>
            </a:spcBef>
            <a:spcAft>
              <a:spcPct val="35000"/>
            </a:spcAft>
          </a:pPr>
          <a:r>
            <a:rPr lang="en-US" sz="2800" b="0" kern="1200" dirty="0">
              <a:latin typeface="+mj-lt"/>
              <a:ea typeface="+mn-ea"/>
              <a:cs typeface="+mn-cs"/>
            </a:rPr>
            <a:t> - Strength concerns:</a:t>
          </a:r>
        </a:p>
      </dgm:t>
    </dgm:pt>
    <dgm:pt modelId="{BA3C18A4-01CF-B345-ABBD-0BF3ED634274}" type="parTrans" cxnId="{04BB826F-8042-0F4B-BD8B-78FA5714BDCF}">
      <dgm:prSet/>
      <dgm:spPr/>
      <dgm:t>
        <a:bodyPr/>
        <a:lstStyle/>
        <a:p>
          <a:endParaRPr lang="en-US"/>
        </a:p>
      </dgm:t>
    </dgm:pt>
    <dgm:pt modelId="{C11F33E5-9CF6-7E4A-AC98-740659F3377A}" type="sibTrans" cxnId="{04BB826F-8042-0F4B-BD8B-78FA5714BDCF}">
      <dgm:prSet/>
      <dgm:spPr/>
      <dgm:t>
        <a:bodyPr/>
        <a:lstStyle/>
        <a:p>
          <a:endParaRPr lang="en-US"/>
        </a:p>
      </dgm:t>
    </dgm:pt>
    <dgm:pt modelId="{6A65FA09-3785-C549-A972-52AFA8EC8FE5}">
      <dgm:prSet custT="1"/>
      <dgm:spPr/>
      <dgm:t>
        <a:bodyPr/>
        <a:lstStyle/>
        <a:p>
          <a:pPr marL="463550"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Concerns about algorithm</a:t>
          </a:r>
        </a:p>
      </dgm:t>
    </dgm:pt>
    <dgm:pt modelId="{705C5FAD-47F3-3B44-AD19-A145162B51A8}" type="parTrans" cxnId="{BA35C84E-EA29-F245-917C-9B38AEE43A47}">
      <dgm:prSet/>
      <dgm:spPr/>
      <dgm:t>
        <a:bodyPr/>
        <a:lstStyle/>
        <a:p>
          <a:endParaRPr lang="en-US"/>
        </a:p>
      </dgm:t>
    </dgm:pt>
    <dgm:pt modelId="{D854DF7A-194F-3847-9A9E-B8E00EBC41A3}" type="sibTrans" cxnId="{BA35C84E-EA29-F245-917C-9B38AEE43A47}">
      <dgm:prSet/>
      <dgm:spPr/>
      <dgm:t>
        <a:bodyPr/>
        <a:lstStyle/>
        <a:p>
          <a:endParaRPr lang="en-US"/>
        </a:p>
      </dgm:t>
    </dgm:pt>
    <dgm:pt modelId="{4DBA5133-7FD1-4442-B1AC-3D67519BC42F}">
      <dgm:prSet custT="1"/>
      <dgm:spPr/>
      <dgm:t>
        <a:bodyPr/>
        <a:lstStyle/>
        <a:p>
          <a:pPr marL="463550"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Use of 56-bit key</a:t>
          </a:r>
        </a:p>
      </dgm:t>
    </dgm:pt>
    <dgm:pt modelId="{C7849611-DDFD-9646-8EB7-B13A8F64AF0F}" type="parTrans" cxnId="{26C06E0C-DB26-BA4A-AF8B-AB92C6DCD6C7}">
      <dgm:prSet/>
      <dgm:spPr/>
      <dgm:t>
        <a:bodyPr/>
        <a:lstStyle/>
        <a:p>
          <a:endParaRPr lang="en-US"/>
        </a:p>
      </dgm:t>
    </dgm:pt>
    <dgm:pt modelId="{AC7A124A-1FF1-6740-B822-5D868575F65B}" type="sibTrans" cxnId="{26C06E0C-DB26-BA4A-AF8B-AB92C6DCD6C7}">
      <dgm:prSet/>
      <dgm:spPr/>
      <dgm:t>
        <a:bodyPr/>
        <a:lstStyle/>
        <a:p>
          <a:endParaRPr lang="en-US"/>
        </a:p>
      </dgm:t>
    </dgm:pt>
    <dgm:pt modelId="{722E1485-AB6B-473C-B4A1-48B3092577D7}">
      <dgm:prSet/>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56 bit key</a:t>
          </a:r>
          <a:endParaRPr lang="en-US" sz="2400" b="0" kern="1200" dirty="0">
            <a:latin typeface="+mj-lt"/>
            <a:ea typeface="+mn-ea"/>
            <a:cs typeface="+mn-cs"/>
          </a:endParaRPr>
        </a:p>
      </dgm:t>
    </dgm:pt>
    <dgm:pt modelId="{33649897-2A4E-4E36-8A64-F38D9B562B18}" type="parTrans" cxnId="{75E9D55D-0582-4781-8546-070689F3F473}">
      <dgm:prSet/>
      <dgm:spPr/>
      <dgm:t>
        <a:bodyPr/>
        <a:lstStyle/>
        <a:p>
          <a:endParaRPr lang="en-US"/>
        </a:p>
      </dgm:t>
    </dgm:pt>
    <dgm:pt modelId="{B73124FB-4C3E-46F1-BA6E-1F50D4BE952C}" type="sibTrans" cxnId="{75E9D55D-0582-4781-8546-070689F3F473}">
      <dgm:prSet/>
      <dgm:spPr/>
      <dgm:t>
        <a:bodyPr/>
        <a:lstStyle/>
        <a:p>
          <a:endParaRPr lang="en-US"/>
        </a:p>
      </dgm:t>
    </dgm:pt>
    <dgm:pt modelId="{A6BFBBFA-8BD4-4AEE-86DD-755DF10F66E7}">
      <dgm:prSet/>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Uses 64 bit plaintext block and</a:t>
          </a:r>
          <a:endParaRPr lang="en-US" sz="2400" b="0" kern="1200" dirty="0">
            <a:latin typeface="+mj-lt"/>
            <a:ea typeface="+mn-ea"/>
            <a:cs typeface="+mn-cs"/>
          </a:endParaRPr>
        </a:p>
      </dgm:t>
    </dgm:pt>
    <dgm:pt modelId="{CFC58E58-54ED-4FD6-9F93-FD5D00EBAF8C}" type="parTrans" cxnId="{506EFBB5-367C-43F0-8A9F-923FFA4315F2}">
      <dgm:prSet/>
      <dgm:spPr/>
      <dgm:t>
        <a:bodyPr/>
        <a:lstStyle/>
        <a:p>
          <a:endParaRPr lang="en-US"/>
        </a:p>
      </dgm:t>
    </dgm:pt>
    <dgm:pt modelId="{B31B9082-0B9C-4AAD-A4B7-EC9EC8DCD135}" type="sibTrans" cxnId="{506EFBB5-367C-43F0-8A9F-923FFA4315F2}">
      <dgm:prSet/>
      <dgm:spPr/>
      <dgm:t>
        <a:bodyPr/>
        <a:lstStyle/>
        <a:p>
          <a:endParaRPr lang="en-US"/>
        </a:p>
      </dgm:t>
    </dgm:pt>
    <dgm:pt modelId="{95287B55-E5D7-40F7-AE10-CBBF6EF738F5}">
      <dgm:prSet/>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to produce a 64 bit ciphertext block</a:t>
          </a:r>
          <a:endParaRPr lang="en-US" sz="2400" b="0" kern="1200" dirty="0">
            <a:latin typeface="+mj-lt"/>
            <a:ea typeface="+mn-ea"/>
            <a:cs typeface="+mn-cs"/>
          </a:endParaRPr>
        </a:p>
      </dgm:t>
    </dgm:pt>
    <dgm:pt modelId="{AB860B3B-E77B-4E80-9B15-42B87B7BC18F}" type="parTrans" cxnId="{DD12D7C2-6387-46B8-85E8-16256F9FCEF4}">
      <dgm:prSet/>
      <dgm:spPr/>
      <dgm:t>
        <a:bodyPr/>
        <a:lstStyle/>
        <a:p>
          <a:endParaRPr lang="en-US"/>
        </a:p>
      </dgm:t>
    </dgm:pt>
    <dgm:pt modelId="{77567D33-2E63-485A-B669-3584BDA82E3A}" type="sibTrans" cxnId="{DD12D7C2-6387-46B8-85E8-16256F9FCEF4}">
      <dgm:prSet/>
      <dgm:spPr/>
      <dgm:t>
        <a:bodyPr/>
        <a:lstStyle/>
        <a:p>
          <a:endParaRPr lang="en-US"/>
        </a:p>
      </dgm:t>
    </dgm:pt>
    <dgm:pt modelId="{28CF0727-D620-3446-A0BB-234F3056F8D9}" type="pres">
      <dgm:prSet presAssocID="{74E11971-5984-FB4D-808C-C913769AB92D}" presName="compositeShape" presStyleCnt="0">
        <dgm:presLayoutVars>
          <dgm:chMax val="2"/>
          <dgm:dir/>
          <dgm:resizeHandles val="exact"/>
        </dgm:presLayoutVars>
      </dgm:prSet>
      <dgm:spPr/>
    </dgm:pt>
    <dgm:pt modelId="{BFE2DD38-065C-4B4B-9D04-50857136CFF3}" type="pres">
      <dgm:prSet presAssocID="{D6E55461-A1ED-1549-B148-C16F35E977F6}" presName="upArrow" presStyleLbl="node1" presStyleIdx="0" presStyleCnt="2" custScaleX="66320" custScaleY="78371" custLinFactNeighborX="-11900" custLinFactNeighborY="-3412"/>
      <dgm:spPr/>
    </dgm:pt>
    <dgm:pt modelId="{48FAAA8E-A08D-6146-8B57-457EADABE666}" type="pres">
      <dgm:prSet presAssocID="{D6E55461-A1ED-1549-B148-C16F35E977F6}" presName="upArrowText" presStyleLbl="revTx" presStyleIdx="0" presStyleCnt="2" custScaleX="137987" custScaleY="115054" custLinFactNeighborX="1063" custLinFactNeighborY="7656">
        <dgm:presLayoutVars>
          <dgm:chMax val="0"/>
          <dgm:bulletEnabled val="1"/>
        </dgm:presLayoutVars>
      </dgm:prSet>
      <dgm:spPr/>
    </dgm:pt>
    <dgm:pt modelId="{C528ED87-2622-5445-A524-3B42DFF6F4F9}" type="pres">
      <dgm:prSet presAssocID="{97C0C7C4-120E-334E-AC61-7BE0E7017C6C}" presName="downArrow" presStyleLbl="node1" presStyleIdx="1" presStyleCnt="2" custScaleX="67694" custScaleY="73408" custLinFactNeighborX="-13943" custLinFactNeighborY="-1212"/>
      <dgm:spPr/>
    </dgm:pt>
    <dgm:pt modelId="{8F451FD7-07C1-D24E-88AE-8EE98D36D6A8}" type="pres">
      <dgm:prSet presAssocID="{97C0C7C4-120E-334E-AC61-7BE0E7017C6C}" presName="downArrowText" presStyleLbl="revTx" presStyleIdx="1" presStyleCnt="2" custScaleX="109102" custLinFactNeighborX="-19317" custLinFactNeighborY="-7611">
        <dgm:presLayoutVars>
          <dgm:chMax val="0"/>
          <dgm:bulletEnabled val="1"/>
        </dgm:presLayoutVars>
      </dgm:prSet>
      <dgm:spPr/>
    </dgm:pt>
  </dgm:ptLst>
  <dgm:cxnLst>
    <dgm:cxn modelId="{26C06E0C-DB26-BA4A-AF8B-AB92C6DCD6C7}" srcId="{97C0C7C4-120E-334E-AC61-7BE0E7017C6C}" destId="{4DBA5133-7FD1-4442-B1AC-3D67519BC42F}" srcOrd="1" destOrd="0" parTransId="{C7849611-DDFD-9646-8EB7-B13A8F64AF0F}" sibTransId="{AC7A124A-1FF1-6740-B822-5D868575F65B}"/>
    <dgm:cxn modelId="{CF3D2E1B-4F8E-754E-B3C4-534E14228DB4}" srcId="{74E11971-5984-FB4D-808C-C913769AB92D}" destId="{D6E55461-A1ED-1549-B148-C16F35E977F6}" srcOrd="0" destOrd="0" parTransId="{3594470A-1D33-E74F-9216-4EDA6336884E}" sibTransId="{E72AB9F9-649C-1644-A69B-40B54E82EF5D}"/>
    <dgm:cxn modelId="{D0156E20-2340-4DE8-A7B6-11DC2DE01515}" type="presOf" srcId="{722E1485-AB6B-473C-B4A1-48B3092577D7}" destId="{48FAAA8E-A08D-6146-8B57-457EADABE666}" srcOrd="0" destOrd="2" presId="urn:microsoft.com/office/officeart/2005/8/layout/arrow4"/>
    <dgm:cxn modelId="{ECB2292E-10A2-4908-9B42-ACDF6FE89E72}" type="presOf" srcId="{95287B55-E5D7-40F7-AE10-CBBF6EF738F5}" destId="{48FAAA8E-A08D-6146-8B57-457EADABE666}" srcOrd="0" destOrd="3" presId="urn:microsoft.com/office/officeart/2005/8/layout/arrow4"/>
    <dgm:cxn modelId="{75E9D55D-0582-4781-8546-070689F3F473}" srcId="{D6E55461-A1ED-1549-B148-C16F35E977F6}" destId="{722E1485-AB6B-473C-B4A1-48B3092577D7}" srcOrd="1" destOrd="0" parTransId="{33649897-2A4E-4E36-8A64-F38D9B562B18}" sibTransId="{B73124FB-4C3E-46F1-BA6E-1F50D4BE952C}"/>
    <dgm:cxn modelId="{BA35C84E-EA29-F245-917C-9B38AEE43A47}" srcId="{97C0C7C4-120E-334E-AC61-7BE0E7017C6C}" destId="{6A65FA09-3785-C549-A972-52AFA8EC8FE5}" srcOrd="0" destOrd="0" parTransId="{705C5FAD-47F3-3B44-AD19-A145162B51A8}" sibTransId="{D854DF7A-194F-3847-9A9E-B8E00EBC41A3}"/>
    <dgm:cxn modelId="{04BB826F-8042-0F4B-BD8B-78FA5714BDCF}" srcId="{74E11971-5984-FB4D-808C-C913769AB92D}" destId="{97C0C7C4-120E-334E-AC61-7BE0E7017C6C}" srcOrd="1" destOrd="0" parTransId="{BA3C18A4-01CF-B345-ABBD-0BF3ED634274}" sibTransId="{C11F33E5-9CF6-7E4A-AC98-740659F3377A}"/>
    <dgm:cxn modelId="{D366A975-CD76-3249-BCAF-7C43B8984AAC}" type="presOf" srcId="{6A65FA09-3785-C549-A972-52AFA8EC8FE5}" destId="{8F451FD7-07C1-D24E-88AE-8EE98D36D6A8}" srcOrd="0" destOrd="1" presId="urn:microsoft.com/office/officeart/2005/8/layout/arrow4"/>
    <dgm:cxn modelId="{952E6BA5-E8D5-4B4F-8C95-8FCD6C602C5A}" type="presOf" srcId="{D6E55461-A1ED-1549-B148-C16F35E977F6}" destId="{48FAAA8E-A08D-6146-8B57-457EADABE666}" srcOrd="0" destOrd="0" presId="urn:microsoft.com/office/officeart/2005/8/layout/arrow4"/>
    <dgm:cxn modelId="{506EFBB5-367C-43F0-8A9F-923FFA4315F2}" srcId="{D6E55461-A1ED-1549-B148-C16F35E977F6}" destId="{A6BFBBFA-8BD4-4AEE-86DD-755DF10F66E7}" srcOrd="0" destOrd="0" parTransId="{CFC58E58-54ED-4FD6-9F93-FD5D00EBAF8C}" sibTransId="{B31B9082-0B9C-4AAD-A4B7-EC9EC8DCD135}"/>
    <dgm:cxn modelId="{BB5492B6-E530-4909-BCF0-34A2E21D7D2D}" type="presOf" srcId="{A6BFBBFA-8BD4-4AEE-86DD-755DF10F66E7}" destId="{48FAAA8E-A08D-6146-8B57-457EADABE666}" srcOrd="0" destOrd="1" presId="urn:microsoft.com/office/officeart/2005/8/layout/arrow4"/>
    <dgm:cxn modelId="{211BF6B8-C46E-3C47-968F-FE4EE3689707}" type="presOf" srcId="{4DBA5133-7FD1-4442-B1AC-3D67519BC42F}" destId="{8F451FD7-07C1-D24E-88AE-8EE98D36D6A8}" srcOrd="0" destOrd="2" presId="urn:microsoft.com/office/officeart/2005/8/layout/arrow4"/>
    <dgm:cxn modelId="{DD12D7C2-6387-46B8-85E8-16256F9FCEF4}" srcId="{D6E55461-A1ED-1549-B148-C16F35E977F6}" destId="{95287B55-E5D7-40F7-AE10-CBBF6EF738F5}" srcOrd="2" destOrd="0" parTransId="{AB860B3B-E77B-4E80-9B15-42B87B7BC18F}" sibTransId="{77567D33-2E63-485A-B669-3584BDA82E3A}"/>
    <dgm:cxn modelId="{F23669C9-D12E-9E4A-8F25-2923E9D4D868}" type="presOf" srcId="{97C0C7C4-120E-334E-AC61-7BE0E7017C6C}" destId="{8F451FD7-07C1-D24E-88AE-8EE98D36D6A8}" srcOrd="0" destOrd="0" presId="urn:microsoft.com/office/officeart/2005/8/layout/arrow4"/>
    <dgm:cxn modelId="{CA85B9D8-B7CD-3947-811E-B8C8128B2DF8}" type="presOf" srcId="{74E11971-5984-FB4D-808C-C913769AB92D}" destId="{28CF0727-D620-3446-A0BB-234F3056F8D9}" srcOrd="0" destOrd="0" presId="urn:microsoft.com/office/officeart/2005/8/layout/arrow4"/>
    <dgm:cxn modelId="{E9AEDBCE-733E-BC4D-B637-279E9D9CF5E3}" type="presParOf" srcId="{28CF0727-D620-3446-A0BB-234F3056F8D9}" destId="{BFE2DD38-065C-4B4B-9D04-50857136CFF3}" srcOrd="0" destOrd="0" presId="urn:microsoft.com/office/officeart/2005/8/layout/arrow4"/>
    <dgm:cxn modelId="{64C1A942-A6C7-2D44-B35E-AC02B6DBEB1C}" type="presParOf" srcId="{28CF0727-D620-3446-A0BB-234F3056F8D9}" destId="{48FAAA8E-A08D-6146-8B57-457EADABE666}" srcOrd="1" destOrd="0" presId="urn:microsoft.com/office/officeart/2005/8/layout/arrow4"/>
    <dgm:cxn modelId="{ADB1432F-539F-BE44-B5BE-41EF55838EF0}" type="presParOf" srcId="{28CF0727-D620-3446-A0BB-234F3056F8D9}" destId="{C528ED87-2622-5445-A524-3B42DFF6F4F9}" srcOrd="2" destOrd="0" presId="urn:microsoft.com/office/officeart/2005/8/layout/arrow4"/>
    <dgm:cxn modelId="{87A56ABD-AB7A-CC4E-86DA-173DB7964B09}" type="presParOf" srcId="{28CF0727-D620-3446-A0BB-234F3056F8D9}" destId="{8F451FD7-07C1-D24E-88AE-8EE98D36D6A8}"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CCE67F-8DB1-4E40-94AC-EE5A6D777C69}" type="doc">
      <dgm:prSet loTypeId="urn:microsoft.com/office/officeart/2005/8/layout/list1" loCatId="list" qsTypeId="urn:microsoft.com/office/officeart/2005/8/quickstyle/3D1" qsCatId="3D" csTypeId="urn:microsoft.com/office/officeart/2005/8/colors/accent1_2" csCatId="accent1" phldr="1"/>
      <dgm:spPr/>
      <dgm:t>
        <a:bodyPr/>
        <a:lstStyle/>
        <a:p>
          <a:endParaRPr lang="en-US"/>
        </a:p>
      </dgm:t>
    </dgm:pt>
    <dgm:pt modelId="{587619E7-CBA2-2243-8374-6D19F65A2E4C}">
      <dgm:prSet custT="1"/>
      <dgm:spPr/>
      <dgm:t>
        <a:bodyPr/>
        <a:lstStyle/>
        <a:p>
          <a:r>
            <a:rPr lang="en-US" sz="2000" b="1" dirty="0">
              <a:effectLst>
                <a:outerShdw blurRad="38100" dist="38100" dir="2700000" algn="tl">
                  <a:srgbClr val="000000">
                    <a:alpha val="43137"/>
                  </a:srgbClr>
                </a:outerShdw>
              </a:effectLst>
            </a:rPr>
            <a:t>Block Cipher</a:t>
          </a:r>
        </a:p>
      </dgm:t>
    </dgm:pt>
    <dgm:pt modelId="{B2686974-9B07-084D-9284-3162383E72A1}" type="parTrans" cxnId="{6A55A77F-C429-0D4D-9F12-26BC8EA05792}">
      <dgm:prSet/>
      <dgm:spPr/>
      <dgm:t>
        <a:bodyPr/>
        <a:lstStyle/>
        <a:p>
          <a:endParaRPr lang="en-US"/>
        </a:p>
      </dgm:t>
    </dgm:pt>
    <dgm:pt modelId="{50AE24B3-1916-2B4F-8D77-598476DA2E84}" type="sibTrans" cxnId="{6A55A77F-C429-0D4D-9F12-26BC8EA05792}">
      <dgm:prSet/>
      <dgm:spPr/>
      <dgm:t>
        <a:bodyPr/>
        <a:lstStyle/>
        <a:p>
          <a:endParaRPr lang="en-US"/>
        </a:p>
      </dgm:t>
    </dgm:pt>
    <dgm:pt modelId="{AA438D01-5622-EB4A-83E9-112C44396E6F}">
      <dgm:prSet/>
      <dgm:spPr/>
      <dgm:t>
        <a:bodyPr/>
        <a:lstStyle/>
        <a:p>
          <a:r>
            <a:rPr lang="en-US" dirty="0">
              <a:latin typeface="+mj-lt"/>
            </a:rPr>
            <a:t>Processes the input one block of elements at a time</a:t>
          </a:r>
        </a:p>
      </dgm:t>
    </dgm:pt>
    <dgm:pt modelId="{91D55F56-C06F-9941-AE2F-7D3973533531}" type="parTrans" cxnId="{41FB2C55-7C78-B142-AA1D-22BC6A0CE61F}">
      <dgm:prSet/>
      <dgm:spPr/>
      <dgm:t>
        <a:bodyPr/>
        <a:lstStyle/>
        <a:p>
          <a:endParaRPr lang="en-US"/>
        </a:p>
      </dgm:t>
    </dgm:pt>
    <dgm:pt modelId="{2DCA53C8-7768-164E-88EE-560BBAF09B5B}" type="sibTrans" cxnId="{41FB2C55-7C78-B142-AA1D-22BC6A0CE61F}">
      <dgm:prSet/>
      <dgm:spPr/>
      <dgm:t>
        <a:bodyPr/>
        <a:lstStyle/>
        <a:p>
          <a:endParaRPr lang="en-US"/>
        </a:p>
      </dgm:t>
    </dgm:pt>
    <dgm:pt modelId="{B8E05236-2378-5B48-8C79-EADF58DE9CFD}">
      <dgm:prSet/>
      <dgm:spPr/>
      <dgm:t>
        <a:bodyPr/>
        <a:lstStyle/>
        <a:p>
          <a:r>
            <a:rPr lang="en-US" dirty="0">
              <a:latin typeface="+mj-lt"/>
            </a:rPr>
            <a:t>Produces an output block for each input block</a:t>
          </a:r>
        </a:p>
      </dgm:t>
    </dgm:pt>
    <dgm:pt modelId="{7104CB8C-41AA-624A-B42E-B626E8E99D6D}" type="parTrans" cxnId="{E3825432-21F8-AE47-B8B9-E0441C6BE69F}">
      <dgm:prSet/>
      <dgm:spPr/>
      <dgm:t>
        <a:bodyPr/>
        <a:lstStyle/>
        <a:p>
          <a:endParaRPr lang="en-US"/>
        </a:p>
      </dgm:t>
    </dgm:pt>
    <dgm:pt modelId="{425A5DAF-ED48-CF4C-B534-ADCB8F1F70F3}" type="sibTrans" cxnId="{E3825432-21F8-AE47-B8B9-E0441C6BE69F}">
      <dgm:prSet/>
      <dgm:spPr/>
      <dgm:t>
        <a:bodyPr/>
        <a:lstStyle/>
        <a:p>
          <a:endParaRPr lang="en-US"/>
        </a:p>
      </dgm:t>
    </dgm:pt>
    <dgm:pt modelId="{77412DC5-DE60-C242-AB72-782CD5818090}">
      <dgm:prSet/>
      <dgm:spPr/>
      <dgm:t>
        <a:bodyPr/>
        <a:lstStyle/>
        <a:p>
          <a:r>
            <a:rPr lang="en-US" dirty="0">
              <a:latin typeface="+mj-lt"/>
            </a:rPr>
            <a:t>Can reuse keys</a:t>
          </a:r>
        </a:p>
      </dgm:t>
    </dgm:pt>
    <dgm:pt modelId="{204CE34E-694E-B445-9A13-0FED24D91770}" type="parTrans" cxnId="{8A0D62AA-8484-E24B-BEF7-78F1B860D326}">
      <dgm:prSet/>
      <dgm:spPr/>
      <dgm:t>
        <a:bodyPr/>
        <a:lstStyle/>
        <a:p>
          <a:endParaRPr lang="en-US"/>
        </a:p>
      </dgm:t>
    </dgm:pt>
    <dgm:pt modelId="{1B222651-8C35-524D-A629-59A8F5F4AA4A}" type="sibTrans" cxnId="{8A0D62AA-8484-E24B-BEF7-78F1B860D326}">
      <dgm:prSet/>
      <dgm:spPr/>
      <dgm:t>
        <a:bodyPr/>
        <a:lstStyle/>
        <a:p>
          <a:endParaRPr lang="en-US"/>
        </a:p>
      </dgm:t>
    </dgm:pt>
    <dgm:pt modelId="{E7079069-E772-EF4F-9C77-B1E7B043F7E6}">
      <dgm:prSet/>
      <dgm:spPr/>
      <dgm:t>
        <a:bodyPr/>
        <a:lstStyle/>
        <a:p>
          <a:r>
            <a:rPr lang="en-US" dirty="0">
              <a:latin typeface="+mj-lt"/>
            </a:rPr>
            <a:t>More common</a:t>
          </a:r>
        </a:p>
      </dgm:t>
    </dgm:pt>
    <dgm:pt modelId="{660144F7-BAC9-C644-9C0A-7705DDDFB2A4}" type="parTrans" cxnId="{1767A36A-96AD-3A4F-A204-B74E0CCE228C}">
      <dgm:prSet/>
      <dgm:spPr/>
      <dgm:t>
        <a:bodyPr/>
        <a:lstStyle/>
        <a:p>
          <a:endParaRPr lang="en-US"/>
        </a:p>
      </dgm:t>
    </dgm:pt>
    <dgm:pt modelId="{C55DD3D4-CCC3-6645-A3A2-F6E58E6909E0}" type="sibTrans" cxnId="{1767A36A-96AD-3A4F-A204-B74E0CCE228C}">
      <dgm:prSet/>
      <dgm:spPr/>
      <dgm:t>
        <a:bodyPr/>
        <a:lstStyle/>
        <a:p>
          <a:endParaRPr lang="en-US"/>
        </a:p>
      </dgm:t>
    </dgm:pt>
    <dgm:pt modelId="{7C5130F5-2623-7B4D-B064-6A321151D8DC}">
      <dgm:prSet custT="1"/>
      <dgm:spPr/>
      <dgm:t>
        <a:bodyPr/>
        <a:lstStyle/>
        <a:p>
          <a:r>
            <a:rPr lang="en-US" sz="2000" b="1">
              <a:effectLst>
                <a:outerShdw blurRad="38100" dist="38100" dir="2700000" algn="tl">
                  <a:srgbClr val="000000">
                    <a:alpha val="43137"/>
                  </a:srgbClr>
                </a:outerShdw>
              </a:effectLst>
            </a:rPr>
            <a:t>Stream Cipher</a:t>
          </a:r>
          <a:endParaRPr lang="en-US" sz="2000" b="1" dirty="0">
            <a:effectLst>
              <a:outerShdw blurRad="38100" dist="38100" dir="2700000" algn="tl">
                <a:srgbClr val="000000">
                  <a:alpha val="43137"/>
                </a:srgbClr>
              </a:outerShdw>
            </a:effectLst>
          </a:endParaRPr>
        </a:p>
      </dgm:t>
    </dgm:pt>
    <dgm:pt modelId="{C856D73D-20A4-0F42-8C31-23D66F850B27}" type="parTrans" cxnId="{C3221D56-EDA6-D643-8113-9CD967B13526}">
      <dgm:prSet/>
      <dgm:spPr/>
      <dgm:t>
        <a:bodyPr/>
        <a:lstStyle/>
        <a:p>
          <a:endParaRPr lang="en-US"/>
        </a:p>
      </dgm:t>
    </dgm:pt>
    <dgm:pt modelId="{970C6670-09A2-EA44-A6CA-58767FEAB60D}" type="sibTrans" cxnId="{C3221D56-EDA6-D643-8113-9CD967B13526}">
      <dgm:prSet/>
      <dgm:spPr/>
      <dgm:t>
        <a:bodyPr/>
        <a:lstStyle/>
        <a:p>
          <a:endParaRPr lang="en-US"/>
        </a:p>
      </dgm:t>
    </dgm:pt>
    <dgm:pt modelId="{463FF73A-063D-5B4E-89E0-0876D93FA45F}">
      <dgm:prSet/>
      <dgm:spPr/>
      <dgm:t>
        <a:bodyPr/>
        <a:lstStyle/>
        <a:p>
          <a:r>
            <a:rPr lang="en-US" dirty="0">
              <a:latin typeface="+mj-lt"/>
            </a:rPr>
            <a:t>Processes the input elements continuously</a:t>
          </a:r>
        </a:p>
      </dgm:t>
    </dgm:pt>
    <dgm:pt modelId="{2AFBE181-4D82-4049-A3BE-F259B5DD7BC0}" type="parTrans" cxnId="{0BD88234-0CFD-8A47-9697-69563B613A7C}">
      <dgm:prSet/>
      <dgm:spPr/>
      <dgm:t>
        <a:bodyPr/>
        <a:lstStyle/>
        <a:p>
          <a:endParaRPr lang="en-US"/>
        </a:p>
      </dgm:t>
    </dgm:pt>
    <dgm:pt modelId="{33616064-699C-FD44-8673-4DD4A8249F72}" type="sibTrans" cxnId="{0BD88234-0CFD-8A47-9697-69563B613A7C}">
      <dgm:prSet/>
      <dgm:spPr/>
      <dgm:t>
        <a:bodyPr/>
        <a:lstStyle/>
        <a:p>
          <a:endParaRPr lang="en-US"/>
        </a:p>
      </dgm:t>
    </dgm:pt>
    <dgm:pt modelId="{0FACDD0F-8549-9340-B902-491178B29EA1}">
      <dgm:prSet/>
      <dgm:spPr/>
      <dgm:t>
        <a:bodyPr/>
        <a:lstStyle/>
        <a:p>
          <a:r>
            <a:rPr lang="en-US" dirty="0">
              <a:latin typeface="+mj-lt"/>
            </a:rPr>
            <a:t>Produces output one element at a time</a:t>
          </a:r>
        </a:p>
      </dgm:t>
    </dgm:pt>
    <dgm:pt modelId="{A6AF0DD4-8188-EE4E-A092-8507BE0042FD}" type="parTrans" cxnId="{63851ADA-8D6D-0A46-A87E-8CEEB987F019}">
      <dgm:prSet/>
      <dgm:spPr/>
      <dgm:t>
        <a:bodyPr/>
        <a:lstStyle/>
        <a:p>
          <a:endParaRPr lang="en-US"/>
        </a:p>
      </dgm:t>
    </dgm:pt>
    <dgm:pt modelId="{7A54E453-4B89-594A-858B-429081116503}" type="sibTrans" cxnId="{63851ADA-8D6D-0A46-A87E-8CEEB987F019}">
      <dgm:prSet/>
      <dgm:spPr/>
      <dgm:t>
        <a:bodyPr/>
        <a:lstStyle/>
        <a:p>
          <a:endParaRPr lang="en-US"/>
        </a:p>
      </dgm:t>
    </dgm:pt>
    <dgm:pt modelId="{1C0DB200-A55C-6D40-B316-F045503C1635}">
      <dgm:prSet/>
      <dgm:spPr/>
      <dgm:t>
        <a:bodyPr/>
        <a:lstStyle/>
        <a:p>
          <a:r>
            <a:rPr lang="en-US" dirty="0">
              <a:latin typeface="+mj-lt"/>
            </a:rPr>
            <a:t>Primary advantage is that they are almost always faster and use far less code</a:t>
          </a:r>
        </a:p>
      </dgm:t>
    </dgm:pt>
    <dgm:pt modelId="{B22FE74D-A3E0-FC4B-A9DB-2C72FF21BAC5}" type="parTrans" cxnId="{77A3E82B-0054-E848-8AAD-6645C79EBF7E}">
      <dgm:prSet/>
      <dgm:spPr/>
      <dgm:t>
        <a:bodyPr/>
        <a:lstStyle/>
        <a:p>
          <a:endParaRPr lang="en-US"/>
        </a:p>
      </dgm:t>
    </dgm:pt>
    <dgm:pt modelId="{8764260A-DD97-A849-A115-1852886EA6EA}" type="sibTrans" cxnId="{77A3E82B-0054-E848-8AAD-6645C79EBF7E}">
      <dgm:prSet/>
      <dgm:spPr/>
      <dgm:t>
        <a:bodyPr/>
        <a:lstStyle/>
        <a:p>
          <a:endParaRPr lang="en-US"/>
        </a:p>
      </dgm:t>
    </dgm:pt>
    <dgm:pt modelId="{A9F5D9F8-5C34-D34E-9105-AD3767893546}">
      <dgm:prSet/>
      <dgm:spPr/>
      <dgm:t>
        <a:bodyPr/>
        <a:lstStyle/>
        <a:p>
          <a:r>
            <a:rPr lang="en-US" dirty="0">
              <a:latin typeface="+mj-lt"/>
            </a:rPr>
            <a:t>Encrypts plaintext one byte at a time</a:t>
          </a:r>
        </a:p>
      </dgm:t>
    </dgm:pt>
    <dgm:pt modelId="{1C412B15-0140-A646-9E0C-06D173B23765}" type="parTrans" cxnId="{17D80330-CCFD-3D4D-87FA-851A38849793}">
      <dgm:prSet/>
      <dgm:spPr/>
      <dgm:t>
        <a:bodyPr/>
        <a:lstStyle/>
        <a:p>
          <a:endParaRPr lang="en-US"/>
        </a:p>
      </dgm:t>
    </dgm:pt>
    <dgm:pt modelId="{CD0499F7-0DEC-674A-83D3-22BB5A97D8C4}" type="sibTrans" cxnId="{17D80330-CCFD-3D4D-87FA-851A38849793}">
      <dgm:prSet/>
      <dgm:spPr/>
      <dgm:t>
        <a:bodyPr/>
        <a:lstStyle/>
        <a:p>
          <a:endParaRPr lang="en-US"/>
        </a:p>
      </dgm:t>
    </dgm:pt>
    <dgm:pt modelId="{F3F48BE8-1A70-4548-BA50-6AB076E8BCDC}">
      <dgm:prSet/>
      <dgm:spPr/>
      <dgm:t>
        <a:bodyPr/>
        <a:lstStyle/>
        <a:p>
          <a:r>
            <a:rPr lang="en-US" dirty="0">
              <a:latin typeface="+mj-lt"/>
            </a:rPr>
            <a:t>Pseudorandom stream is one that is unpredictable without knowledge of the input key</a:t>
          </a:r>
        </a:p>
      </dgm:t>
    </dgm:pt>
    <dgm:pt modelId="{AA4E3655-08B1-3446-8F00-F6D692D95E8C}" type="parTrans" cxnId="{7FD0176B-4C8F-1F42-B5D5-99C79671A350}">
      <dgm:prSet/>
      <dgm:spPr/>
      <dgm:t>
        <a:bodyPr/>
        <a:lstStyle/>
        <a:p>
          <a:endParaRPr lang="en-US"/>
        </a:p>
      </dgm:t>
    </dgm:pt>
    <dgm:pt modelId="{E7E531E1-929C-2A42-8F50-4024D5D02956}" type="sibTrans" cxnId="{7FD0176B-4C8F-1F42-B5D5-99C79671A350}">
      <dgm:prSet/>
      <dgm:spPr/>
      <dgm:t>
        <a:bodyPr/>
        <a:lstStyle/>
        <a:p>
          <a:endParaRPr lang="en-US"/>
        </a:p>
      </dgm:t>
    </dgm:pt>
    <dgm:pt modelId="{EC314881-2384-A144-BA8C-DF1B6F604ACB}" type="pres">
      <dgm:prSet presAssocID="{0DCCE67F-8DB1-4E40-94AC-EE5A6D777C69}" presName="linear" presStyleCnt="0">
        <dgm:presLayoutVars>
          <dgm:dir/>
          <dgm:animLvl val="lvl"/>
          <dgm:resizeHandles val="exact"/>
        </dgm:presLayoutVars>
      </dgm:prSet>
      <dgm:spPr/>
    </dgm:pt>
    <dgm:pt modelId="{660E9ADF-B46D-8941-88EF-30561659F258}" type="pres">
      <dgm:prSet presAssocID="{587619E7-CBA2-2243-8374-6D19F65A2E4C}" presName="parentLin" presStyleCnt="0"/>
      <dgm:spPr/>
    </dgm:pt>
    <dgm:pt modelId="{C2965011-AB65-384F-AF9D-74BA3282A275}" type="pres">
      <dgm:prSet presAssocID="{587619E7-CBA2-2243-8374-6D19F65A2E4C}" presName="parentLeftMargin" presStyleLbl="node1" presStyleIdx="0" presStyleCnt="2"/>
      <dgm:spPr/>
    </dgm:pt>
    <dgm:pt modelId="{079F0438-4146-1C44-B03D-FC56A77BC902}" type="pres">
      <dgm:prSet presAssocID="{587619E7-CBA2-2243-8374-6D19F65A2E4C}" presName="parentText" presStyleLbl="node1" presStyleIdx="0" presStyleCnt="2" custScaleX="43769" custLinFactX="78419" custLinFactNeighborX="100000" custLinFactNeighborY="-24568">
        <dgm:presLayoutVars>
          <dgm:chMax val="0"/>
          <dgm:bulletEnabled val="1"/>
        </dgm:presLayoutVars>
      </dgm:prSet>
      <dgm:spPr/>
    </dgm:pt>
    <dgm:pt modelId="{DC28D010-1D1D-F14C-89D3-ABE47A5DBBD2}" type="pres">
      <dgm:prSet presAssocID="{587619E7-CBA2-2243-8374-6D19F65A2E4C}" presName="negativeSpace" presStyleCnt="0"/>
      <dgm:spPr/>
    </dgm:pt>
    <dgm:pt modelId="{9DA0C844-4653-3B4A-877A-42D10E7D552F}" type="pres">
      <dgm:prSet presAssocID="{587619E7-CBA2-2243-8374-6D19F65A2E4C}" presName="childText" presStyleLbl="conFgAcc1" presStyleIdx="0" presStyleCnt="2">
        <dgm:presLayoutVars>
          <dgm:bulletEnabled val="1"/>
        </dgm:presLayoutVars>
      </dgm:prSet>
      <dgm:spPr/>
    </dgm:pt>
    <dgm:pt modelId="{7E3ADE7E-40E4-C64D-BE0C-4913CCDDAB20}" type="pres">
      <dgm:prSet presAssocID="{50AE24B3-1916-2B4F-8D77-598476DA2E84}" presName="spaceBetweenRectangles" presStyleCnt="0"/>
      <dgm:spPr/>
    </dgm:pt>
    <dgm:pt modelId="{66D8A165-4E1A-2C49-8B98-40CC6644B741}" type="pres">
      <dgm:prSet presAssocID="{7C5130F5-2623-7B4D-B064-6A321151D8DC}" presName="parentLin" presStyleCnt="0"/>
      <dgm:spPr/>
    </dgm:pt>
    <dgm:pt modelId="{C8D69397-E8AE-F84B-92EF-2C48DFBA2611}" type="pres">
      <dgm:prSet presAssocID="{7C5130F5-2623-7B4D-B064-6A321151D8DC}" presName="parentLeftMargin" presStyleLbl="node1" presStyleIdx="0" presStyleCnt="2"/>
      <dgm:spPr/>
    </dgm:pt>
    <dgm:pt modelId="{C08EB4B2-2F49-7346-B3F8-4571FBD25FDB}" type="pres">
      <dgm:prSet presAssocID="{7C5130F5-2623-7B4D-B064-6A321151D8DC}" presName="parentText" presStyleLbl="node1" presStyleIdx="1" presStyleCnt="2" custScaleX="48937" custLinFactNeighborX="6383" custLinFactNeighborY="33283">
        <dgm:presLayoutVars>
          <dgm:chMax val="0"/>
          <dgm:bulletEnabled val="1"/>
        </dgm:presLayoutVars>
      </dgm:prSet>
      <dgm:spPr/>
    </dgm:pt>
    <dgm:pt modelId="{77D54539-AAA7-204C-924D-C1DFAC565B48}" type="pres">
      <dgm:prSet presAssocID="{7C5130F5-2623-7B4D-B064-6A321151D8DC}" presName="negativeSpace" presStyleCnt="0"/>
      <dgm:spPr/>
    </dgm:pt>
    <dgm:pt modelId="{50C2B052-D272-0C4B-BC34-52ECD042C19E}" type="pres">
      <dgm:prSet presAssocID="{7C5130F5-2623-7B4D-B064-6A321151D8DC}" presName="childText" presStyleLbl="conFgAcc1" presStyleIdx="1" presStyleCnt="2" custLinFactNeighborX="1064" custLinFactNeighborY="42570">
        <dgm:presLayoutVars>
          <dgm:bulletEnabled val="1"/>
        </dgm:presLayoutVars>
      </dgm:prSet>
      <dgm:spPr/>
    </dgm:pt>
  </dgm:ptLst>
  <dgm:cxnLst>
    <dgm:cxn modelId="{6D20BB13-2AD3-FC4B-864A-60048C7E7205}" type="presOf" srcId="{0FACDD0F-8549-9340-B902-491178B29EA1}" destId="{50C2B052-D272-0C4B-BC34-52ECD042C19E}" srcOrd="0" destOrd="1" presId="urn:microsoft.com/office/officeart/2005/8/layout/list1"/>
    <dgm:cxn modelId="{64679F17-3A31-7E4D-A4C1-0B66877585EF}" type="presOf" srcId="{E7079069-E772-EF4F-9C77-B1E7B043F7E6}" destId="{9DA0C844-4653-3B4A-877A-42D10E7D552F}" srcOrd="0" destOrd="3" presId="urn:microsoft.com/office/officeart/2005/8/layout/list1"/>
    <dgm:cxn modelId="{3BDCEA1E-EC33-7C45-A6FF-18355745596A}" type="presOf" srcId="{B8E05236-2378-5B48-8C79-EADF58DE9CFD}" destId="{9DA0C844-4653-3B4A-877A-42D10E7D552F}" srcOrd="0" destOrd="1" presId="urn:microsoft.com/office/officeart/2005/8/layout/list1"/>
    <dgm:cxn modelId="{77A3E82B-0054-E848-8AAD-6645C79EBF7E}" srcId="{7C5130F5-2623-7B4D-B064-6A321151D8DC}" destId="{1C0DB200-A55C-6D40-B316-F045503C1635}" srcOrd="2" destOrd="0" parTransId="{B22FE74D-A3E0-FC4B-A9DB-2C72FF21BAC5}" sibTransId="{8764260A-DD97-A849-A115-1852886EA6EA}"/>
    <dgm:cxn modelId="{17D80330-CCFD-3D4D-87FA-851A38849793}" srcId="{7C5130F5-2623-7B4D-B064-6A321151D8DC}" destId="{A9F5D9F8-5C34-D34E-9105-AD3767893546}" srcOrd="3" destOrd="0" parTransId="{1C412B15-0140-A646-9E0C-06D173B23765}" sibTransId="{CD0499F7-0DEC-674A-83D3-22BB5A97D8C4}"/>
    <dgm:cxn modelId="{E3825432-21F8-AE47-B8B9-E0441C6BE69F}" srcId="{587619E7-CBA2-2243-8374-6D19F65A2E4C}" destId="{B8E05236-2378-5B48-8C79-EADF58DE9CFD}" srcOrd="1" destOrd="0" parTransId="{7104CB8C-41AA-624A-B42E-B626E8E99D6D}" sibTransId="{425A5DAF-ED48-CF4C-B534-ADCB8F1F70F3}"/>
    <dgm:cxn modelId="{15101433-B267-2141-B0A1-76C3BD6038F5}" type="presOf" srcId="{AA438D01-5622-EB4A-83E9-112C44396E6F}" destId="{9DA0C844-4653-3B4A-877A-42D10E7D552F}" srcOrd="0" destOrd="0" presId="urn:microsoft.com/office/officeart/2005/8/layout/list1"/>
    <dgm:cxn modelId="{0BD88234-0CFD-8A47-9697-69563B613A7C}" srcId="{7C5130F5-2623-7B4D-B064-6A321151D8DC}" destId="{463FF73A-063D-5B4E-89E0-0876D93FA45F}" srcOrd="0" destOrd="0" parTransId="{2AFBE181-4D82-4049-A3BE-F259B5DD7BC0}" sibTransId="{33616064-699C-FD44-8673-4DD4A8249F72}"/>
    <dgm:cxn modelId="{C687533F-606C-224E-9CDD-4EBD72F42FED}" type="presOf" srcId="{0DCCE67F-8DB1-4E40-94AC-EE5A6D777C69}" destId="{EC314881-2384-A144-BA8C-DF1B6F604ACB}" srcOrd="0" destOrd="0" presId="urn:microsoft.com/office/officeart/2005/8/layout/list1"/>
    <dgm:cxn modelId="{1767A36A-96AD-3A4F-A204-B74E0CCE228C}" srcId="{587619E7-CBA2-2243-8374-6D19F65A2E4C}" destId="{E7079069-E772-EF4F-9C77-B1E7B043F7E6}" srcOrd="3" destOrd="0" parTransId="{660144F7-BAC9-C644-9C0A-7705DDDFB2A4}" sibTransId="{C55DD3D4-CCC3-6645-A3A2-F6E58E6909E0}"/>
    <dgm:cxn modelId="{0F7BAC4A-7ADE-3F4E-BE47-D63A68B80600}" type="presOf" srcId="{587619E7-CBA2-2243-8374-6D19F65A2E4C}" destId="{C2965011-AB65-384F-AF9D-74BA3282A275}" srcOrd="0" destOrd="0" presId="urn:microsoft.com/office/officeart/2005/8/layout/list1"/>
    <dgm:cxn modelId="{7FD0176B-4C8F-1F42-B5D5-99C79671A350}" srcId="{7C5130F5-2623-7B4D-B064-6A321151D8DC}" destId="{F3F48BE8-1A70-4548-BA50-6AB076E8BCDC}" srcOrd="4" destOrd="0" parTransId="{AA4E3655-08B1-3446-8F00-F6D692D95E8C}" sibTransId="{E7E531E1-929C-2A42-8F50-4024D5D02956}"/>
    <dgm:cxn modelId="{41FB2C55-7C78-B142-AA1D-22BC6A0CE61F}" srcId="{587619E7-CBA2-2243-8374-6D19F65A2E4C}" destId="{AA438D01-5622-EB4A-83E9-112C44396E6F}" srcOrd="0" destOrd="0" parTransId="{91D55F56-C06F-9941-AE2F-7D3973533531}" sibTransId="{2DCA53C8-7768-164E-88EE-560BBAF09B5B}"/>
    <dgm:cxn modelId="{C3221D56-EDA6-D643-8113-9CD967B13526}" srcId="{0DCCE67F-8DB1-4E40-94AC-EE5A6D777C69}" destId="{7C5130F5-2623-7B4D-B064-6A321151D8DC}" srcOrd="1" destOrd="0" parTransId="{C856D73D-20A4-0F42-8C31-23D66F850B27}" sibTransId="{970C6670-09A2-EA44-A6CA-58767FEAB60D}"/>
    <dgm:cxn modelId="{CF6FA177-F5E5-AC4D-9A40-A92CEEAEB304}" type="presOf" srcId="{F3F48BE8-1A70-4548-BA50-6AB076E8BCDC}" destId="{50C2B052-D272-0C4B-BC34-52ECD042C19E}" srcOrd="0" destOrd="4" presId="urn:microsoft.com/office/officeart/2005/8/layout/list1"/>
    <dgm:cxn modelId="{C2616659-95B8-F743-B615-3ADBB467360C}" type="presOf" srcId="{7C5130F5-2623-7B4D-B064-6A321151D8DC}" destId="{C8D69397-E8AE-F84B-92EF-2C48DFBA2611}" srcOrd="0" destOrd="0" presId="urn:microsoft.com/office/officeart/2005/8/layout/list1"/>
    <dgm:cxn modelId="{9DF3C77E-A9EC-5640-995C-23514458B935}" type="presOf" srcId="{463FF73A-063D-5B4E-89E0-0876D93FA45F}" destId="{50C2B052-D272-0C4B-BC34-52ECD042C19E}" srcOrd="0" destOrd="0" presId="urn:microsoft.com/office/officeart/2005/8/layout/list1"/>
    <dgm:cxn modelId="{6A55A77F-C429-0D4D-9F12-26BC8EA05792}" srcId="{0DCCE67F-8DB1-4E40-94AC-EE5A6D777C69}" destId="{587619E7-CBA2-2243-8374-6D19F65A2E4C}" srcOrd="0" destOrd="0" parTransId="{B2686974-9B07-084D-9284-3162383E72A1}" sibTransId="{50AE24B3-1916-2B4F-8D77-598476DA2E84}"/>
    <dgm:cxn modelId="{0A38F484-84AD-164D-98DC-A66B5583D409}" type="presOf" srcId="{A9F5D9F8-5C34-D34E-9105-AD3767893546}" destId="{50C2B052-D272-0C4B-BC34-52ECD042C19E}" srcOrd="0" destOrd="3" presId="urn:microsoft.com/office/officeart/2005/8/layout/list1"/>
    <dgm:cxn modelId="{75F8E48E-10D9-404F-A98A-561FB58340AB}" type="presOf" srcId="{1C0DB200-A55C-6D40-B316-F045503C1635}" destId="{50C2B052-D272-0C4B-BC34-52ECD042C19E}" srcOrd="0" destOrd="2" presId="urn:microsoft.com/office/officeart/2005/8/layout/list1"/>
    <dgm:cxn modelId="{AF05B4A5-2249-0341-8FED-89EB514E7C91}" type="presOf" srcId="{7C5130F5-2623-7B4D-B064-6A321151D8DC}" destId="{C08EB4B2-2F49-7346-B3F8-4571FBD25FDB}" srcOrd="1" destOrd="0" presId="urn:microsoft.com/office/officeart/2005/8/layout/list1"/>
    <dgm:cxn modelId="{8A0D62AA-8484-E24B-BEF7-78F1B860D326}" srcId="{587619E7-CBA2-2243-8374-6D19F65A2E4C}" destId="{77412DC5-DE60-C242-AB72-782CD5818090}" srcOrd="2" destOrd="0" parTransId="{204CE34E-694E-B445-9A13-0FED24D91770}" sibTransId="{1B222651-8C35-524D-A629-59A8F5F4AA4A}"/>
    <dgm:cxn modelId="{590036CB-FFD2-D044-887D-83BC46A868BE}" type="presOf" srcId="{77412DC5-DE60-C242-AB72-782CD5818090}" destId="{9DA0C844-4653-3B4A-877A-42D10E7D552F}" srcOrd="0" destOrd="2" presId="urn:microsoft.com/office/officeart/2005/8/layout/list1"/>
    <dgm:cxn modelId="{63851ADA-8D6D-0A46-A87E-8CEEB987F019}" srcId="{7C5130F5-2623-7B4D-B064-6A321151D8DC}" destId="{0FACDD0F-8549-9340-B902-491178B29EA1}" srcOrd="1" destOrd="0" parTransId="{A6AF0DD4-8188-EE4E-A092-8507BE0042FD}" sibTransId="{7A54E453-4B89-594A-858B-429081116503}"/>
    <dgm:cxn modelId="{9587F7F2-B4FE-7248-9140-8797B58A9CA1}" type="presOf" srcId="{587619E7-CBA2-2243-8374-6D19F65A2E4C}" destId="{079F0438-4146-1C44-B03D-FC56A77BC902}" srcOrd="1" destOrd="0" presId="urn:microsoft.com/office/officeart/2005/8/layout/list1"/>
    <dgm:cxn modelId="{2CB6916A-5428-C643-ADC0-22F51F862B9A}" type="presParOf" srcId="{EC314881-2384-A144-BA8C-DF1B6F604ACB}" destId="{660E9ADF-B46D-8941-88EF-30561659F258}" srcOrd="0" destOrd="0" presId="urn:microsoft.com/office/officeart/2005/8/layout/list1"/>
    <dgm:cxn modelId="{9E17E8D1-EC18-374A-BBDA-9F1BF0FB426C}" type="presParOf" srcId="{660E9ADF-B46D-8941-88EF-30561659F258}" destId="{C2965011-AB65-384F-AF9D-74BA3282A275}" srcOrd="0" destOrd="0" presId="urn:microsoft.com/office/officeart/2005/8/layout/list1"/>
    <dgm:cxn modelId="{1F32D446-E450-2146-954A-0BC43EA01808}" type="presParOf" srcId="{660E9ADF-B46D-8941-88EF-30561659F258}" destId="{079F0438-4146-1C44-B03D-FC56A77BC902}" srcOrd="1" destOrd="0" presId="urn:microsoft.com/office/officeart/2005/8/layout/list1"/>
    <dgm:cxn modelId="{7F11F33D-244E-994B-90E1-32579FB07AAB}" type="presParOf" srcId="{EC314881-2384-A144-BA8C-DF1B6F604ACB}" destId="{DC28D010-1D1D-F14C-89D3-ABE47A5DBBD2}" srcOrd="1" destOrd="0" presId="urn:microsoft.com/office/officeart/2005/8/layout/list1"/>
    <dgm:cxn modelId="{D8E535AF-55FD-6540-8891-C77F3FCB8062}" type="presParOf" srcId="{EC314881-2384-A144-BA8C-DF1B6F604ACB}" destId="{9DA0C844-4653-3B4A-877A-42D10E7D552F}" srcOrd="2" destOrd="0" presId="urn:microsoft.com/office/officeart/2005/8/layout/list1"/>
    <dgm:cxn modelId="{CA2718D4-8E90-EB4F-939D-E1CB5F0EF164}" type="presParOf" srcId="{EC314881-2384-A144-BA8C-DF1B6F604ACB}" destId="{7E3ADE7E-40E4-C64D-BE0C-4913CCDDAB20}" srcOrd="3" destOrd="0" presId="urn:microsoft.com/office/officeart/2005/8/layout/list1"/>
    <dgm:cxn modelId="{806599F2-EB77-1448-8420-C876B23731C8}" type="presParOf" srcId="{EC314881-2384-A144-BA8C-DF1B6F604ACB}" destId="{66D8A165-4E1A-2C49-8B98-40CC6644B741}" srcOrd="4" destOrd="0" presId="urn:microsoft.com/office/officeart/2005/8/layout/list1"/>
    <dgm:cxn modelId="{67C20C6B-E8D1-EF41-82A1-AFA68A78B6B8}" type="presParOf" srcId="{66D8A165-4E1A-2C49-8B98-40CC6644B741}" destId="{C8D69397-E8AE-F84B-92EF-2C48DFBA2611}" srcOrd="0" destOrd="0" presId="urn:microsoft.com/office/officeart/2005/8/layout/list1"/>
    <dgm:cxn modelId="{A4D0B12B-5AF6-3A45-BB04-DD0C23A0C65C}" type="presParOf" srcId="{66D8A165-4E1A-2C49-8B98-40CC6644B741}" destId="{C08EB4B2-2F49-7346-B3F8-4571FBD25FDB}" srcOrd="1" destOrd="0" presId="urn:microsoft.com/office/officeart/2005/8/layout/list1"/>
    <dgm:cxn modelId="{8CCE2561-1F56-2949-B9E8-795BEB665EFB}" type="presParOf" srcId="{EC314881-2384-A144-BA8C-DF1B6F604ACB}" destId="{77D54539-AAA7-204C-924D-C1DFAC565B48}" srcOrd="5" destOrd="0" presId="urn:microsoft.com/office/officeart/2005/8/layout/list1"/>
    <dgm:cxn modelId="{42E75BBA-83D8-3C41-8EC0-C4BB134A5292}" type="presParOf" srcId="{EC314881-2384-A144-BA8C-DF1B6F604ACB}" destId="{50C2B052-D272-0C4B-BC34-52ECD042C19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2DD38-065C-4B4B-9D04-50857136CFF3}">
      <dsp:nvSpPr>
        <dsp:cNvPr id="0" name=""/>
        <dsp:cNvSpPr/>
      </dsp:nvSpPr>
      <dsp:spPr>
        <a:xfrm>
          <a:off x="0" y="265464"/>
          <a:ext cx="1901158" cy="1863223"/>
        </a:xfrm>
        <a:prstGeom prst="upArrow">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48FAAA8E-A08D-6146-8B57-457EADABE666}">
      <dsp:nvSpPr>
        <dsp:cNvPr id="0" name=""/>
        <dsp:cNvSpPr/>
      </dsp:nvSpPr>
      <dsp:spPr>
        <a:xfrm>
          <a:off x="1733106" y="92541"/>
          <a:ext cx="6712526" cy="273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0" rIns="170688" bIns="170688" numCol="1" spcCol="1270" anchor="ctr" anchorCtr="0">
          <a:noAutofit/>
        </a:bodyPr>
        <a:lstStyle/>
        <a:p>
          <a:pPr marL="342900" lvl="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None/>
            <a:defRPr/>
          </a:pPr>
          <a:r>
            <a:rPr lang="en-US" sz="2400" b="0" kern="1200" dirty="0">
              <a:latin typeface="+mj-lt"/>
              <a:ea typeface="+mn-ea"/>
              <a:cs typeface="+mn-cs"/>
            </a:rPr>
            <a:t>- The most widely used encryption</a:t>
          </a:r>
        </a:p>
        <a:p>
          <a:pPr marL="342900" lvl="1"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Uses 64 bit plaintext block and</a:t>
          </a:r>
          <a:endParaRPr lang="en-US" sz="2400" b="0" kern="1200" dirty="0">
            <a:latin typeface="+mj-lt"/>
            <a:ea typeface="+mn-ea"/>
            <a:cs typeface="+mn-cs"/>
          </a:endParaRPr>
        </a:p>
        <a:p>
          <a:pPr marL="342900" lvl="1"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56 bit key</a:t>
          </a:r>
          <a:endParaRPr lang="en-US" sz="2400" b="0" kern="1200" dirty="0">
            <a:latin typeface="+mj-lt"/>
            <a:ea typeface="+mn-ea"/>
            <a:cs typeface="+mn-cs"/>
          </a:endParaRPr>
        </a:p>
        <a:p>
          <a:pPr marL="342900" lvl="1"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to produce a 64 bit ciphertext block</a:t>
          </a:r>
          <a:endParaRPr lang="en-US" sz="2400" b="0" kern="1200" dirty="0">
            <a:latin typeface="+mj-lt"/>
            <a:ea typeface="+mn-ea"/>
            <a:cs typeface="+mn-cs"/>
          </a:endParaRPr>
        </a:p>
      </dsp:txBody>
      <dsp:txXfrm>
        <a:off x="1733106" y="92541"/>
        <a:ext cx="6712526" cy="2735339"/>
      </dsp:txXfrm>
    </dsp:sp>
    <dsp:sp modelId="{C528ED87-2622-5445-A524-3B42DFF6F4F9}">
      <dsp:nvSpPr>
        <dsp:cNvPr id="0" name=""/>
        <dsp:cNvSpPr/>
      </dsp:nvSpPr>
      <dsp:spPr>
        <a:xfrm>
          <a:off x="576058" y="2952324"/>
          <a:ext cx="1940545" cy="1745231"/>
        </a:xfrm>
        <a:prstGeom prst="downArrow">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F451FD7-07C1-D24E-88AE-8EE98D36D6A8}">
      <dsp:nvSpPr>
        <dsp:cNvPr id="0" name=""/>
        <dsp:cNvSpPr/>
      </dsp:nvSpPr>
      <dsp:spPr>
        <a:xfrm>
          <a:off x="2304264" y="2484087"/>
          <a:ext cx="5307384" cy="237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889000" rtl="0">
            <a:lnSpc>
              <a:spcPct val="90000"/>
            </a:lnSpc>
            <a:spcBef>
              <a:spcPct val="0"/>
            </a:spcBef>
            <a:spcAft>
              <a:spcPct val="35000"/>
            </a:spcAft>
            <a:buNone/>
          </a:pPr>
          <a:r>
            <a:rPr lang="en-US" sz="2800" b="0" kern="1200" dirty="0">
              <a:latin typeface="+mj-lt"/>
              <a:ea typeface="+mn-ea"/>
              <a:cs typeface="+mn-cs"/>
            </a:rPr>
            <a:t> - Strength concerns:</a:t>
          </a:r>
        </a:p>
        <a:p>
          <a:pPr marL="463550" lvl="1"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Concerns about algorithm</a:t>
          </a:r>
        </a:p>
        <a:p>
          <a:pPr marL="463550" lvl="1"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Use of 56-bit key</a:t>
          </a:r>
        </a:p>
      </dsp:txBody>
      <dsp:txXfrm>
        <a:off x="2304264" y="2484087"/>
        <a:ext cx="5307384" cy="2377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0C844-4653-3B4A-877A-42D10E7D552F}">
      <dsp:nvSpPr>
        <dsp:cNvPr id="0" name=""/>
        <dsp:cNvSpPr/>
      </dsp:nvSpPr>
      <dsp:spPr>
        <a:xfrm>
          <a:off x="0" y="316425"/>
          <a:ext cx="7162800" cy="1499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55913" tIns="354076" rIns="55591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latin typeface="+mj-lt"/>
            </a:rPr>
            <a:t>Processes the input one block of elements at a time</a:t>
          </a:r>
        </a:p>
        <a:p>
          <a:pPr marL="171450" lvl="1" indent="-171450" algn="l" defTabSz="755650">
            <a:lnSpc>
              <a:spcPct val="90000"/>
            </a:lnSpc>
            <a:spcBef>
              <a:spcPct val="0"/>
            </a:spcBef>
            <a:spcAft>
              <a:spcPct val="15000"/>
            </a:spcAft>
            <a:buChar char="•"/>
          </a:pPr>
          <a:r>
            <a:rPr lang="en-US" sz="1700" kern="1200" dirty="0">
              <a:latin typeface="+mj-lt"/>
            </a:rPr>
            <a:t>Produces an output block for each input block</a:t>
          </a:r>
        </a:p>
        <a:p>
          <a:pPr marL="171450" lvl="1" indent="-171450" algn="l" defTabSz="755650">
            <a:lnSpc>
              <a:spcPct val="90000"/>
            </a:lnSpc>
            <a:spcBef>
              <a:spcPct val="0"/>
            </a:spcBef>
            <a:spcAft>
              <a:spcPct val="15000"/>
            </a:spcAft>
            <a:buChar char="•"/>
          </a:pPr>
          <a:r>
            <a:rPr lang="en-US" sz="1700" kern="1200" dirty="0">
              <a:latin typeface="+mj-lt"/>
            </a:rPr>
            <a:t>Can reuse keys</a:t>
          </a:r>
        </a:p>
        <a:p>
          <a:pPr marL="171450" lvl="1" indent="-171450" algn="l" defTabSz="755650">
            <a:lnSpc>
              <a:spcPct val="90000"/>
            </a:lnSpc>
            <a:spcBef>
              <a:spcPct val="0"/>
            </a:spcBef>
            <a:spcAft>
              <a:spcPct val="15000"/>
            </a:spcAft>
            <a:buChar char="•"/>
          </a:pPr>
          <a:r>
            <a:rPr lang="en-US" sz="1700" kern="1200" dirty="0">
              <a:latin typeface="+mj-lt"/>
            </a:rPr>
            <a:t>More common</a:t>
          </a:r>
        </a:p>
      </dsp:txBody>
      <dsp:txXfrm>
        <a:off x="0" y="316425"/>
        <a:ext cx="7162800" cy="1499400"/>
      </dsp:txXfrm>
    </dsp:sp>
    <dsp:sp modelId="{079F0438-4146-1C44-B03D-FC56A77BC902}">
      <dsp:nvSpPr>
        <dsp:cNvPr id="0" name=""/>
        <dsp:cNvSpPr/>
      </dsp:nvSpPr>
      <dsp:spPr>
        <a:xfrm>
          <a:off x="4648177" y="0"/>
          <a:ext cx="2194560" cy="50184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89000">
            <a:lnSpc>
              <a:spcPct val="90000"/>
            </a:lnSpc>
            <a:spcBef>
              <a:spcPct val="0"/>
            </a:spcBef>
            <a:spcAft>
              <a:spcPct val="35000"/>
            </a:spcAft>
            <a:buNone/>
          </a:pPr>
          <a:r>
            <a:rPr lang="en-US" sz="2000" b="1" kern="1200" dirty="0">
              <a:effectLst>
                <a:outerShdw blurRad="38100" dist="38100" dir="2700000" algn="tl">
                  <a:srgbClr val="000000">
                    <a:alpha val="43137"/>
                  </a:srgbClr>
                </a:outerShdw>
              </a:effectLst>
            </a:rPr>
            <a:t>Block Cipher</a:t>
          </a:r>
        </a:p>
      </dsp:txBody>
      <dsp:txXfrm>
        <a:off x="4672675" y="24498"/>
        <a:ext cx="2145564" cy="452844"/>
      </dsp:txXfrm>
    </dsp:sp>
    <dsp:sp modelId="{50C2B052-D272-0C4B-BC34-52ECD042C19E}">
      <dsp:nvSpPr>
        <dsp:cNvPr id="0" name=""/>
        <dsp:cNvSpPr/>
      </dsp:nvSpPr>
      <dsp:spPr>
        <a:xfrm>
          <a:off x="0" y="2224049"/>
          <a:ext cx="7162800" cy="219555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55913" tIns="354076" rIns="55591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latin typeface="+mj-lt"/>
            </a:rPr>
            <a:t>Processes the input elements continuously</a:t>
          </a:r>
        </a:p>
        <a:p>
          <a:pPr marL="171450" lvl="1" indent="-171450" algn="l" defTabSz="755650">
            <a:lnSpc>
              <a:spcPct val="90000"/>
            </a:lnSpc>
            <a:spcBef>
              <a:spcPct val="0"/>
            </a:spcBef>
            <a:spcAft>
              <a:spcPct val="15000"/>
            </a:spcAft>
            <a:buChar char="•"/>
          </a:pPr>
          <a:r>
            <a:rPr lang="en-US" sz="1700" kern="1200" dirty="0">
              <a:latin typeface="+mj-lt"/>
            </a:rPr>
            <a:t>Produces output one element at a time</a:t>
          </a:r>
        </a:p>
        <a:p>
          <a:pPr marL="171450" lvl="1" indent="-171450" algn="l" defTabSz="755650">
            <a:lnSpc>
              <a:spcPct val="90000"/>
            </a:lnSpc>
            <a:spcBef>
              <a:spcPct val="0"/>
            </a:spcBef>
            <a:spcAft>
              <a:spcPct val="15000"/>
            </a:spcAft>
            <a:buChar char="•"/>
          </a:pPr>
          <a:r>
            <a:rPr lang="en-US" sz="1700" kern="1200" dirty="0">
              <a:latin typeface="+mj-lt"/>
            </a:rPr>
            <a:t>Primary advantage is that they are almost always faster and use far less code</a:t>
          </a:r>
        </a:p>
        <a:p>
          <a:pPr marL="171450" lvl="1" indent="-171450" algn="l" defTabSz="755650">
            <a:lnSpc>
              <a:spcPct val="90000"/>
            </a:lnSpc>
            <a:spcBef>
              <a:spcPct val="0"/>
            </a:spcBef>
            <a:spcAft>
              <a:spcPct val="15000"/>
            </a:spcAft>
            <a:buChar char="•"/>
          </a:pPr>
          <a:r>
            <a:rPr lang="en-US" sz="1700" kern="1200" dirty="0">
              <a:latin typeface="+mj-lt"/>
            </a:rPr>
            <a:t>Encrypts plaintext one byte at a time</a:t>
          </a:r>
        </a:p>
        <a:p>
          <a:pPr marL="171450" lvl="1" indent="-171450" algn="l" defTabSz="755650">
            <a:lnSpc>
              <a:spcPct val="90000"/>
            </a:lnSpc>
            <a:spcBef>
              <a:spcPct val="0"/>
            </a:spcBef>
            <a:spcAft>
              <a:spcPct val="15000"/>
            </a:spcAft>
            <a:buChar char="•"/>
          </a:pPr>
          <a:r>
            <a:rPr lang="en-US" sz="1700" kern="1200" dirty="0">
              <a:latin typeface="+mj-lt"/>
            </a:rPr>
            <a:t>Pseudorandom stream is one that is unpredictable without knowledge of the input key</a:t>
          </a:r>
        </a:p>
      </dsp:txBody>
      <dsp:txXfrm>
        <a:off x="0" y="2224049"/>
        <a:ext cx="7162800" cy="2195550"/>
      </dsp:txXfrm>
    </dsp:sp>
    <dsp:sp modelId="{C08EB4B2-2F49-7346-B3F8-4571FBD25FDB}">
      <dsp:nvSpPr>
        <dsp:cNvPr id="0" name=""/>
        <dsp:cNvSpPr/>
      </dsp:nvSpPr>
      <dsp:spPr>
        <a:xfrm>
          <a:off x="381000" y="2074652"/>
          <a:ext cx="2453681" cy="50184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89000">
            <a:lnSpc>
              <a:spcPct val="90000"/>
            </a:lnSpc>
            <a:spcBef>
              <a:spcPct val="0"/>
            </a:spcBef>
            <a:spcAft>
              <a:spcPct val="35000"/>
            </a:spcAft>
            <a:buNone/>
          </a:pPr>
          <a:r>
            <a:rPr lang="en-US" sz="2000" b="1" kern="1200">
              <a:effectLst>
                <a:outerShdw blurRad="38100" dist="38100" dir="2700000" algn="tl">
                  <a:srgbClr val="000000">
                    <a:alpha val="43137"/>
                  </a:srgbClr>
                </a:outerShdw>
              </a:effectLst>
            </a:rPr>
            <a:t>Stream Cipher</a:t>
          </a:r>
          <a:endParaRPr lang="en-US" sz="2000" b="1" kern="1200" dirty="0">
            <a:effectLst>
              <a:outerShdw blurRad="38100" dist="38100" dir="2700000" algn="tl">
                <a:srgbClr val="000000">
                  <a:alpha val="43137"/>
                </a:srgbClr>
              </a:outerShdw>
            </a:effectLst>
          </a:endParaRPr>
        </a:p>
      </dsp:txBody>
      <dsp:txXfrm>
        <a:off x="405498" y="2099150"/>
        <a:ext cx="2404685"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1026">
            <a:extLst>
              <a:ext uri="{FF2B5EF4-FFF2-40B4-BE49-F238E27FC236}">
                <a16:creationId xmlns:a16="http://schemas.microsoft.com/office/drawing/2014/main" id="{D5BD79D2-FF13-4085-9ACF-256565554FF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151555" name="Rectangle 1027">
            <a:extLst>
              <a:ext uri="{FF2B5EF4-FFF2-40B4-BE49-F238E27FC236}">
                <a16:creationId xmlns:a16="http://schemas.microsoft.com/office/drawing/2014/main" id="{5DB9B735-457E-4489-983D-5E11239858B9}"/>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151556" name="Rectangle 1028">
            <a:extLst>
              <a:ext uri="{FF2B5EF4-FFF2-40B4-BE49-F238E27FC236}">
                <a16:creationId xmlns:a16="http://schemas.microsoft.com/office/drawing/2014/main" id="{86C319C7-2CEF-41F1-9134-0A56DFEDAA0E}"/>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51557" name="Rectangle 1029">
            <a:extLst>
              <a:ext uri="{FF2B5EF4-FFF2-40B4-BE49-F238E27FC236}">
                <a16:creationId xmlns:a16="http://schemas.microsoft.com/office/drawing/2014/main" id="{67BE02F0-657D-4BC6-8A67-279137EA0917}"/>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8F7499C-2BD1-43B5-AEAE-D3F04A5C685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AEA4381B-45FD-4A0E-8B8F-6098F2536D5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AU"/>
          </a:p>
        </p:txBody>
      </p:sp>
      <p:sp>
        <p:nvSpPr>
          <p:cNvPr id="22531" name="Rectangle 1027">
            <a:extLst>
              <a:ext uri="{FF2B5EF4-FFF2-40B4-BE49-F238E27FC236}">
                <a16:creationId xmlns:a16="http://schemas.microsoft.com/office/drawing/2014/main" id="{5BF8FAF0-A2FD-4001-9089-A380102AE6A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AU"/>
          </a:p>
        </p:txBody>
      </p:sp>
      <p:sp>
        <p:nvSpPr>
          <p:cNvPr id="38916" name="Rectangle 1028">
            <a:extLst>
              <a:ext uri="{FF2B5EF4-FFF2-40B4-BE49-F238E27FC236}">
                <a16:creationId xmlns:a16="http://schemas.microsoft.com/office/drawing/2014/main" id="{A0FE9CBA-7B5B-440E-9C44-F57A13EEB80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1029">
            <a:extLst>
              <a:ext uri="{FF2B5EF4-FFF2-40B4-BE49-F238E27FC236}">
                <a16:creationId xmlns:a16="http://schemas.microsoft.com/office/drawing/2014/main" id="{BD6F718D-879D-4F95-8C31-75C05E519B7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a:extLst>
              <a:ext uri="{FF2B5EF4-FFF2-40B4-BE49-F238E27FC236}">
                <a16:creationId xmlns:a16="http://schemas.microsoft.com/office/drawing/2014/main" id="{00350935-A8B5-40AE-99CC-4EABD916360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AU"/>
          </a:p>
        </p:txBody>
      </p:sp>
      <p:sp>
        <p:nvSpPr>
          <p:cNvPr id="22535" name="Rectangle 1031">
            <a:extLst>
              <a:ext uri="{FF2B5EF4-FFF2-40B4-BE49-F238E27FC236}">
                <a16:creationId xmlns:a16="http://schemas.microsoft.com/office/drawing/2014/main" id="{61AE8542-101A-4194-A822-D5246F33C38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5CD4EB6-7A71-4D7D-AA72-7577B25797B2}"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a:extLst>
              <a:ext uri="{FF2B5EF4-FFF2-40B4-BE49-F238E27FC236}">
                <a16:creationId xmlns:a16="http://schemas.microsoft.com/office/drawing/2014/main" id="{0DDBCB4B-0AFE-4BEE-ACFB-082A6D6CE9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37EFB67-604B-4C9C-A4B0-27EBC89FD880}" type="slidenum">
              <a:rPr lang="en-AU" altLang="en-US" sz="1200"/>
              <a:pPr eaLnBrk="1" hangingPunct="1"/>
              <a:t>1</a:t>
            </a:fld>
            <a:endParaRPr lang="en-AU" altLang="en-US" sz="1200"/>
          </a:p>
        </p:txBody>
      </p:sp>
      <p:sp>
        <p:nvSpPr>
          <p:cNvPr id="39939" name="Rectangle 2">
            <a:extLst>
              <a:ext uri="{FF2B5EF4-FFF2-40B4-BE49-F238E27FC236}">
                <a16:creationId xmlns:a16="http://schemas.microsoft.com/office/drawing/2014/main" id="{C5CEF96F-06E1-4346-AA4D-62797E7C0F91}"/>
              </a:ext>
            </a:extLst>
          </p:cNvPr>
          <p:cNvSpPr>
            <a:spLocks noGrp="1" noRot="1" noChangeAspect="1" noChangeArrowheads="1" noTextEdit="1"/>
          </p:cNvSpPr>
          <p:nvPr>
            <p:ph type="sldImg"/>
          </p:nvPr>
        </p:nvSpPr>
        <p:spPr>
          <a:solidFill>
            <a:srgbClr val="FFFFFF"/>
          </a:solidFill>
          <a:ln/>
        </p:spPr>
      </p:sp>
      <p:sp>
        <p:nvSpPr>
          <p:cNvPr id="39940" name="Rectangle 3">
            <a:extLst>
              <a:ext uri="{FF2B5EF4-FFF2-40B4-BE49-F238E27FC236}">
                <a16:creationId xmlns:a16="http://schemas.microsoft.com/office/drawing/2014/main" id="{351F23E3-2B19-4982-831B-2344ABAAC771}"/>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Lecture slides by Lawrie Brown for “Cryptography and Network Security”, 4/e, by William Stallings, Chapter </a:t>
            </a:r>
            <a:r>
              <a:rPr lang="en-US" altLang="en-US" sz="1000"/>
              <a:t>3 – “Block Ciphers and the Data Encryption Standard</a:t>
            </a:r>
            <a:r>
              <a:rPr lang="en-US" altLang="en-US"/>
              <a:t>”.</a:t>
            </a:r>
            <a:endParaRPr lang="en-AU" altLang="en-US"/>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a:extLst>
              <a:ext uri="{FF2B5EF4-FFF2-40B4-BE49-F238E27FC236}">
                <a16:creationId xmlns:a16="http://schemas.microsoft.com/office/drawing/2014/main" id="{89E364A6-E2EF-4907-BC7B-4EB2E1B3A9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B513A05-69C9-42AC-A1D8-B5294BBA8C71}" type="slidenum">
              <a:rPr lang="en-AU" altLang="en-US" sz="1200"/>
              <a:pPr eaLnBrk="1" hangingPunct="1"/>
              <a:t>2</a:t>
            </a:fld>
            <a:endParaRPr lang="en-AU" altLang="en-US" sz="1200"/>
          </a:p>
        </p:txBody>
      </p:sp>
      <p:sp>
        <p:nvSpPr>
          <p:cNvPr id="40963" name="Rectangle 2">
            <a:extLst>
              <a:ext uri="{FF2B5EF4-FFF2-40B4-BE49-F238E27FC236}">
                <a16:creationId xmlns:a16="http://schemas.microsoft.com/office/drawing/2014/main" id="{5EE99482-6A9C-4703-9FE7-CB3B6F4C1EA1}"/>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75DF3463-2831-4871-8DED-82B2493A95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Modern block ciphers are widely used to provide encryption of quantities of information, and/or a cryptographic checksum to ensure the contents have not been altered. We continue to use block ciphers because they are comparatively fast, and because we know a fair amount about how to design them. Will use the widely known DES algorithm to illustrate some key block cipher design principles.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741D161F-7245-BE4F-9C02-B359E60FBFCD}" type="slidenum">
              <a:rPr lang="en-AU">
                <a:latin typeface="Arial" pitchFamily="-110" charset="0"/>
              </a:rPr>
              <a:pPr/>
              <a:t>3</a:t>
            </a:fld>
            <a:endParaRPr lang="en-AU">
              <a:latin typeface="Arial" pitchFamily="-110"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dirty="0">
                <a:latin typeface="Arial" pitchFamily="-110" charset="0"/>
                <a:ea typeface="ＭＳ Ｐゴシック" pitchFamily="-110" charset="-128"/>
                <a:cs typeface="ＭＳ Ｐゴシック" pitchFamily="-110" charset="-128"/>
              </a:rPr>
              <a:t>The most widely used encryption scheme is based</a:t>
            </a:r>
          </a:p>
          <a:p>
            <a:r>
              <a:rPr lang="en-US" dirty="0">
                <a:latin typeface="Arial" pitchFamily="-110" charset="0"/>
                <a:ea typeface="ＭＳ Ｐゴシック" pitchFamily="-110" charset="-128"/>
                <a:cs typeface="ＭＳ Ｐゴシック" pitchFamily="-110" charset="-128"/>
              </a:rPr>
              <a:t>on the Data Encryption Standard (DES) adopted in 1977 by the National Bureau</a:t>
            </a:r>
          </a:p>
          <a:p>
            <a:r>
              <a:rPr lang="en-US" dirty="0">
                <a:latin typeface="Arial" pitchFamily="-110" charset="0"/>
                <a:ea typeface="ＭＳ Ｐゴシック" pitchFamily="-110" charset="-128"/>
                <a:cs typeface="ＭＳ Ｐゴシック" pitchFamily="-110" charset="-128"/>
              </a:rPr>
              <a:t>of Standards, now the National Institute of Standards and Technology (NIST), as</a:t>
            </a:r>
          </a:p>
          <a:p>
            <a:r>
              <a:rPr lang="en-US" dirty="0">
                <a:latin typeface="Arial" pitchFamily="-110" charset="0"/>
                <a:ea typeface="ＭＳ Ｐゴシック" pitchFamily="-110" charset="-128"/>
                <a:cs typeface="ＭＳ Ｐゴシック" pitchFamily="-110" charset="-128"/>
              </a:rPr>
              <a:t>Federal Information Processing Standard 46 (FIPS PUB 46). The algorithm itself is</a:t>
            </a:r>
          </a:p>
          <a:p>
            <a:r>
              <a:rPr lang="en-US" dirty="0">
                <a:latin typeface="Arial" pitchFamily="-110" charset="0"/>
                <a:ea typeface="ＭＳ Ｐゴシック" pitchFamily="-110" charset="-128"/>
                <a:cs typeface="ＭＳ Ｐゴシック" pitchFamily="-110" charset="-128"/>
              </a:rPr>
              <a:t>referred to as the Data Encryption Algorithm (DEA). DES takes a plaintext block</a:t>
            </a:r>
          </a:p>
          <a:p>
            <a:r>
              <a:rPr lang="en-US" dirty="0">
                <a:latin typeface="Arial" pitchFamily="-110" charset="0"/>
                <a:ea typeface="ＭＳ Ｐゴシック" pitchFamily="-110" charset="-128"/>
                <a:cs typeface="ＭＳ Ｐゴシック" pitchFamily="-110" charset="-128"/>
              </a:rPr>
              <a:t>of 64 bits and a key of 56 bits, to produce a </a:t>
            </a:r>
            <a:r>
              <a:rPr lang="en-US" dirty="0" err="1">
                <a:latin typeface="Arial" pitchFamily="-110" charset="0"/>
                <a:ea typeface="ＭＳ Ｐゴシック" pitchFamily="-110" charset="-128"/>
                <a:cs typeface="ＭＳ Ｐゴシック" pitchFamily="-110" charset="-128"/>
              </a:rPr>
              <a:t>ciphertext</a:t>
            </a:r>
            <a:r>
              <a:rPr lang="en-US" dirty="0">
                <a:latin typeface="Arial" pitchFamily="-110" charset="0"/>
                <a:ea typeface="ＭＳ Ｐゴシック" pitchFamily="-110" charset="-128"/>
                <a:cs typeface="ＭＳ Ｐゴシック" pitchFamily="-110" charset="-128"/>
              </a:rPr>
              <a:t> block of 64 bits.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Concerns about the strength of DES fall into two categories: concerns about</a:t>
            </a:r>
          </a:p>
          <a:p>
            <a:r>
              <a:rPr lang="en-US" dirty="0">
                <a:latin typeface="Arial" pitchFamily="-110" charset="0"/>
                <a:ea typeface="ＭＳ Ｐゴシック" pitchFamily="-110" charset="-128"/>
                <a:cs typeface="ＭＳ Ｐゴシック" pitchFamily="-110" charset="-128"/>
              </a:rPr>
              <a:t>the algorithm itself and concerns about the use of a 56-bit key. The first concern</a:t>
            </a:r>
          </a:p>
          <a:p>
            <a:r>
              <a:rPr lang="en-US" dirty="0">
                <a:latin typeface="Arial" pitchFamily="-110" charset="0"/>
                <a:ea typeface="ＭＳ Ｐゴシック" pitchFamily="-110" charset="-128"/>
                <a:cs typeface="ＭＳ Ｐゴシック" pitchFamily="-110" charset="-128"/>
              </a:rPr>
              <a:t>refers to the possibility that cryptanalysis is possible by exploiting the characteristics</a:t>
            </a:r>
          </a:p>
          <a:p>
            <a:r>
              <a:rPr lang="en-US" dirty="0">
                <a:latin typeface="Arial" pitchFamily="-110" charset="0"/>
                <a:ea typeface="ＭＳ Ｐゴシック" pitchFamily="-110" charset="-128"/>
                <a:cs typeface="ＭＳ Ｐゴシック" pitchFamily="-110" charset="-128"/>
              </a:rPr>
              <a:t>of the DES algorithm. Over the years, there have been numerous attempts to find</a:t>
            </a:r>
          </a:p>
          <a:p>
            <a:r>
              <a:rPr lang="en-US" dirty="0">
                <a:latin typeface="Arial" pitchFamily="-110" charset="0"/>
                <a:ea typeface="ＭＳ Ｐゴシック" pitchFamily="-110" charset="-128"/>
                <a:cs typeface="ＭＳ Ｐゴシック" pitchFamily="-110" charset="-128"/>
              </a:rPr>
              <a:t>and exploit weaknesses in the algorithm, making DES the most-studied encryption</a:t>
            </a:r>
          </a:p>
          <a:p>
            <a:r>
              <a:rPr lang="en-US" dirty="0">
                <a:latin typeface="Arial" pitchFamily="-110" charset="0"/>
                <a:ea typeface="ＭＳ Ｐゴシック" pitchFamily="-110" charset="-128"/>
                <a:cs typeface="ＭＳ Ｐゴシック" pitchFamily="-110" charset="-128"/>
              </a:rPr>
              <a:t>algorithm in existence. Despite numerous approaches, no one has so far reported a</a:t>
            </a:r>
          </a:p>
          <a:p>
            <a:r>
              <a:rPr lang="en-US" dirty="0">
                <a:latin typeface="Arial" pitchFamily="-110" charset="0"/>
                <a:ea typeface="ＭＳ Ｐゴシック" pitchFamily="-110" charset="-128"/>
                <a:cs typeface="ＭＳ Ｐゴシック" pitchFamily="-110" charset="-128"/>
              </a:rPr>
              <a:t>fatal weakness in DES.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A more serious concern is key length. With a key length of 56 bits, there are 256</a:t>
            </a:r>
          </a:p>
          <a:p>
            <a:r>
              <a:rPr lang="en-US" dirty="0">
                <a:latin typeface="Arial" pitchFamily="-110" charset="0"/>
                <a:ea typeface="ＭＳ Ｐゴシック" pitchFamily="-110" charset="-128"/>
                <a:cs typeface="ＭＳ Ｐゴシック" pitchFamily="-110" charset="-128"/>
              </a:rPr>
              <a:t>possible keys, which is approximately 7.2  1016 keys. Thus, on the face of it, a brute-force</a:t>
            </a:r>
          </a:p>
          <a:p>
            <a:r>
              <a:rPr lang="en-US" dirty="0">
                <a:latin typeface="Arial" pitchFamily="-110" charset="0"/>
                <a:ea typeface="ＭＳ Ｐゴシック" pitchFamily="-110" charset="-128"/>
                <a:cs typeface="ＭＳ Ｐゴシック" pitchFamily="-110" charset="-128"/>
              </a:rPr>
              <a:t>attack appears impractical. Assuming that, on average, half the key space has</a:t>
            </a:r>
          </a:p>
          <a:p>
            <a:r>
              <a:rPr lang="en-US" dirty="0">
                <a:latin typeface="Arial" pitchFamily="-110" charset="0"/>
                <a:ea typeface="ＭＳ Ｐゴシック" pitchFamily="-110" charset="-128"/>
                <a:cs typeface="ＭＳ Ｐゴシック" pitchFamily="-110" charset="-128"/>
              </a:rPr>
              <a:t>to be searched, a single machine performing one DES encryption per micro second</a:t>
            </a:r>
          </a:p>
          <a:p>
            <a:r>
              <a:rPr lang="en-US" dirty="0">
                <a:latin typeface="Arial" pitchFamily="-110" charset="0"/>
                <a:ea typeface="ＭＳ Ｐゴシック" pitchFamily="-110" charset="-128"/>
                <a:cs typeface="ＭＳ Ｐゴシック" pitchFamily="-110" charset="-128"/>
              </a:rPr>
              <a:t>would take more than a thousand years (see Table 2.1) to break the cipher.</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However, the assumption of one encryption per microsecond is overly conservative.</a:t>
            </a:r>
          </a:p>
          <a:p>
            <a:r>
              <a:rPr lang="en-US" dirty="0">
                <a:latin typeface="Arial" pitchFamily="-110" charset="0"/>
                <a:ea typeface="ＭＳ Ｐゴシック" pitchFamily="-110" charset="-128"/>
                <a:cs typeface="ＭＳ Ｐゴシック" pitchFamily="-110" charset="-128"/>
              </a:rPr>
              <a:t>DES finally and definitively proved insecure in July 1998, when the</a:t>
            </a:r>
          </a:p>
          <a:p>
            <a:r>
              <a:rPr lang="en-US" dirty="0">
                <a:latin typeface="Arial" pitchFamily="-110" charset="0"/>
                <a:ea typeface="ＭＳ Ｐゴシック" pitchFamily="-110" charset="-128"/>
                <a:cs typeface="ＭＳ Ｐゴシック" pitchFamily="-110" charset="-128"/>
              </a:rPr>
              <a:t>Electronic Frontier Foundation (EFF) announced that it had broken a DES encryption</a:t>
            </a:r>
          </a:p>
          <a:p>
            <a:r>
              <a:rPr lang="en-US" dirty="0">
                <a:latin typeface="Arial" pitchFamily="-110" charset="0"/>
                <a:ea typeface="ＭＳ Ｐゴシック" pitchFamily="-110" charset="-128"/>
                <a:cs typeface="ＭＳ Ｐゴシック" pitchFamily="-110" charset="-128"/>
              </a:rPr>
              <a:t>using a special-purpose “DES cracker” machine that was built for less than</a:t>
            </a:r>
          </a:p>
          <a:p>
            <a:r>
              <a:rPr lang="en-US" dirty="0">
                <a:latin typeface="Arial" pitchFamily="-110" charset="0"/>
                <a:ea typeface="ＭＳ Ｐゴシック" pitchFamily="-110" charset="-128"/>
                <a:cs typeface="ＭＳ Ｐゴシック" pitchFamily="-110" charset="-128"/>
              </a:rPr>
              <a:t>$250,000. The attack took less than three days. The EFF has published a detailed</a:t>
            </a:r>
          </a:p>
          <a:p>
            <a:r>
              <a:rPr lang="en-US" dirty="0">
                <a:latin typeface="Arial" pitchFamily="-110" charset="0"/>
                <a:ea typeface="ＭＳ Ｐゴシック" pitchFamily="-110" charset="-128"/>
                <a:cs typeface="ＭＳ Ｐゴシック" pitchFamily="-110" charset="-128"/>
              </a:rPr>
              <a:t>description of the machine, enabling others to build their own cracker [EFF98].</a:t>
            </a:r>
          </a:p>
          <a:p>
            <a:r>
              <a:rPr lang="en-US" dirty="0">
                <a:latin typeface="Arial" pitchFamily="-110" charset="0"/>
                <a:ea typeface="ＭＳ Ｐゴシック" pitchFamily="-110" charset="-128"/>
                <a:cs typeface="ＭＳ Ｐゴシック" pitchFamily="-110" charset="-128"/>
              </a:rPr>
              <a:t>And, of course, hardware prices will continue to drop as speeds increase, making</a:t>
            </a:r>
          </a:p>
          <a:p>
            <a:r>
              <a:rPr lang="en-US" dirty="0">
                <a:latin typeface="Arial" pitchFamily="-110" charset="0"/>
                <a:ea typeface="ＭＳ Ｐゴシック" pitchFamily="-110" charset="-128"/>
                <a:cs typeface="ＭＳ Ｐゴシック" pitchFamily="-110" charset="-128"/>
              </a:rPr>
              <a:t>DES virtually worthless.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It is important to note that there is more to a key-search attack than simply running</a:t>
            </a:r>
          </a:p>
          <a:p>
            <a:r>
              <a:rPr lang="en-US" dirty="0">
                <a:latin typeface="Arial" pitchFamily="-110" charset="0"/>
                <a:ea typeface="ＭＳ Ｐゴシック" pitchFamily="-110" charset="-128"/>
                <a:cs typeface="ＭＳ Ｐゴシック" pitchFamily="-110" charset="-128"/>
              </a:rPr>
              <a:t>through all possible keys. Unless known plaintext is provided, the analyst must</a:t>
            </a:r>
          </a:p>
          <a:p>
            <a:r>
              <a:rPr lang="en-US" dirty="0">
                <a:latin typeface="Arial" pitchFamily="-110" charset="0"/>
                <a:ea typeface="ＭＳ Ｐゴシック" pitchFamily="-110" charset="-128"/>
                <a:cs typeface="ＭＳ Ｐゴシック" pitchFamily="-110" charset="-128"/>
              </a:rPr>
              <a:t>be able to recognize plaintext as plaintext. If the message is just plain text in English,</a:t>
            </a:r>
          </a:p>
          <a:p>
            <a:r>
              <a:rPr lang="en-US" dirty="0">
                <a:latin typeface="Arial" pitchFamily="-110" charset="0"/>
                <a:ea typeface="ＭＳ Ｐゴシック" pitchFamily="-110" charset="-128"/>
                <a:cs typeface="ＭＳ Ｐゴシック" pitchFamily="-110" charset="-128"/>
              </a:rPr>
              <a:t>then the result pops out easily, although the task of recognizing English would have to</a:t>
            </a:r>
          </a:p>
          <a:p>
            <a:r>
              <a:rPr lang="en-US" dirty="0">
                <a:latin typeface="Arial" pitchFamily="-110" charset="0"/>
                <a:ea typeface="ＭＳ Ｐゴシック" pitchFamily="-110" charset="-128"/>
                <a:cs typeface="ＭＳ Ｐゴシック" pitchFamily="-110" charset="-128"/>
              </a:rPr>
              <a:t>be automated. If the text message has been compressed before encryption, then recognition</a:t>
            </a:r>
          </a:p>
          <a:p>
            <a:r>
              <a:rPr lang="en-US" dirty="0">
                <a:latin typeface="Arial" pitchFamily="-110" charset="0"/>
                <a:ea typeface="ＭＳ Ｐゴシック" pitchFamily="-110" charset="-128"/>
                <a:cs typeface="ＭＳ Ｐゴシック" pitchFamily="-110" charset="-128"/>
              </a:rPr>
              <a:t>is more difficult. And if the message is some more general type of data, such</a:t>
            </a:r>
          </a:p>
          <a:p>
            <a:r>
              <a:rPr lang="en-US" dirty="0">
                <a:latin typeface="Arial" pitchFamily="-110" charset="0"/>
                <a:ea typeface="ＭＳ Ｐゴシック" pitchFamily="-110" charset="-128"/>
                <a:cs typeface="ＭＳ Ｐゴシック" pitchFamily="-110" charset="-128"/>
              </a:rPr>
              <a:t>as a numerical file, and this has been compressed, the problem becomes even more</a:t>
            </a:r>
          </a:p>
          <a:p>
            <a:r>
              <a:rPr lang="en-US" dirty="0">
                <a:latin typeface="Arial" pitchFamily="-110" charset="0"/>
                <a:ea typeface="ＭＳ Ｐゴシック" pitchFamily="-110" charset="-128"/>
                <a:cs typeface="ＭＳ Ｐゴシック" pitchFamily="-110" charset="-128"/>
              </a:rPr>
              <a:t>difficult to automate. Thus, to supplement the brute-force approach, some degree of</a:t>
            </a:r>
          </a:p>
          <a:p>
            <a:r>
              <a:rPr lang="en-US" dirty="0">
                <a:latin typeface="Arial" pitchFamily="-110" charset="0"/>
                <a:ea typeface="ＭＳ Ｐゴシック" pitchFamily="-110" charset="-128"/>
                <a:cs typeface="ＭＳ Ｐゴシック" pitchFamily="-110" charset="-128"/>
              </a:rPr>
              <a:t>knowledge about the expected plaintext is needed, and some means of automatically</a:t>
            </a:r>
          </a:p>
          <a:p>
            <a:r>
              <a:rPr lang="en-US" dirty="0">
                <a:latin typeface="Arial" pitchFamily="-110" charset="0"/>
                <a:ea typeface="ＭＳ Ｐゴシック" pitchFamily="-110" charset="-128"/>
                <a:cs typeface="ＭＳ Ｐゴシック" pitchFamily="-110" charset="-128"/>
              </a:rPr>
              <a:t>distinguishing plaintext from garble is also needed. The EFF approach addresses this</a:t>
            </a:r>
          </a:p>
          <a:p>
            <a:r>
              <a:rPr lang="en-US" dirty="0">
                <a:latin typeface="Arial" pitchFamily="-110" charset="0"/>
                <a:ea typeface="ＭＳ Ｐゴシック" pitchFamily="-110" charset="-128"/>
                <a:cs typeface="ＭＳ Ｐゴシック" pitchFamily="-110" charset="-128"/>
              </a:rPr>
              <a:t>issue as well and introduces some automated techniques that would be effective in</a:t>
            </a:r>
          </a:p>
          <a:p>
            <a:r>
              <a:rPr lang="en-US" dirty="0">
                <a:latin typeface="Arial" pitchFamily="-110" charset="0"/>
                <a:ea typeface="ＭＳ Ｐゴシック" pitchFamily="-110" charset="-128"/>
                <a:cs typeface="ＭＳ Ｐゴシック" pitchFamily="-110" charset="-128"/>
              </a:rPr>
              <a:t>many contexts.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A final point: If the only form of attack that could be made on an encryption</a:t>
            </a:r>
          </a:p>
          <a:p>
            <a:r>
              <a:rPr lang="en-US" dirty="0">
                <a:latin typeface="Arial" pitchFamily="-110" charset="0"/>
                <a:ea typeface="ＭＳ Ｐゴシック" pitchFamily="-110" charset="-128"/>
                <a:cs typeface="ＭＳ Ｐゴシック" pitchFamily="-110" charset="-128"/>
              </a:rPr>
              <a:t>algorithm is brute force, then the way to counter such attacks is obvious: Use longer</a:t>
            </a:r>
          </a:p>
          <a:p>
            <a:r>
              <a:rPr lang="en-US" dirty="0">
                <a:latin typeface="Arial" pitchFamily="-110" charset="0"/>
                <a:ea typeface="ＭＳ Ｐゴシック" pitchFamily="-110" charset="-128"/>
                <a:cs typeface="ＭＳ Ｐゴシック" pitchFamily="-110" charset="-128"/>
              </a:rPr>
              <a:t>keys. To get some idea of the size of key required, let us use the EFF cracker as a</a:t>
            </a:r>
          </a:p>
          <a:p>
            <a:r>
              <a:rPr lang="en-US" dirty="0">
                <a:latin typeface="Arial" pitchFamily="-110" charset="0"/>
                <a:ea typeface="ＭＳ Ｐゴシック" pitchFamily="-110" charset="-128"/>
                <a:cs typeface="ＭＳ Ｐゴシック" pitchFamily="-110" charset="-128"/>
              </a:rPr>
              <a:t>basis for our estimates. The EFF cracker was a prototype and we can assume that</a:t>
            </a:r>
          </a:p>
          <a:p>
            <a:r>
              <a:rPr lang="en-US" dirty="0">
                <a:latin typeface="Arial" pitchFamily="-110" charset="0"/>
                <a:ea typeface="ＭＳ Ｐゴシック" pitchFamily="-110" charset="-128"/>
                <a:cs typeface="ＭＳ Ｐゴシック" pitchFamily="-110" charset="-128"/>
              </a:rPr>
              <a:t>with today’s technology, a faster machine is cost effective. If we assume that a cracker</a:t>
            </a:r>
          </a:p>
          <a:p>
            <a:r>
              <a:rPr lang="en-US" dirty="0">
                <a:latin typeface="Arial" pitchFamily="-110" charset="0"/>
                <a:ea typeface="ＭＳ Ｐゴシック" pitchFamily="-110" charset="-128"/>
                <a:cs typeface="ＭＳ Ｐゴシック" pitchFamily="-110" charset="-128"/>
              </a:rPr>
              <a:t>can perform 1 million decryptions per </a:t>
            </a:r>
            <a:r>
              <a:rPr lang="en-US" dirty="0" err="1">
                <a:latin typeface="Arial" pitchFamily="-110" charset="0"/>
                <a:ea typeface="ＭＳ Ｐゴシック" pitchFamily="-110" charset="-128"/>
                <a:cs typeface="ＭＳ Ｐゴシック" pitchFamily="-110" charset="-128"/>
              </a:rPr>
              <a:t>μs</a:t>
            </a:r>
            <a:r>
              <a:rPr lang="en-US" dirty="0">
                <a:latin typeface="Arial" pitchFamily="-110" charset="0"/>
                <a:ea typeface="ＭＳ Ｐゴシック" pitchFamily="-110" charset="-128"/>
                <a:cs typeface="ＭＳ Ｐゴシック" pitchFamily="-110" charset="-128"/>
              </a:rPr>
              <a:t>, which is the rate used in Table 2.1, then a</a:t>
            </a:r>
          </a:p>
          <a:p>
            <a:r>
              <a:rPr lang="en-US" dirty="0">
                <a:latin typeface="Arial" pitchFamily="-110" charset="0"/>
                <a:ea typeface="ＭＳ Ｐゴシック" pitchFamily="-110" charset="-128"/>
                <a:cs typeface="ＭＳ Ｐゴシック" pitchFamily="-110" charset="-128"/>
              </a:rPr>
              <a:t>DES code would take about 10 hours to crack. This is a speed-up of approximately</a:t>
            </a:r>
          </a:p>
          <a:p>
            <a:r>
              <a:rPr lang="en-US" dirty="0">
                <a:latin typeface="Arial" pitchFamily="-110" charset="0"/>
                <a:ea typeface="ＭＳ Ｐゴシック" pitchFamily="-110" charset="-128"/>
                <a:cs typeface="ＭＳ Ｐゴシック" pitchFamily="-110" charset="-128"/>
              </a:rPr>
              <a:t>a factor of 7 compared to the EFF result</a:t>
            </a:r>
            <a:endParaRPr lang="en-US" dirty="0">
              <a:latin typeface="Times New Roman" pitchFamily="-110" charset="0"/>
              <a:ea typeface="ＭＳ Ｐゴシック" pitchFamily="-110" charset="-128"/>
              <a:cs typeface="ＭＳ Ｐゴシック" pitchFamily="-11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dirty="0"/>
              <a:t>A </a:t>
            </a:r>
            <a:r>
              <a:rPr lang="en-US" i="1" dirty="0"/>
              <a:t>block cipher processes the input one block of elements at a time, producing an</a:t>
            </a:r>
          </a:p>
          <a:p>
            <a:pPr>
              <a:defRPr/>
            </a:pPr>
            <a:r>
              <a:rPr lang="en-US" dirty="0"/>
              <a:t>output block for each input block. A </a:t>
            </a:r>
            <a:r>
              <a:rPr lang="en-US" i="1" dirty="0"/>
              <a:t>stream cipher processes the input elements</a:t>
            </a:r>
          </a:p>
          <a:p>
            <a:pPr>
              <a:defRPr/>
            </a:pPr>
            <a:r>
              <a:rPr lang="en-US" dirty="0"/>
              <a:t>continuously, producing output one element at a time, as it goes along. Although</a:t>
            </a:r>
          </a:p>
          <a:p>
            <a:pPr>
              <a:defRPr/>
            </a:pPr>
            <a:r>
              <a:rPr lang="en-US" dirty="0"/>
              <a:t>block ciphers are far more common, there are certain applications in which a stream</a:t>
            </a:r>
          </a:p>
          <a:p>
            <a:pPr>
              <a:defRPr/>
            </a:pPr>
            <a:r>
              <a:rPr lang="en-US" dirty="0"/>
              <a:t>cipher is more appropriate. Examples are given subsequently in this book.</a:t>
            </a:r>
          </a:p>
          <a:p>
            <a:pPr>
              <a:defRPr/>
            </a:pPr>
            <a:endParaRPr lang="en-US" dirty="0"/>
          </a:p>
          <a:p>
            <a:pPr>
              <a:defRPr/>
            </a:pPr>
            <a:r>
              <a:rPr lang="en-US" dirty="0"/>
              <a:t>A typical stream cipher encrypts plaintext one byte at a time, although a stream</a:t>
            </a:r>
          </a:p>
          <a:p>
            <a:pPr>
              <a:defRPr/>
            </a:pPr>
            <a:r>
              <a:rPr lang="en-US" dirty="0"/>
              <a:t>cipher may be designed to operate on one bit at a time or on units larger than a byte</a:t>
            </a:r>
          </a:p>
          <a:p>
            <a:pPr>
              <a:defRPr/>
            </a:pPr>
            <a:r>
              <a:rPr lang="en-US" dirty="0"/>
              <a:t>at a time. </a:t>
            </a:r>
          </a:p>
          <a:p>
            <a:pPr>
              <a:defRPr/>
            </a:pPr>
            <a:endParaRPr lang="en-US" dirty="0"/>
          </a:p>
          <a:p>
            <a:pPr>
              <a:defRPr/>
            </a:pPr>
            <a:r>
              <a:rPr lang="en-US" dirty="0"/>
              <a:t>With a properly designed pseudorandom number generator, a stream cipher</a:t>
            </a:r>
          </a:p>
          <a:p>
            <a:pPr>
              <a:defRPr/>
            </a:pPr>
            <a:r>
              <a:rPr lang="en-US" dirty="0"/>
              <a:t>can be as secure as block cipher of comparable key length. The primary advantage</a:t>
            </a:r>
          </a:p>
          <a:p>
            <a:pPr>
              <a:defRPr/>
            </a:pPr>
            <a:r>
              <a:rPr lang="en-US" dirty="0"/>
              <a:t>of a stream cipher is that stream ciphers are almost always faster and use far less</a:t>
            </a:r>
          </a:p>
          <a:p>
            <a:pPr>
              <a:defRPr/>
            </a:pPr>
            <a:r>
              <a:rPr lang="en-US" dirty="0"/>
              <a:t>code than do block ciphers. The advantage of a block cipher is that you can reuse</a:t>
            </a:r>
          </a:p>
          <a:p>
            <a:pPr>
              <a:defRPr/>
            </a:pPr>
            <a:r>
              <a:rPr lang="en-US" dirty="0"/>
              <a:t>keys. For applications that require encryption/decryption of a stream of data, such as</a:t>
            </a:r>
          </a:p>
          <a:p>
            <a:pPr>
              <a:defRPr/>
            </a:pPr>
            <a:r>
              <a:rPr lang="en-US" dirty="0"/>
              <a:t>over a data communications channel or a browser/Web link, a stream cipher might</a:t>
            </a:r>
          </a:p>
          <a:p>
            <a:pPr>
              <a:defRPr/>
            </a:pPr>
            <a:r>
              <a:rPr lang="en-US" dirty="0"/>
              <a:t>be the better alternative. For applications that deal with blocks of data, such as file</a:t>
            </a:r>
          </a:p>
          <a:p>
            <a:pPr>
              <a:defRPr/>
            </a:pPr>
            <a:r>
              <a:rPr lang="en-US" dirty="0"/>
              <a:t>transfer, e-mail, and database, block ciphers may be more appropriate. However,</a:t>
            </a:r>
          </a:p>
          <a:p>
            <a:pPr>
              <a:defRPr/>
            </a:pPr>
            <a:r>
              <a:rPr lang="en-US" dirty="0"/>
              <a:t>either type of cipher can be used in virtually any application.</a:t>
            </a:r>
          </a:p>
        </p:txBody>
      </p:sp>
      <p:sp>
        <p:nvSpPr>
          <p:cNvPr id="43012" name="Slide Number Placeholder 3"/>
          <p:cNvSpPr>
            <a:spLocks noGrp="1"/>
          </p:cNvSpPr>
          <p:nvPr>
            <p:ph type="sldNum" sz="quarter" idx="5"/>
          </p:nvPr>
        </p:nvSpPr>
        <p:spPr>
          <a:noFill/>
        </p:spPr>
        <p:txBody>
          <a:bodyPr/>
          <a:lstStyle/>
          <a:p>
            <a:fld id="{79F9FE99-24B7-7F45-B59C-4161A610A12D}" type="slidenum">
              <a:rPr lang="en-AU" smtClean="0">
                <a:latin typeface="Arial" pitchFamily="-110" charset="0"/>
              </a:rPr>
              <a:pPr/>
              <a:t>4</a:t>
            </a:fld>
            <a:endParaRPr lang="en-AU">
              <a:latin typeface="Arial" pitchFamily="-110"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a:extLst>
              <a:ext uri="{FF2B5EF4-FFF2-40B4-BE49-F238E27FC236}">
                <a16:creationId xmlns:a16="http://schemas.microsoft.com/office/drawing/2014/main" id="{25252980-C39F-424E-8E3B-AE593685BC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3FB4349-259E-4D0C-B861-59FC8BD39CB0}" type="slidenum">
              <a:rPr lang="en-AU" altLang="en-US" sz="1200"/>
              <a:pPr eaLnBrk="1" hangingPunct="1"/>
              <a:t>5</a:t>
            </a:fld>
            <a:endParaRPr lang="en-AU" altLang="en-US" sz="1200"/>
          </a:p>
        </p:txBody>
      </p:sp>
      <p:sp>
        <p:nvSpPr>
          <p:cNvPr id="43011" name="Rectangle 2">
            <a:extLst>
              <a:ext uri="{FF2B5EF4-FFF2-40B4-BE49-F238E27FC236}">
                <a16:creationId xmlns:a16="http://schemas.microsoft.com/office/drawing/2014/main" id="{FE46A205-A248-48DA-B654-D1125DC176E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3BDED456-EE98-4770-9C5B-2718DC6936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Most symmetric block encryption algorithms in current use are based on a structure referred to as a Feistel block cipher. A block cipher operates on a plaintext block of n bits to produce a ciphertext block of n bits. </a:t>
            </a:r>
            <a:r>
              <a:rPr lang="en-AU" altLang="en-US"/>
              <a:t>An arbitrary reversible substitution cipher for a large block size is not practical, however, from an implementation and performance point of view. In general, for an </a:t>
            </a:r>
            <a:r>
              <a:rPr lang="en-AU" altLang="en-US" i="1"/>
              <a:t>n</a:t>
            </a:r>
            <a:r>
              <a:rPr lang="en-AU" altLang="en-US"/>
              <a:t>-bit general substitution block cipher, the size of the key is </a:t>
            </a:r>
            <a:r>
              <a:rPr lang="en-AU" altLang="en-US" i="1"/>
              <a:t>n x</a:t>
            </a:r>
            <a:r>
              <a:rPr lang="en-AU" altLang="en-US"/>
              <a:t> 2</a:t>
            </a:r>
            <a:r>
              <a:rPr lang="en-AU" altLang="en-US" i="1" baseline="30000"/>
              <a:t>n</a:t>
            </a:r>
            <a:r>
              <a:rPr lang="en-AU" altLang="en-US"/>
              <a:t>. For a 64-bit block, which is a desirable length to thwart statistical attacks, the key size is 64 x 2</a:t>
            </a:r>
            <a:r>
              <a:rPr lang="en-AU" altLang="en-US" baseline="30000"/>
              <a:t>64</a:t>
            </a:r>
            <a:r>
              <a:rPr lang="en-AU" altLang="en-US"/>
              <a:t> = 2</a:t>
            </a:r>
            <a:r>
              <a:rPr lang="en-AU" altLang="en-US" baseline="30000"/>
              <a:t>70</a:t>
            </a:r>
            <a:r>
              <a:rPr lang="en-AU" altLang="en-US"/>
              <a:t> = 10</a:t>
            </a:r>
            <a:r>
              <a:rPr lang="en-AU" altLang="en-US" baseline="30000"/>
              <a:t>21</a:t>
            </a:r>
            <a:r>
              <a:rPr lang="en-AU" altLang="en-US"/>
              <a:t> bits. </a:t>
            </a:r>
            <a:r>
              <a:rPr lang="en-US" altLang="en-US">
                <a:latin typeface="Times-Roman" charset="0"/>
              </a:rPr>
              <a:t>In considering these difficulties, Feistel points out that what is needed is an approximation to the ideal block cipher system for large n, built up out of components that are easily realizable.</a:t>
            </a:r>
            <a:endParaRPr lang="en-AU" altLang="en-US"/>
          </a:p>
          <a:p>
            <a:pPr eaLnBrk="1" hangingPunct="1"/>
            <a:endParaRPr lang="en-AU" altLang="en-US"/>
          </a:p>
          <a:p>
            <a:pPr eaLnBrk="1" hangingPunct="1"/>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a:extLst>
              <a:ext uri="{FF2B5EF4-FFF2-40B4-BE49-F238E27FC236}">
                <a16:creationId xmlns:a16="http://schemas.microsoft.com/office/drawing/2014/main" id="{37F102E0-5D87-49AB-8136-681E3B9C1E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1DF507A-E34B-4F72-AE04-E37AC419D5E8}" type="slidenum">
              <a:rPr lang="en-AU" altLang="en-US" sz="1200"/>
              <a:pPr eaLnBrk="1" hangingPunct="1"/>
              <a:t>6</a:t>
            </a:fld>
            <a:endParaRPr lang="en-AU" altLang="en-US" sz="1200"/>
          </a:p>
        </p:txBody>
      </p:sp>
      <p:sp>
        <p:nvSpPr>
          <p:cNvPr id="45059" name="Rectangle 2">
            <a:extLst>
              <a:ext uri="{FF2B5EF4-FFF2-40B4-BE49-F238E27FC236}">
                <a16:creationId xmlns:a16="http://schemas.microsoft.com/office/drawing/2014/main" id="{2C5E6AD7-F1BF-43D6-826B-F93A69D98117}"/>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3E5B5169-712D-42C4-A4CE-76504BE7FA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dirty="0"/>
              <a:t>Claude Shannon’s 1949 paper has the key ideas that led to the development of modern block ciphers. Critically, it was the technique of layering groups of S-boxes separated by a larger P-box to form the S-P network, a complex form of a product cipher. He also introduced the ideas of </a:t>
            </a:r>
            <a:r>
              <a:rPr lang="en-AU" altLang="en-US" i="1" dirty="0"/>
              <a:t>confusion</a:t>
            </a:r>
            <a:r>
              <a:rPr lang="en-AU" altLang="en-US" dirty="0"/>
              <a:t> and </a:t>
            </a:r>
            <a:r>
              <a:rPr lang="en-AU" altLang="en-US" i="1" dirty="0"/>
              <a:t>diffusion</a:t>
            </a:r>
            <a:r>
              <a:rPr lang="en-AU" altLang="en-US" dirty="0"/>
              <a:t>, notionally provided by S-boxes and P-boxes (in conjunction with S-boxes).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a:extLst>
              <a:ext uri="{FF2B5EF4-FFF2-40B4-BE49-F238E27FC236}">
                <a16:creationId xmlns:a16="http://schemas.microsoft.com/office/drawing/2014/main" id="{7B612E8C-5D55-4C7C-9F0C-B703DCC5CB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2119CD5-39F3-4EE1-AD09-05D7FA8EC925}" type="slidenum">
              <a:rPr lang="en-AU" altLang="en-US" sz="1200"/>
              <a:pPr eaLnBrk="1" hangingPunct="1"/>
              <a:t>7</a:t>
            </a:fld>
            <a:endParaRPr lang="en-AU" altLang="en-US" sz="1200"/>
          </a:p>
        </p:txBody>
      </p:sp>
      <p:sp>
        <p:nvSpPr>
          <p:cNvPr id="46083" name="Rectangle 2">
            <a:extLst>
              <a:ext uri="{FF2B5EF4-FFF2-40B4-BE49-F238E27FC236}">
                <a16:creationId xmlns:a16="http://schemas.microsoft.com/office/drawing/2014/main" id="{58C03343-81B9-4FE1-A9F5-925C832FA518}"/>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67ACE496-F00A-4D1A-972F-657651F854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terms diffusion and confusion were introduced by Claude Shannon to capture the two basic building blocks for any cryptographic system. </a:t>
            </a:r>
            <a:r>
              <a:rPr lang="en-AU" altLang="en-US"/>
              <a:t>Every block cipher involves a transformation of a block of plaintext into a block of ciphertext, where the transformation depends on the key. The mechanism of diffusion seeks to make the statistical relationship between the plaintext and ciphertext as complex as possible in order to thwart attempts to deduce the key. Confusion</a:t>
            </a:r>
            <a:r>
              <a:rPr lang="en-AU" altLang="en-US" b="1"/>
              <a:t> </a:t>
            </a:r>
            <a:r>
              <a:rPr lang="en-AU" altLang="en-US"/>
              <a:t>seeks to make the relationship between the statistics of the ciphertext and the value of the encryption key as complex as possible, again to thwart attempts to discover the key.</a:t>
            </a:r>
            <a:endParaRPr lang="en-US" altLang="en-US"/>
          </a:p>
          <a:p>
            <a:pPr eaLnBrk="1" hangingPunct="1"/>
            <a:r>
              <a:rPr lang="en-AU" altLang="en-US"/>
              <a:t>So successful are diffusion and confusion in capturing the essence of the desired attributes of a block cipher that they have become the cornerstone of modern block cipher design.</a:t>
            </a:r>
          </a:p>
          <a:p>
            <a:pPr eaLnBrk="1" hangingPunct="1"/>
            <a:endParaRPr lang="en-AU" altLang="en-US"/>
          </a:p>
          <a:p>
            <a:pPr eaLnBrk="1" hangingPunct="1"/>
            <a:endParaRPr lang="en-AU" altLang="en-US"/>
          </a:p>
          <a:p>
            <a:pPr eaLnBrk="1" hangingPunct="1"/>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a:extLst>
              <a:ext uri="{FF2B5EF4-FFF2-40B4-BE49-F238E27FC236}">
                <a16:creationId xmlns:a16="http://schemas.microsoft.com/office/drawing/2014/main" id="{91F1E0E9-C43B-497A-ADD8-770076217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F4426E0-913C-4EF1-8603-BE2872448A44}" type="slidenum">
              <a:rPr lang="en-AU" altLang="en-US" sz="1200"/>
              <a:pPr eaLnBrk="1" hangingPunct="1"/>
              <a:t>8</a:t>
            </a:fld>
            <a:endParaRPr lang="en-AU" altLang="en-US" sz="1200"/>
          </a:p>
        </p:txBody>
      </p:sp>
      <p:sp>
        <p:nvSpPr>
          <p:cNvPr id="47107" name="Rectangle 2">
            <a:extLst>
              <a:ext uri="{FF2B5EF4-FFF2-40B4-BE49-F238E27FC236}">
                <a16:creationId xmlns:a16="http://schemas.microsoft.com/office/drawing/2014/main" id="{338360C5-0A5C-4A28-B1C2-CDF269C5FA87}"/>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2B1F6C4A-73D1-458C-B811-8CA98E03E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Horst Feistel, working at IBM Thomas J Watson Research Labs devised a suitable invertible cipher structure in early 70's.</a:t>
            </a:r>
          </a:p>
          <a:p>
            <a:pPr eaLnBrk="1" hangingPunct="1"/>
            <a:r>
              <a:rPr lang="en-AU" altLang="en-US"/>
              <a:t>One of Feistel's main contributions was the invention of a suitable structure which adapted Shannon's S-P network in an easily inverted structure. It partitions input block into two halves which are </a:t>
            </a:r>
            <a:r>
              <a:rPr lang="en-US" altLang="en-US"/>
              <a:t>processed through multiple rounds which perform a substitution on left data half</a:t>
            </a:r>
            <a:r>
              <a:rPr lang="en-AU" altLang="en-US"/>
              <a:t>, based on round function of right half &amp; subkey, and then have permutation swapping halves. Essentially the same h/w or s/w is used for both encryption and decryption, with just a slight change in how the keys are used. One layer of S-boxes and the following P-box are used to form the round function.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a:extLst>
              <a:ext uri="{FF2B5EF4-FFF2-40B4-BE49-F238E27FC236}">
                <a16:creationId xmlns:a16="http://schemas.microsoft.com/office/drawing/2014/main" id="{CADA7EFA-CD71-46FF-871E-43AAFB22F6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D3ED1F2-E8D8-4CBF-92D9-59C51D056BFF}" type="slidenum">
              <a:rPr lang="en-AU" altLang="en-US" sz="1200"/>
              <a:pPr eaLnBrk="1" hangingPunct="1"/>
              <a:t>9</a:t>
            </a:fld>
            <a:endParaRPr lang="en-AU" altLang="en-US" sz="1200"/>
          </a:p>
        </p:txBody>
      </p:sp>
      <p:sp>
        <p:nvSpPr>
          <p:cNvPr id="48131" name="Rectangle 1026">
            <a:extLst>
              <a:ext uri="{FF2B5EF4-FFF2-40B4-BE49-F238E27FC236}">
                <a16:creationId xmlns:a16="http://schemas.microsoft.com/office/drawing/2014/main" id="{7EDF0EFE-A1CA-44D8-9397-87DE66EFE4EB}"/>
              </a:ext>
            </a:extLst>
          </p:cNvPr>
          <p:cNvSpPr>
            <a:spLocks noGrp="1" noRot="1" noChangeAspect="1" noChangeArrowheads="1" noTextEdit="1"/>
          </p:cNvSpPr>
          <p:nvPr>
            <p:ph type="sldImg"/>
          </p:nvPr>
        </p:nvSpPr>
        <p:spPr>
          <a:ln/>
        </p:spPr>
      </p:sp>
      <p:sp>
        <p:nvSpPr>
          <p:cNvPr id="48132" name="Rectangle 1027">
            <a:extLst>
              <a:ext uri="{FF2B5EF4-FFF2-40B4-BE49-F238E27FC236}">
                <a16:creationId xmlns:a16="http://schemas.microsoft.com/office/drawing/2014/main" id="{FA70F801-3230-43C0-915D-8A268F1ECE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3.2 illustrates the classical feistel cipher structure, with data split in 2 halves, processed through a number of rounds which perform a substitution on left half using output of round function on right half &amp; key, and a permutation which swaps halves, as listed previously.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a:extLst>
              <a:ext uri="{FF2B5EF4-FFF2-40B4-BE49-F238E27FC236}">
                <a16:creationId xmlns:a16="http://schemas.microsoft.com/office/drawing/2014/main" id="{1F070E30-03A1-4E6E-BB7C-34D22B625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3F852E7-390B-4C1E-8393-A1AE7A0779FF}" type="slidenum">
              <a:rPr lang="en-AU" altLang="en-US" sz="1200"/>
              <a:pPr eaLnBrk="1" hangingPunct="1"/>
              <a:t>10</a:t>
            </a:fld>
            <a:endParaRPr lang="en-AU" altLang="en-US" sz="1200"/>
          </a:p>
        </p:txBody>
      </p:sp>
      <p:sp>
        <p:nvSpPr>
          <p:cNvPr id="49155" name="Rectangle 1026">
            <a:extLst>
              <a:ext uri="{FF2B5EF4-FFF2-40B4-BE49-F238E27FC236}">
                <a16:creationId xmlns:a16="http://schemas.microsoft.com/office/drawing/2014/main" id="{710F7B75-E85B-49A4-8915-E47FA004476D}"/>
              </a:ext>
            </a:extLst>
          </p:cNvPr>
          <p:cNvSpPr>
            <a:spLocks noGrp="1" noRot="1" noChangeAspect="1" noChangeArrowheads="1" noTextEdit="1"/>
          </p:cNvSpPr>
          <p:nvPr>
            <p:ph type="sldImg"/>
          </p:nvPr>
        </p:nvSpPr>
        <p:spPr>
          <a:ln/>
        </p:spPr>
      </p:sp>
      <p:sp>
        <p:nvSpPr>
          <p:cNvPr id="49156" name="Rectangle 1027">
            <a:extLst>
              <a:ext uri="{FF2B5EF4-FFF2-40B4-BE49-F238E27FC236}">
                <a16:creationId xmlns:a16="http://schemas.microsoft.com/office/drawing/2014/main" id="{98F16062-33F2-45BF-AA2C-CB26CDC745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a:latin typeface="Times-Roman" charset="0"/>
              </a:rPr>
              <a:t>The exact realization of a Feistel network depends on the choice of the following parameters and design features:</a:t>
            </a:r>
            <a:endParaRPr lang="en-AU" altLang="en-US" sz="900" b="1"/>
          </a:p>
          <a:p>
            <a:pPr eaLnBrk="1" hangingPunct="1">
              <a:lnSpc>
                <a:spcPct val="80000"/>
              </a:lnSpc>
              <a:buFontTx/>
              <a:buChar char="•"/>
            </a:pPr>
            <a:r>
              <a:rPr lang="en-AU" altLang="en-US" sz="900" b="1"/>
              <a:t>block size</a:t>
            </a:r>
            <a:r>
              <a:rPr lang="en-AU" altLang="en-US" sz="900"/>
              <a:t>  - increasing size improves security, but slows cipher </a:t>
            </a:r>
          </a:p>
          <a:p>
            <a:pPr eaLnBrk="1" hangingPunct="1">
              <a:lnSpc>
                <a:spcPct val="80000"/>
              </a:lnSpc>
              <a:buFontTx/>
              <a:buChar char="•"/>
            </a:pPr>
            <a:r>
              <a:rPr lang="en-AU" altLang="en-US" sz="900" b="1"/>
              <a:t>key size</a:t>
            </a:r>
            <a:r>
              <a:rPr lang="en-AU" altLang="en-US" sz="900"/>
              <a:t> - increasing size improves security, makes exhaustive key searching harder, but may slow cipher </a:t>
            </a:r>
          </a:p>
          <a:p>
            <a:pPr eaLnBrk="1" hangingPunct="1">
              <a:lnSpc>
                <a:spcPct val="80000"/>
              </a:lnSpc>
              <a:buFontTx/>
              <a:buChar char="•"/>
            </a:pPr>
            <a:r>
              <a:rPr lang="en-AU" altLang="en-US" sz="900" b="1"/>
              <a:t>number of rounds</a:t>
            </a:r>
            <a:r>
              <a:rPr lang="en-AU" altLang="en-US" sz="900"/>
              <a:t> - increasing number improves security, but slows cipher </a:t>
            </a:r>
          </a:p>
          <a:p>
            <a:pPr eaLnBrk="1" hangingPunct="1">
              <a:lnSpc>
                <a:spcPct val="80000"/>
              </a:lnSpc>
              <a:buFontTx/>
              <a:buChar char="•"/>
            </a:pPr>
            <a:r>
              <a:rPr lang="en-AU" altLang="en-US" sz="900" b="1"/>
              <a:t>subkey generation</a:t>
            </a:r>
            <a:r>
              <a:rPr lang="en-AU" altLang="en-US" sz="900"/>
              <a:t> algorithm - greater complexity can make analysis harder, but slows cipher </a:t>
            </a:r>
          </a:p>
          <a:p>
            <a:pPr eaLnBrk="1" hangingPunct="1">
              <a:lnSpc>
                <a:spcPct val="80000"/>
              </a:lnSpc>
              <a:buFontTx/>
              <a:buChar char="•"/>
            </a:pPr>
            <a:r>
              <a:rPr lang="en-AU" altLang="en-US" sz="900" b="1"/>
              <a:t>round function</a:t>
            </a:r>
            <a:r>
              <a:rPr lang="en-AU" altLang="en-US" sz="900"/>
              <a:t> - greater complexity can make analysis harder, but slows cipher </a:t>
            </a:r>
          </a:p>
          <a:p>
            <a:pPr eaLnBrk="1" hangingPunct="1">
              <a:lnSpc>
                <a:spcPct val="80000"/>
              </a:lnSpc>
              <a:buFontTx/>
              <a:buChar char="•"/>
            </a:pPr>
            <a:r>
              <a:rPr lang="en-US" altLang="en-US" sz="900" b="1"/>
              <a:t>fast software en/decryption - </a:t>
            </a:r>
            <a:r>
              <a:rPr lang="en-US" altLang="en-US" sz="900"/>
              <a:t>more recent concern for practical use </a:t>
            </a:r>
            <a:endParaRPr lang="en-US" altLang="en-US" sz="900" b="1"/>
          </a:p>
          <a:p>
            <a:pPr eaLnBrk="1" hangingPunct="1">
              <a:lnSpc>
                <a:spcPct val="80000"/>
              </a:lnSpc>
              <a:buFontTx/>
              <a:buChar char="•"/>
            </a:pPr>
            <a:r>
              <a:rPr lang="en-US" altLang="en-US" sz="900" b="1"/>
              <a:t>ease of analysis - for easier validation &amp; </a:t>
            </a:r>
            <a:r>
              <a:rPr lang="en-US" altLang="en-US" sz="900"/>
              <a:t>testing of strength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a:extLst>
              <a:ext uri="{FF2B5EF4-FFF2-40B4-BE49-F238E27FC236}">
                <a16:creationId xmlns:a16="http://schemas.microsoft.com/office/drawing/2014/main" id="{9C8C5CCA-7B01-43B6-AB76-BEB6B96672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A93FE80-1997-401E-9206-CF3FD0C5373F}" type="slidenum">
              <a:rPr lang="en-AU" altLang="en-US" sz="1200"/>
              <a:pPr eaLnBrk="1" hangingPunct="1"/>
              <a:t>11</a:t>
            </a:fld>
            <a:endParaRPr lang="en-AU" altLang="en-US" sz="1200"/>
          </a:p>
        </p:txBody>
      </p:sp>
      <p:sp>
        <p:nvSpPr>
          <p:cNvPr id="50179" name="Rectangle 2">
            <a:extLst>
              <a:ext uri="{FF2B5EF4-FFF2-40B4-BE49-F238E27FC236}">
                <a16:creationId xmlns:a16="http://schemas.microsoft.com/office/drawing/2014/main" id="{AD9C7B88-23C8-4D31-8021-4EB0F296AE8B}"/>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32DCD95B-4B6C-4DDA-8602-67BC8C640D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process of decryption with a Feistel cipher, as shown in Stallings Figure 3.3, is essentially the same as the encryption process. The rule is as follows: Use the ciphertext as input to the algorithm, but use the subkeys </a:t>
            </a:r>
            <a:r>
              <a:rPr lang="en-AU" altLang="en-US" i="1"/>
              <a:t>Ki </a:t>
            </a:r>
            <a:r>
              <a:rPr lang="en-AU" altLang="en-US"/>
              <a:t>in reverse order. That is, use </a:t>
            </a:r>
            <a:r>
              <a:rPr lang="en-AU" altLang="en-US" i="1"/>
              <a:t>Kn </a:t>
            </a:r>
            <a:r>
              <a:rPr lang="en-AU" altLang="en-US"/>
              <a:t>in the first round, </a:t>
            </a:r>
            <a:r>
              <a:rPr lang="en-AU" altLang="en-US" i="1"/>
              <a:t>Kn</a:t>
            </a:r>
            <a:r>
              <a:rPr lang="en-AU" altLang="en-US"/>
              <a:t>–1 in the second round, and so on until </a:t>
            </a:r>
            <a:r>
              <a:rPr lang="en-AU" altLang="en-US" i="1"/>
              <a:t>K</a:t>
            </a:r>
            <a:r>
              <a:rPr lang="en-AU" altLang="en-US"/>
              <a:t>1 is used in the last round. This is a nice feature because it means we need not implement two different algorithms, one for encryption and one for decryption.</a:t>
            </a:r>
          </a:p>
          <a:p>
            <a:pPr eaLnBrk="1" hangingPunct="1"/>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a:extLst>
              <a:ext uri="{FF2B5EF4-FFF2-40B4-BE49-F238E27FC236}">
                <a16:creationId xmlns:a16="http://schemas.microsoft.com/office/drawing/2014/main" id="{5B4D74FA-7438-4A6A-BBD3-922080AEE5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6A859FD-3F61-4931-B0AF-ADAA2C914EFE}" type="slidenum">
              <a:rPr lang="en-AU" altLang="en-US" sz="1200"/>
              <a:pPr eaLnBrk="1" hangingPunct="1"/>
              <a:t>12</a:t>
            </a:fld>
            <a:endParaRPr lang="en-AU" altLang="en-US" sz="1200"/>
          </a:p>
        </p:txBody>
      </p:sp>
      <p:sp>
        <p:nvSpPr>
          <p:cNvPr id="51203" name="Rectangle 2">
            <a:extLst>
              <a:ext uri="{FF2B5EF4-FFF2-40B4-BE49-F238E27FC236}">
                <a16:creationId xmlns:a16="http://schemas.microsoft.com/office/drawing/2014/main" id="{A9BA50CA-13E1-4AED-BC17-F2FC3CE6BCA0}"/>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C8FE7548-7B90-4CA2-971E-F734D9669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most widely used private key block cipher, is the Data Encryption Standard (DES). It was adopted in 1977 by the National Bureau of Standards as Federal Information Processing Standard 46 (FIPS PUB 46). DES encrypts data in 64-bit blocks using a 56-bit key. The DES enjoys widespread use. It has also been the subject of much controversy its security.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a:extLst>
              <a:ext uri="{FF2B5EF4-FFF2-40B4-BE49-F238E27FC236}">
                <a16:creationId xmlns:a16="http://schemas.microsoft.com/office/drawing/2014/main" id="{BC705564-4B6D-4931-BCFB-1A1A382EC2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6D8B7F9-D2BA-40C1-9C3E-65AFECC85122}" type="slidenum">
              <a:rPr lang="en-AU" altLang="en-US" sz="1200"/>
              <a:pPr eaLnBrk="1" hangingPunct="1"/>
              <a:t>13</a:t>
            </a:fld>
            <a:endParaRPr lang="en-AU" altLang="en-US" sz="1200"/>
          </a:p>
        </p:txBody>
      </p:sp>
      <p:sp>
        <p:nvSpPr>
          <p:cNvPr id="52227" name="Rectangle 1026">
            <a:extLst>
              <a:ext uri="{FF2B5EF4-FFF2-40B4-BE49-F238E27FC236}">
                <a16:creationId xmlns:a16="http://schemas.microsoft.com/office/drawing/2014/main" id="{1C4BA0BF-FD09-4418-97AB-692089BCEC12}"/>
              </a:ext>
            </a:extLst>
          </p:cNvPr>
          <p:cNvSpPr>
            <a:spLocks noGrp="1" noRot="1" noChangeAspect="1" noChangeArrowheads="1" noTextEdit="1"/>
          </p:cNvSpPr>
          <p:nvPr>
            <p:ph type="sldImg"/>
          </p:nvPr>
        </p:nvSpPr>
        <p:spPr>
          <a:ln/>
        </p:spPr>
      </p:sp>
      <p:sp>
        <p:nvSpPr>
          <p:cNvPr id="52228" name="Rectangle 1027">
            <a:extLst>
              <a:ext uri="{FF2B5EF4-FFF2-40B4-BE49-F238E27FC236}">
                <a16:creationId xmlns:a16="http://schemas.microsoft.com/office/drawing/2014/main" id="{AB935373-D05E-4ADF-AC09-26BB19ECC5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 the late 1960s, IBM set up a research project in computer cryptography led by Horst Feistel. The project concluded in 1971 with the development of the LUCIFER algorithm. </a:t>
            </a:r>
            <a:r>
              <a:rPr lang="en-US" altLang="en-US">
                <a:latin typeface="Times-Roman" charset="0"/>
              </a:rPr>
              <a:t>LUCIFER is a Feistel block cipher that operates on blocks of 64 bits, using a key size of 128 bits.</a:t>
            </a:r>
            <a:endParaRPr lang="en-US" altLang="en-US"/>
          </a:p>
          <a:p>
            <a:pPr eaLnBrk="1" hangingPunct="1"/>
            <a:r>
              <a:rPr lang="en-US" altLang="en-US"/>
              <a:t>Because of the promising results produced by the LUCIFER project, IBM embarked on an effort, headed by Walter Tuchman and Carl Meyer, to develop a marketable commercial encryption product that ideally could be implemented on a single chip.  It involved not only IBM researchers but also outside consultants and technical advice from NSA. The outcome of this effort was a refined version of LUCIFER that was more resistant to cryptanalysis but that had a reduced key size of 56 bits, to fit on a single chip. </a:t>
            </a:r>
          </a:p>
          <a:p>
            <a:pPr eaLnBrk="1" hangingPunct="1"/>
            <a:r>
              <a:rPr lang="en-US" altLang="en-US"/>
              <a:t>In 1973, the National Bureau of Standards (NBS) issued a request for proposals for a national cipher standard. IBM submitted the modified LUCIFER. It was by far the best algorithm proposed and was adopted in 1977 as the Data Encryption Standard. </a:t>
            </a:r>
          </a:p>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a:extLst>
              <a:ext uri="{FF2B5EF4-FFF2-40B4-BE49-F238E27FC236}">
                <a16:creationId xmlns:a16="http://schemas.microsoft.com/office/drawing/2014/main" id="{BC458A36-FC9B-4432-9EED-D6F95FED63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7391B7A-E8A8-4F53-8387-3160661697C4}" type="slidenum">
              <a:rPr lang="en-AU" altLang="en-US" sz="1200"/>
              <a:pPr eaLnBrk="1" hangingPunct="1"/>
              <a:t>14</a:t>
            </a:fld>
            <a:endParaRPr lang="en-AU" altLang="en-US" sz="1200"/>
          </a:p>
        </p:txBody>
      </p:sp>
      <p:sp>
        <p:nvSpPr>
          <p:cNvPr id="53251" name="Rectangle 2">
            <a:extLst>
              <a:ext uri="{FF2B5EF4-FFF2-40B4-BE49-F238E27FC236}">
                <a16:creationId xmlns:a16="http://schemas.microsoft.com/office/drawing/2014/main" id="{F9C19305-E5C5-4B8F-B7C5-E0EF8469756A}"/>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312AD4E6-E109-451E-8D3A-AA9E3B2CB3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Before its adoption as a standard, the proposed DES was subjected to intense &amp; continuing criticism over the size of its key &amp; the classified design criteria.</a:t>
            </a:r>
            <a:endParaRPr lang="en-AU" altLang="en-US"/>
          </a:p>
          <a:p>
            <a:pPr eaLnBrk="1" hangingPunct="1"/>
            <a:r>
              <a:rPr lang="en-AU" altLang="en-US"/>
              <a:t>Recent analysis has shown despite this controversy, that DES is well designed. DES is theoretically broken using Differential or Linear Cryptanalysis but in practise is unlikely to be a problem yet. Also rapid advances in computing speed though have rendered the 56 bit key susceptible to exhaustive key search, as predicted by Diffie &amp; Hellman. </a:t>
            </a:r>
          </a:p>
          <a:p>
            <a:pPr eaLnBrk="1" hangingPunct="1"/>
            <a:r>
              <a:rPr lang="en-US" altLang="en-US"/>
              <a:t>DES has flourished and is widely used, especially in financial applications. It is still standardized for legacy systems, with either AES or triple DES for new applications.</a:t>
            </a:r>
            <a:endParaRPr lang="en-AU"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a:extLst>
              <a:ext uri="{FF2B5EF4-FFF2-40B4-BE49-F238E27FC236}">
                <a16:creationId xmlns:a16="http://schemas.microsoft.com/office/drawing/2014/main" id="{5C525E85-F9EC-40C8-BDC9-F3410E5EB8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F414E04-F23F-45D5-8250-49CFC6D12C97}" type="slidenum">
              <a:rPr lang="en-AU" altLang="en-US" sz="1200"/>
              <a:pPr eaLnBrk="1" hangingPunct="1"/>
              <a:t>15</a:t>
            </a:fld>
            <a:endParaRPr lang="en-AU" altLang="en-US" sz="1200"/>
          </a:p>
        </p:txBody>
      </p:sp>
      <p:sp>
        <p:nvSpPr>
          <p:cNvPr id="54275" name="Rectangle 2">
            <a:extLst>
              <a:ext uri="{FF2B5EF4-FFF2-40B4-BE49-F238E27FC236}">
                <a16:creationId xmlns:a16="http://schemas.microsoft.com/office/drawing/2014/main" id="{69661EE6-F111-4420-8A7D-AFBCB40B53E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E3C2DBBA-B117-4655-AC2D-C077E53A4D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overall scheme for DES encryption is illustrated in Stallings Figure3.4, which takes as input 64-bits of data and of key.</a:t>
            </a:r>
            <a:endParaRPr lang="en-AU" altLang="en-US"/>
          </a:p>
          <a:p>
            <a:pPr eaLnBrk="1" hangingPunct="1"/>
            <a:r>
              <a:rPr lang="en-AU" altLang="en-US"/>
              <a:t>The left side shows the basic process for enciphering a 64-bit data block which consists of: </a:t>
            </a:r>
          </a:p>
          <a:p>
            <a:pPr eaLnBrk="1" hangingPunct="1"/>
            <a:r>
              <a:rPr lang="en-AU" altLang="en-US"/>
              <a:t>- an initial permutation (IP) which shuffles the 64-bit input block</a:t>
            </a:r>
          </a:p>
          <a:p>
            <a:pPr eaLnBrk="1" hangingPunct="1"/>
            <a:r>
              <a:rPr lang="en-AU" altLang="en-US"/>
              <a:t>- 16 rounds of a complex key dependent round function involving substitutions &amp; permutations</a:t>
            </a:r>
          </a:p>
          <a:p>
            <a:pPr eaLnBrk="1" hangingPunct="1"/>
            <a:r>
              <a:rPr lang="en-AU" altLang="en-US"/>
              <a:t>- a final permutation, being the inverse of IP </a:t>
            </a:r>
            <a:endParaRPr lang="en-US" altLang="en-US"/>
          </a:p>
          <a:p>
            <a:pPr eaLnBrk="1" hangingPunct="1"/>
            <a:r>
              <a:rPr lang="en-US" altLang="en-US"/>
              <a:t>The right side shows the handling of the 56-bit key and consists of:</a:t>
            </a:r>
          </a:p>
          <a:p>
            <a:pPr eaLnBrk="1" hangingPunct="1"/>
            <a:r>
              <a:rPr lang="en-AU" altLang="en-US"/>
              <a:t>- an initial permutation of the key (PC1) which selects 56-bits out of the 64-bits input, in two 28-bit halves </a:t>
            </a:r>
          </a:p>
          <a:p>
            <a:pPr eaLnBrk="1" hangingPunct="1"/>
            <a:r>
              <a:rPr lang="en-AU" altLang="en-US"/>
              <a:t>- 16 stages to generate the 48-bit subkeys using a left circular shift and a permutation of the two 28-bit halves </a:t>
            </a:r>
          </a:p>
          <a:p>
            <a:pPr eaLnBrk="1" hangingPunct="1"/>
            <a:endParaRPr lang="en-US" altLang="en-US"/>
          </a:p>
          <a:p>
            <a:pPr eaLnBrk="1" hangingPunct="1"/>
            <a:endParaRPr lang="en-AU"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a:extLst>
              <a:ext uri="{FF2B5EF4-FFF2-40B4-BE49-F238E27FC236}">
                <a16:creationId xmlns:a16="http://schemas.microsoft.com/office/drawing/2014/main" id="{17FEFD63-80E2-4F91-B860-84486AFC2D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C9D2984-522E-4E21-9F7E-4A68E9C3DB9E}" type="slidenum">
              <a:rPr lang="en-AU" altLang="en-US" sz="1200"/>
              <a:pPr eaLnBrk="1" hangingPunct="1"/>
              <a:t>16</a:t>
            </a:fld>
            <a:endParaRPr lang="en-AU" altLang="en-US" sz="1200"/>
          </a:p>
        </p:txBody>
      </p:sp>
      <p:sp>
        <p:nvSpPr>
          <p:cNvPr id="55299" name="Rectangle 2">
            <a:extLst>
              <a:ext uri="{FF2B5EF4-FFF2-40B4-BE49-F238E27FC236}">
                <a16:creationId xmlns:a16="http://schemas.microsoft.com/office/drawing/2014/main" id="{C862D1C7-1FC7-4235-A7CD-2648F597985E}"/>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2BC69287-F915-4687-A762-E7FFA2DCD2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initial permutation and its inverse are defined by tables, as shown in Stallings Tables 3.2a and 3.2b, respectively. The tables are to be interpreted as follows. The input to a table consists of 64 bits numbered left to right from 1 to 64. The 64 entries in the permutation table contain a permutation of the numbers from 1 to 64. Each entry in the permutation table indicates the position of a numbered input bit in the output, which also consists of 64 bits.</a:t>
            </a:r>
            <a:endParaRPr lang="en-US" altLang="en-US"/>
          </a:p>
          <a:p>
            <a:pPr eaLnBrk="1" hangingPunct="1"/>
            <a:r>
              <a:rPr lang="en-AU" altLang="en-US"/>
              <a:t>Note that the bit numbering for DES reflects IBM mainframe practice, and is the opposite of what we now mostly use - so be careful! Numbers from Bit 1 (leftmost, most significant) to bit 32/48/64 etc (rightmost, least significant).</a:t>
            </a:r>
            <a:endParaRPr lang="en-US" altLang="en-US"/>
          </a:p>
          <a:p>
            <a:pPr eaLnBrk="1" hangingPunct="1"/>
            <a:r>
              <a:rPr lang="en-US" altLang="en-US"/>
              <a:t>Note that examples are specified using hexadecimal. </a:t>
            </a:r>
          </a:p>
          <a:p>
            <a:pPr eaLnBrk="1" hangingPunct="1"/>
            <a:r>
              <a:rPr lang="en-US" altLang="en-US"/>
              <a:t>Here a 64-bit plaintext value of </a:t>
            </a:r>
            <a:r>
              <a:rPr lang="en-AU" altLang="en-US" sz="800">
                <a:latin typeface="Courier New" panose="02070309020205020404" pitchFamily="49" charset="0"/>
              </a:rPr>
              <a:t>“675a6967 5e5a6b5a” (written in left &amp; right halves)  after permuting with IP becomes “ffb2194d 004df6fb”.</a:t>
            </a:r>
            <a:endParaRPr lang="en-US" altLang="en-US"/>
          </a:p>
          <a:p>
            <a:pPr eaLnBrk="1" hangingPunct="1"/>
            <a:endParaRPr lang="en-AU" altLang="en-US"/>
          </a:p>
          <a:p>
            <a:pPr eaLnBrk="1" hangingPunct="1"/>
            <a:endParaRPr lang="en-AU"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a:extLst>
              <a:ext uri="{FF2B5EF4-FFF2-40B4-BE49-F238E27FC236}">
                <a16:creationId xmlns:a16="http://schemas.microsoft.com/office/drawing/2014/main" id="{04A4A1B4-A58F-4D0F-AB68-236554E2C0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4413C5D-378F-4400-BB5D-1EA94BEA072B}" type="slidenum">
              <a:rPr lang="en-AU" altLang="en-US" sz="1200"/>
              <a:pPr eaLnBrk="1" hangingPunct="1"/>
              <a:t>17</a:t>
            </a:fld>
            <a:endParaRPr lang="en-AU" altLang="en-US" sz="1200"/>
          </a:p>
        </p:txBody>
      </p:sp>
      <p:sp>
        <p:nvSpPr>
          <p:cNvPr id="56323" name="Rectangle 2">
            <a:extLst>
              <a:ext uri="{FF2B5EF4-FFF2-40B4-BE49-F238E27FC236}">
                <a16:creationId xmlns:a16="http://schemas.microsoft.com/office/drawing/2014/main" id="{0AA1E603-4425-4AEF-87D5-B3A0F24B2312}"/>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DD0ED8A3-63D3-4960-8290-83F7FFE590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Detail here the internal structure of the DES round function F, which takes R half &amp; subkey, and processes them through E, add subkey, S &amp; P.</a:t>
            </a:r>
          </a:p>
          <a:p>
            <a:pPr eaLnBrk="1" hangingPunct="1"/>
            <a:r>
              <a:rPr lang="en-US" altLang="en-US"/>
              <a:t>This follows the classic structure for a feistel cipher.</a:t>
            </a:r>
          </a:p>
          <a:p>
            <a:pPr eaLnBrk="1" hangingPunct="1"/>
            <a:r>
              <a:rPr lang="en-US" altLang="en-US"/>
              <a:t>Note that the s-boxes provide the “confusion” of data and key values, whilst the permutation P then spreads this as widely as possible, so each S-box output affects as many S-box inputs in the next round as possible, giving “diffusion”.</a:t>
            </a:r>
            <a:endParaRPr lang="en-AU"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a:extLst>
              <a:ext uri="{FF2B5EF4-FFF2-40B4-BE49-F238E27FC236}">
                <a16:creationId xmlns:a16="http://schemas.microsoft.com/office/drawing/2014/main" id="{B322192C-9984-47D9-9E93-903BB15BAB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CD4C2C4-89FA-421F-81A3-C19A06E05E98}" type="slidenum">
              <a:rPr lang="en-AU" altLang="en-US" sz="1200"/>
              <a:pPr eaLnBrk="1" hangingPunct="1"/>
              <a:t>18</a:t>
            </a:fld>
            <a:endParaRPr lang="en-AU" altLang="en-US" sz="1200"/>
          </a:p>
        </p:txBody>
      </p:sp>
      <p:sp>
        <p:nvSpPr>
          <p:cNvPr id="57347" name="Rectangle 2">
            <a:extLst>
              <a:ext uri="{FF2B5EF4-FFF2-40B4-BE49-F238E27FC236}">
                <a16:creationId xmlns:a16="http://schemas.microsoft.com/office/drawing/2014/main" id="{AC789B8E-3DDC-4C57-979F-6DDFB0E24C99}"/>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F119E4FA-C313-4045-9366-D56E49DED5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3.6 illustrates the internal structure of the DES round function F. The </a:t>
            </a:r>
            <a:r>
              <a:rPr lang="en-US" altLang="en-US">
                <a:latin typeface="Times-Roman" charset="0"/>
              </a:rPr>
              <a:t>R input is first expanded to 48 bits by using expansion table E that defines a permutation plus an expansion that involves duplication of 16 of the R bits (Stallings Table 3.2c). The resulting 48 bits are XORed with Ki.</a:t>
            </a:r>
            <a:r>
              <a:rPr lang="en-US" altLang="en-US">
                <a:latin typeface="Helvetica" panose="020B0604020202020204" pitchFamily="34" charset="0"/>
              </a:rPr>
              <a:t> </a:t>
            </a:r>
            <a:r>
              <a:rPr lang="en-US" altLang="en-US">
                <a:latin typeface="Times-Roman" charset="0"/>
              </a:rPr>
              <a:t>This 48-bit result passes through a substitution function comprising 8 S-boxes which each map 6 input bits to 4 output bits, producing a 32-bit output, which is then permuted by permutation P as defined by Stallings Table 3.2d. </a:t>
            </a:r>
            <a:endParaRPr lang="en-AU" altLang="en-US">
              <a:latin typeface="Times-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a:extLst>
              <a:ext uri="{FF2B5EF4-FFF2-40B4-BE49-F238E27FC236}">
                <a16:creationId xmlns:a16="http://schemas.microsoft.com/office/drawing/2014/main" id="{0FA95916-EBAF-4CEC-82CA-9D3374E252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997AE30-6F68-498A-B6F4-7EE1E2AB0B94}" type="slidenum">
              <a:rPr lang="en-AU" altLang="en-US" sz="1200"/>
              <a:pPr eaLnBrk="1" hangingPunct="1"/>
              <a:t>19</a:t>
            </a:fld>
            <a:endParaRPr lang="en-AU" altLang="en-US" sz="1200"/>
          </a:p>
        </p:txBody>
      </p:sp>
      <p:sp>
        <p:nvSpPr>
          <p:cNvPr id="58371" name="Rectangle 2">
            <a:extLst>
              <a:ext uri="{FF2B5EF4-FFF2-40B4-BE49-F238E27FC236}">
                <a16:creationId xmlns:a16="http://schemas.microsoft.com/office/drawing/2014/main" id="{78135FDE-9E2F-458F-BA53-B64092F5461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4F3FF97F-7EA4-468C-A2EF-D865F9FCA1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substitution consists of a set of eight S-boxes, each of which accepts 6 bits as input and produces 4 bits as output. These transformations are defined in Stallings Table 3.3, which is interpreted as follows: The first and last bits of the input to box S</a:t>
            </a:r>
            <a:r>
              <a:rPr lang="en-AU" altLang="en-US" i="1"/>
              <a:t>i </a:t>
            </a:r>
            <a:r>
              <a:rPr lang="en-AU" altLang="en-US"/>
              <a:t>form a 2-bit binary number to select one of four substitutions defined by the four rows in the table for S</a:t>
            </a:r>
            <a:r>
              <a:rPr lang="en-AU" altLang="en-US" i="1"/>
              <a:t>i</a:t>
            </a:r>
            <a:r>
              <a:rPr lang="en-AU" altLang="en-US"/>
              <a:t>. The middle four bits select one of the sixteen columns. The decimal value in the cell selected by the row and column is then converted to its 4-bit representation to produce the output. For example, in S1, for input 011001, the row is 01 (row 1) and the column is 1100 (column 12). The value in row 1, column 12 is 9, so the output is 1001.</a:t>
            </a:r>
          </a:p>
          <a:p>
            <a:pPr eaLnBrk="1" hangingPunct="1"/>
            <a:endParaRPr lang="en-AU" altLang="en-US"/>
          </a:p>
          <a:p>
            <a:pPr eaLnBrk="1" hangingPunct="1"/>
            <a:r>
              <a:rPr lang="en-AU" altLang="en-US"/>
              <a:t>The example lists 8 6-bit values (ie 18 in hex is 011000 in binary, 09 hex is 001001 binary, 12 hex is 010010  binary, 3d hex is 111101 binary etc), each of which is replaced following the process detailed above using the appropriate S-box. ie</a:t>
            </a:r>
          </a:p>
          <a:p>
            <a:pPr eaLnBrk="1" hangingPunct="1"/>
            <a:r>
              <a:rPr lang="en-AU" altLang="en-US"/>
              <a:t>S1(011000) lookup row 00 col 1100 in S1 to get 5</a:t>
            </a:r>
          </a:p>
          <a:p>
            <a:pPr eaLnBrk="1" hangingPunct="1"/>
            <a:r>
              <a:rPr lang="en-AU" altLang="en-US"/>
              <a:t>S2(001001) lookup row 01 col 0100 in S2 to get 15 = f in hex</a:t>
            </a:r>
          </a:p>
          <a:p>
            <a:pPr eaLnBrk="1" hangingPunct="1"/>
            <a:r>
              <a:rPr lang="en-AU" altLang="en-US"/>
              <a:t>S3(010010) lookup row 00 col 1001 in S3 to get 13 = d in hex</a:t>
            </a:r>
          </a:p>
          <a:p>
            <a:pPr eaLnBrk="1" hangingPunct="1"/>
            <a:r>
              <a:rPr lang="en-AU" altLang="en-US"/>
              <a:t>S4(111101) lookup row 11 col 1110 in S4 to get 2 etc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31">
            <a:extLst>
              <a:ext uri="{FF2B5EF4-FFF2-40B4-BE49-F238E27FC236}">
                <a16:creationId xmlns:a16="http://schemas.microsoft.com/office/drawing/2014/main" id="{EF419E5A-5F09-46D1-9EF5-87A93A6182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FA0CC94-B944-41E4-BD80-EC4DB81F40A8}" type="slidenum">
              <a:rPr lang="en-AU" altLang="en-US" sz="1200"/>
              <a:pPr eaLnBrk="1" hangingPunct="1"/>
              <a:t>20</a:t>
            </a:fld>
            <a:endParaRPr lang="en-AU" altLang="en-US" sz="1200"/>
          </a:p>
        </p:txBody>
      </p:sp>
      <p:sp>
        <p:nvSpPr>
          <p:cNvPr id="59395" name="Rectangle 2">
            <a:extLst>
              <a:ext uri="{FF2B5EF4-FFF2-40B4-BE49-F238E27FC236}">
                <a16:creationId xmlns:a16="http://schemas.microsoft.com/office/drawing/2014/main" id="{9E1D9AF9-289F-4824-9821-4D67522B615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4FB86044-4FBC-4F6F-A1BB-5F8683FB4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DES Key Schedule generates the subkeys needed for each data encryption round. The 64-bit </a:t>
            </a:r>
            <a:r>
              <a:rPr lang="en-US" altLang="en-US">
                <a:latin typeface="Times-Roman" charset="0"/>
              </a:rPr>
              <a:t>key input is first processed by Permuted Choice One (Stallings Table 3.4b). The resulting 56-bit key is then treated as two 28-bit quantities C &amp; D. In each round, these are separately processed throgh a circular left shift (rotation) of 1 or 2bits as shown in Stallings Table 3.4d. These shifted values serve as input to the next round of the key schedule. They also serve as input to Permuted Choice Two (Stallings Table 3.4c), which produces a 48-bit output that serves as input to the round function F.</a:t>
            </a:r>
            <a:endParaRPr lang="en-AU" altLang="en-US"/>
          </a:p>
          <a:p>
            <a:pPr eaLnBrk="1" hangingPunct="1"/>
            <a:endParaRPr lang="en-AU" altLang="en-US"/>
          </a:p>
          <a:p>
            <a:pPr eaLnBrk="1" hangingPunct="1"/>
            <a:r>
              <a:rPr lang="en-AU" altLang="en-US"/>
              <a:t>The 56 bit key size comes from security considerations as we know now. It was big enough so that an exhaustive key search was about as hard as the best direct attack (a form of differential cryptanalysis called a T-attack, known by the IBM &amp; NSA researchers), but no bigger. The extra 8 bits were then used as parity (error detecting) bits, which makes sense given the original design use for hardware communications links. However we hit an incompatibility with simple s/w implementations since the top bit in each byte is 0 (since ASCII only uses 7 bits), but the DES key schedule throws away the bottom bit! A good implementation needs to be cleverer! </a:t>
            </a:r>
            <a:endParaRPr lang="en-US" altLang="en-US"/>
          </a:p>
          <a:p>
            <a:pPr eaLnBrk="1" hangingPunct="1"/>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a:extLst>
              <a:ext uri="{FF2B5EF4-FFF2-40B4-BE49-F238E27FC236}">
                <a16:creationId xmlns:a16="http://schemas.microsoft.com/office/drawing/2014/main" id="{ADF8B2D0-2991-4586-A878-C7170AAF7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E3A5F5B-BC1A-47DF-A49F-3258E1582416}" type="slidenum">
              <a:rPr lang="en-AU" altLang="en-US" sz="1200"/>
              <a:pPr eaLnBrk="1" hangingPunct="1"/>
              <a:t>21</a:t>
            </a:fld>
            <a:endParaRPr lang="en-AU" altLang="en-US" sz="1200"/>
          </a:p>
        </p:txBody>
      </p:sp>
      <p:sp>
        <p:nvSpPr>
          <p:cNvPr id="60419" name="Rectangle 1026">
            <a:extLst>
              <a:ext uri="{FF2B5EF4-FFF2-40B4-BE49-F238E27FC236}">
                <a16:creationId xmlns:a16="http://schemas.microsoft.com/office/drawing/2014/main" id="{052BECF3-4553-4D59-940C-99A57E8FC16B}"/>
              </a:ext>
            </a:extLst>
          </p:cNvPr>
          <p:cNvSpPr>
            <a:spLocks noGrp="1" noRot="1" noChangeAspect="1" noChangeArrowheads="1" noTextEdit="1"/>
          </p:cNvSpPr>
          <p:nvPr>
            <p:ph type="sldImg"/>
          </p:nvPr>
        </p:nvSpPr>
        <p:spPr>
          <a:ln/>
        </p:spPr>
      </p:sp>
      <p:sp>
        <p:nvSpPr>
          <p:cNvPr id="60420" name="Rectangle 1027">
            <a:extLst>
              <a:ext uri="{FF2B5EF4-FFF2-40B4-BE49-F238E27FC236}">
                <a16:creationId xmlns:a16="http://schemas.microsoft.com/office/drawing/2014/main" id="{42CF6D77-715C-4433-B0A6-F40FA01DE7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As with any Feistel cipher, DES decryption uses the same algorithm as encryption except that the subkeys are used in reverse order SK16 .. SK1.</a:t>
            </a:r>
          </a:p>
          <a:p>
            <a:pPr eaLnBrk="1" hangingPunct="1"/>
            <a:r>
              <a:rPr lang="en-US" altLang="en-US">
                <a:latin typeface="Times-Roman" charset="0"/>
              </a:rPr>
              <a:t>If you trace through the DES overview diagram can see how each decryption step top to bottom with reversed subkeys, undoes the equivalent encryption step moving from bottom to top.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31">
            <a:extLst>
              <a:ext uri="{FF2B5EF4-FFF2-40B4-BE49-F238E27FC236}">
                <a16:creationId xmlns:a16="http://schemas.microsoft.com/office/drawing/2014/main" id="{A85EA189-68BF-44C6-8AC0-B3D0E95C1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AAF170D-2ECA-4D21-A758-060B283B0CAD}" type="slidenum">
              <a:rPr lang="en-AU" altLang="en-US" sz="1200"/>
              <a:pPr eaLnBrk="1" hangingPunct="1"/>
              <a:t>22</a:t>
            </a:fld>
            <a:endParaRPr lang="en-AU" altLang="en-US" sz="1200"/>
          </a:p>
        </p:txBody>
      </p:sp>
      <p:sp>
        <p:nvSpPr>
          <p:cNvPr id="61443" name="Rectangle 2">
            <a:extLst>
              <a:ext uri="{FF2B5EF4-FFF2-40B4-BE49-F238E27FC236}">
                <a16:creationId xmlns:a16="http://schemas.microsoft.com/office/drawing/2014/main" id="{27675C23-D52D-4BD8-ACC6-56C2B092354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D4F67A6-A411-462B-B609-8D8246EE64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Roman" charset="0"/>
              </a:rPr>
              <a:t>Since its adoption as a federal standard, there have been lingering concerns about the level of security provided by DES in two areas: key size and the nature of the algorithm.</a:t>
            </a:r>
            <a:endParaRPr lang="en-AU" altLang="en-US" dirty="0"/>
          </a:p>
          <a:p>
            <a:pPr eaLnBrk="1" hangingPunct="1"/>
            <a:r>
              <a:rPr lang="en-US" altLang="en-US" dirty="0">
                <a:latin typeface="Times-Roman" charset="0"/>
              </a:rPr>
              <a:t>With a key length of 56 bits, there are 2^56 possible keys, which is approximately 7.2*10^16 keys. Thus a brute-force attack appeared impractical. </a:t>
            </a:r>
            <a:endParaRPr lang="en-AU" altLang="en-US" dirty="0"/>
          </a:p>
          <a:p>
            <a:pPr eaLnBrk="1" hangingPunct="1"/>
            <a:r>
              <a:rPr lang="en-AU" altLang="en-US" dirty="0"/>
              <a:t>However DES was finally and definitively proved insecure in July 1998, when the Electronic Frontier Foundation (EFF) announced that it had broken a DES encryption using a special-purpose "DES cracker" machine that was built for less than $250,000. The attack took less than three days. The EFF has published a detailed description of the machine, enabling others to build their own cracker [EFF98].</a:t>
            </a:r>
          </a:p>
          <a:p>
            <a:pPr eaLnBrk="1" hangingPunct="1"/>
            <a:r>
              <a:rPr lang="en-AU" altLang="en-US" dirty="0"/>
              <a:t>There have been other demonstrated breaks of the DES using both large networks of computers &amp; dedicated h/w, including: </a:t>
            </a:r>
          </a:p>
          <a:p>
            <a:pPr eaLnBrk="1" hangingPunct="1"/>
            <a:r>
              <a:rPr lang="en-AU" altLang="en-US" dirty="0"/>
              <a:t>- 1997 on a large network of computers in a few months </a:t>
            </a:r>
          </a:p>
          <a:p>
            <a:pPr eaLnBrk="1" hangingPunct="1"/>
            <a:r>
              <a:rPr lang="en-AU" altLang="en-US" dirty="0"/>
              <a:t>- 1998 on dedicated h/w (EFF) in a few days </a:t>
            </a:r>
          </a:p>
          <a:p>
            <a:pPr eaLnBrk="1" hangingPunct="1"/>
            <a:r>
              <a:rPr lang="en-AU" altLang="en-US" dirty="0"/>
              <a:t>- 1999 above combined in 22hrs!</a:t>
            </a:r>
          </a:p>
          <a:p>
            <a:pPr eaLnBrk="1" hangingPunct="1"/>
            <a:r>
              <a:rPr lang="en-US" altLang="en-US" dirty="0">
                <a:latin typeface="Times-Roman" charset="0"/>
              </a:rPr>
              <a:t>It is important to note that there is more to a key-search attack than simply running through all possible keys. Unless known plaintext is provided, the analyst must be able to recognize plaintext as plaintext.</a:t>
            </a:r>
          </a:p>
          <a:p>
            <a:pPr eaLnBrk="1" hangingPunct="1"/>
            <a:r>
              <a:rPr lang="en-US" altLang="en-US" dirty="0">
                <a:latin typeface="Times-Roman" charset="0"/>
              </a:rPr>
              <a:t>Clearly </a:t>
            </a:r>
            <a:r>
              <a:rPr lang="en-US" altLang="en-US" dirty="0"/>
              <a:t>must now consider alternatives to DES</a:t>
            </a:r>
            <a:r>
              <a:rPr lang="en-US" altLang="en-US" dirty="0">
                <a:latin typeface="Times-Roman" charset="0"/>
              </a:rPr>
              <a:t>, the most important of which are AES and triple DES.</a:t>
            </a:r>
            <a:endParaRPr lang="en-AU" altLang="en-US" dirty="0"/>
          </a:p>
          <a:p>
            <a:pPr eaLnBrk="1" hangingPunct="1"/>
            <a:endParaRPr lang="en-AU"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31">
            <a:extLst>
              <a:ext uri="{FF2B5EF4-FFF2-40B4-BE49-F238E27FC236}">
                <a16:creationId xmlns:a16="http://schemas.microsoft.com/office/drawing/2014/main" id="{0EAE5E82-1EB0-483B-A315-3EB27EFF8C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3B1C09F-3DC6-4031-A3FE-DD7D317D1ACF}" type="slidenum">
              <a:rPr lang="en-AU" altLang="en-US" sz="1200"/>
              <a:pPr eaLnBrk="1" hangingPunct="1"/>
              <a:t>23</a:t>
            </a:fld>
            <a:endParaRPr lang="en-AU" altLang="en-US" sz="1200"/>
          </a:p>
        </p:txBody>
      </p:sp>
      <p:sp>
        <p:nvSpPr>
          <p:cNvPr id="62467" name="Rectangle 1026">
            <a:extLst>
              <a:ext uri="{FF2B5EF4-FFF2-40B4-BE49-F238E27FC236}">
                <a16:creationId xmlns:a16="http://schemas.microsoft.com/office/drawing/2014/main" id="{6A58F56C-4725-453A-BCB6-2E70DE57C493}"/>
              </a:ext>
            </a:extLst>
          </p:cNvPr>
          <p:cNvSpPr>
            <a:spLocks noGrp="1" noRot="1" noChangeAspect="1" noChangeArrowheads="1" noTextEdit="1"/>
          </p:cNvSpPr>
          <p:nvPr>
            <p:ph type="sldImg"/>
          </p:nvPr>
        </p:nvSpPr>
        <p:spPr>
          <a:ln/>
        </p:spPr>
      </p:sp>
      <p:sp>
        <p:nvSpPr>
          <p:cNvPr id="62468" name="Rectangle 1027">
            <a:extLst>
              <a:ext uri="{FF2B5EF4-FFF2-40B4-BE49-F238E27FC236}">
                <a16:creationId xmlns:a16="http://schemas.microsoft.com/office/drawing/2014/main" id="{4FF289A9-74EC-423E-9DFA-60EEEA7F32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Another concern is the possibility that cryptanalysis is possible by exploiting the characteristics of the DES algorithm. The focus of concern has been on the eight substitution tables, or S-boxes, that are used in each iteration. These techniques </a:t>
            </a:r>
            <a:r>
              <a:rPr lang="en-AU" altLang="en-US"/>
              <a:t>utilise some deep structure of the cipher by gathering information about encryptions so that eventually you can recover some/all of the sub-key bits, and then exhaustively search for the rest if necessary. Generally these are statistical attacks which depend on the amount of information gathered for their likelihood of success. Attacks of this form include differential cryptanalysis. linear cryptanalysis, and related key attacks.</a:t>
            </a:r>
          </a:p>
          <a:p>
            <a:pPr eaLnBrk="1" hangingPunct="1"/>
            <a:endParaRPr lang="en-US" altLang="en-US">
              <a:latin typeface="Times-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a:extLst>
              <a:ext uri="{FF2B5EF4-FFF2-40B4-BE49-F238E27FC236}">
                <a16:creationId xmlns:a16="http://schemas.microsoft.com/office/drawing/2014/main" id="{FC123FED-783D-4347-BCFA-0874AE8133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5AF784B-6B0B-40EE-90E9-BA889B352043}" type="slidenum">
              <a:rPr lang="en-AU" altLang="en-US" sz="1200"/>
              <a:pPr eaLnBrk="1" hangingPunct="1"/>
              <a:t>24</a:t>
            </a:fld>
            <a:endParaRPr lang="en-AU" altLang="en-US" sz="1200"/>
          </a:p>
        </p:txBody>
      </p:sp>
      <p:sp>
        <p:nvSpPr>
          <p:cNvPr id="63491" name="Rectangle 2">
            <a:extLst>
              <a:ext uri="{FF2B5EF4-FFF2-40B4-BE49-F238E27FC236}">
                <a16:creationId xmlns:a16="http://schemas.microsoft.com/office/drawing/2014/main" id="{CD798044-3B43-4DC7-9E71-CB9B087A1AEE}"/>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408C6324-E8B2-437B-BEB7-F8DAF54C26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We will discuss timing attacks in more detail later, as they relate to public-key algorithms. However,the issue may also be relevant for symmetric ciphers. A timing attack is one in which information about the key or the plaintext is obtained by observing how long it takes a given implementation to perform decryptions on various ciphertexts. A timing attack exploits the fact that an encryption or decryption algorithm often takes slightly different amounts of time on different inputs.</a:t>
            </a:r>
            <a:r>
              <a:rPr lang="en-US" altLang="en-US"/>
              <a:t> The AES analysis process has highlighted this attack approach, and showed that it is a concern particularly with smartcard implementations, though </a:t>
            </a:r>
            <a:r>
              <a:rPr lang="en-US" altLang="en-US">
                <a:latin typeface="Times-Roman" charset="0"/>
              </a:rPr>
              <a:t>DES appears to be fairly resistant to a successful timing attack.</a:t>
            </a:r>
            <a:endParaRPr lang="en-AU" altLang="en-US">
              <a:latin typeface="Times-Roman"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a:extLst>
              <a:ext uri="{FF2B5EF4-FFF2-40B4-BE49-F238E27FC236}">
                <a16:creationId xmlns:a16="http://schemas.microsoft.com/office/drawing/2014/main" id="{DAC8C25E-F46B-4B12-B8BA-1DA5A3325D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500DF48-A09C-4DFD-BA48-03693D814FA3}" type="slidenum">
              <a:rPr lang="en-AU" altLang="en-US" sz="1200"/>
              <a:pPr eaLnBrk="1" hangingPunct="1"/>
              <a:t>25</a:t>
            </a:fld>
            <a:endParaRPr lang="en-AU" altLang="en-US" sz="1200"/>
          </a:p>
        </p:txBody>
      </p:sp>
      <p:sp>
        <p:nvSpPr>
          <p:cNvPr id="64515" name="Rectangle 2">
            <a:extLst>
              <a:ext uri="{FF2B5EF4-FFF2-40B4-BE49-F238E27FC236}">
                <a16:creationId xmlns:a16="http://schemas.microsoft.com/office/drawing/2014/main" id="{3477CF62-CD35-4FCF-8DCF-C9603258B916}"/>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DF955E93-603C-4879-8148-D52188D718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Biham &amp; Shamir </a:t>
            </a:r>
            <a:r>
              <a:rPr lang="en-AU" altLang="en-US"/>
              <a:t>show Differential Cryptanalysis can be successfully used to cryptanalyse the DES with an effort on the order of 2</a:t>
            </a:r>
            <a:r>
              <a:rPr lang="en-AU" altLang="en-US" baseline="30000"/>
              <a:t>47 </a:t>
            </a:r>
            <a:r>
              <a:rPr lang="en-US" altLang="en-US">
                <a:latin typeface="Times-Roman" charset="0"/>
              </a:rPr>
              <a:t>encryptions, </a:t>
            </a:r>
            <a:r>
              <a:rPr lang="en-AU" altLang="en-US"/>
              <a:t>requiring 2</a:t>
            </a:r>
            <a:r>
              <a:rPr lang="en-AU" altLang="en-US" baseline="30000"/>
              <a:t>47</a:t>
            </a:r>
            <a:r>
              <a:rPr lang="en-AU" altLang="en-US"/>
              <a:t> chosen plaintexts. They also </a:t>
            </a:r>
            <a:r>
              <a:rPr lang="en-US" altLang="en-US">
                <a:latin typeface="Times-Roman" charset="0"/>
              </a:rPr>
              <a:t>demonstrated this form of attack on a variety of encryption algorithms and hash functions.</a:t>
            </a:r>
            <a:endParaRPr lang="en-AU" altLang="en-US"/>
          </a:p>
          <a:p>
            <a:pPr eaLnBrk="1" hangingPunct="1"/>
            <a:r>
              <a:rPr lang="en-AU" altLang="en-US"/>
              <a:t>Differential cryptanalysis was known to the IBM DES design team as early as 1974 (as a T attack), and influenced the design of the S-boxes and the permutation P to improve its resistance to it. Compare DES’s security with the cryptanalysis of an eight-round LUCIFER algorithm which requires only 256 chosen plaintexts, verses an attack on an eight-round version of DES requires 2</a:t>
            </a:r>
            <a:r>
              <a:rPr lang="en-AU" altLang="en-US" baseline="30000"/>
              <a:t>14</a:t>
            </a:r>
            <a:r>
              <a:rPr lang="en-AU" altLang="en-US"/>
              <a:t> chosen plaintexts.</a:t>
            </a:r>
          </a:p>
          <a:p>
            <a:pPr eaLnBrk="1" hangingPunct="1"/>
            <a:endParaRPr lang="en-AU" altLang="en-US"/>
          </a:p>
          <a:p>
            <a:pPr eaLnBrk="1" hangingPunct="1"/>
            <a:endParaRPr lang="en-AU" altLang="en-US"/>
          </a:p>
          <a:p>
            <a:pPr eaLnBrk="1" hangingPunct="1"/>
            <a:endParaRPr lang="en-AU" altLang="en-US"/>
          </a:p>
          <a:p>
            <a:pPr eaLnBrk="1" hangingPunct="1"/>
            <a:endParaRPr lang="en-AU"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31">
            <a:extLst>
              <a:ext uri="{FF2B5EF4-FFF2-40B4-BE49-F238E27FC236}">
                <a16:creationId xmlns:a16="http://schemas.microsoft.com/office/drawing/2014/main" id="{99D9AD5A-9A22-440B-A26E-59EE91DA28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83D0683-3708-4649-9E2D-5854977D08D6}" type="slidenum">
              <a:rPr lang="en-AU" altLang="en-US" sz="1200"/>
              <a:pPr eaLnBrk="1" hangingPunct="1"/>
              <a:t>26</a:t>
            </a:fld>
            <a:endParaRPr lang="en-AU" altLang="en-US" sz="1200"/>
          </a:p>
        </p:txBody>
      </p:sp>
      <p:sp>
        <p:nvSpPr>
          <p:cNvPr id="65539" name="Rectangle 1026">
            <a:extLst>
              <a:ext uri="{FF2B5EF4-FFF2-40B4-BE49-F238E27FC236}">
                <a16:creationId xmlns:a16="http://schemas.microsoft.com/office/drawing/2014/main" id="{1B671887-66A6-4CDB-B4C7-15E574E187BD}"/>
              </a:ext>
            </a:extLst>
          </p:cNvPr>
          <p:cNvSpPr>
            <a:spLocks noGrp="1" noRot="1" noChangeAspect="1" noChangeArrowheads="1" noTextEdit="1"/>
          </p:cNvSpPr>
          <p:nvPr>
            <p:ph type="sldImg"/>
          </p:nvPr>
        </p:nvSpPr>
        <p:spPr>
          <a:ln/>
        </p:spPr>
      </p:sp>
      <p:sp>
        <p:nvSpPr>
          <p:cNvPr id="65540" name="Rectangle 1027">
            <a:extLst>
              <a:ext uri="{FF2B5EF4-FFF2-40B4-BE49-F238E27FC236}">
                <a16:creationId xmlns:a16="http://schemas.microsoft.com/office/drawing/2014/main" id="{C274F945-50C3-41B8-A88C-F57D0C935A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differential cryptanalysis attack is complex. The rationale behind differential cryptanalysis is to observe the behavior of pairs of text blocks evolving along each round of the cipher, instead of observing the evolution of a single text block. Each round of DES maps the right-hand input into the left-hand output and sets the right-hand output to be a function of the left-hand input and the subkey for this round, which means you </a:t>
            </a:r>
            <a:r>
              <a:rPr lang="en-AU" altLang="en-US"/>
              <a:t>cannot trace values back through cipher without knowing the value of the key. Differential Cryptanalysis compares two related pairs of encryptions, which can leak information about the key, given a sufficiently large number of suitable pairs.</a:t>
            </a:r>
          </a:p>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31">
            <a:extLst>
              <a:ext uri="{FF2B5EF4-FFF2-40B4-BE49-F238E27FC236}">
                <a16:creationId xmlns:a16="http://schemas.microsoft.com/office/drawing/2014/main" id="{C623F14E-57AA-4E56-95B2-85BB7CD43C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B39C11E-BF5F-409A-8142-D4550B3D04FC}" type="slidenum">
              <a:rPr lang="en-AU" altLang="en-US" sz="1200"/>
              <a:pPr eaLnBrk="1" hangingPunct="1"/>
              <a:t>27</a:t>
            </a:fld>
            <a:endParaRPr lang="en-AU" altLang="en-US" sz="1200"/>
          </a:p>
        </p:txBody>
      </p:sp>
      <p:sp>
        <p:nvSpPr>
          <p:cNvPr id="70659" name="Rectangle 2">
            <a:extLst>
              <a:ext uri="{FF2B5EF4-FFF2-40B4-BE49-F238E27FC236}">
                <a16:creationId xmlns:a16="http://schemas.microsoft.com/office/drawing/2014/main" id="{0615E3B9-13AC-41D2-AF46-4021F6A0EF8C}"/>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FF028697-6F2B-4BCB-AFAC-C4FAD8D3F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 more recent development is linear cryptanalysis. This attack is based on finding linear approximations to describe the transformations performed in DES. This method can find a DES key given 2^43 known plaintexts, as compared to 2^47 chosen plaintexts for differential cryptanalysis. Although this is a minor improvement, because it may be easier to acquire known plaintext rather than chosen plaintext, it still leaves linear cryptanalysis infeasible as an attack on DES.</a:t>
            </a:r>
            <a:r>
              <a:rPr lang="en-AU" altLang="en-US"/>
              <a:t> Again, this attack uses structure not seen before. </a:t>
            </a:r>
            <a:r>
              <a:rPr lang="en-US" altLang="en-US">
                <a:latin typeface="Times-Roman" charset="0"/>
              </a:rPr>
              <a:t>So far, little work has been done by other groups to validate the linear cryptanalytic approach. </a:t>
            </a:r>
            <a:endParaRPr lang="en-AU" altLang="en-US">
              <a:latin typeface="Times-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FBFF220C-6155-4D0B-8D3D-8DE99268211E}"/>
              </a:ext>
            </a:extLst>
          </p:cNvPr>
          <p:cNvGrpSpPr>
            <a:grpSpLocks/>
          </p:cNvGrpSpPr>
          <p:nvPr/>
        </p:nvGrpSpPr>
        <p:grpSpPr bwMode="auto">
          <a:xfrm>
            <a:off x="3175" y="4267200"/>
            <a:ext cx="9140825" cy="2590800"/>
            <a:chOff x="2" y="2688"/>
            <a:chExt cx="5758" cy="1632"/>
          </a:xfrm>
        </p:grpSpPr>
        <p:sp>
          <p:nvSpPr>
            <p:cNvPr id="5" name="Freeform 3">
              <a:extLst>
                <a:ext uri="{FF2B5EF4-FFF2-40B4-BE49-F238E27FC236}">
                  <a16:creationId xmlns:a16="http://schemas.microsoft.com/office/drawing/2014/main" id="{43CDE278-7BC6-4FD8-ACB4-80EAF5646978}"/>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6" name="Group 4">
              <a:extLst>
                <a:ext uri="{FF2B5EF4-FFF2-40B4-BE49-F238E27FC236}">
                  <a16:creationId xmlns:a16="http://schemas.microsoft.com/office/drawing/2014/main" id="{F95E3B91-8AC4-4E7C-88AD-C0F246B673C2}"/>
                </a:ext>
              </a:extLst>
            </p:cNvPr>
            <p:cNvGrpSpPr>
              <a:grpSpLocks/>
            </p:cNvGrpSpPr>
            <p:nvPr/>
          </p:nvGrpSpPr>
          <p:grpSpPr bwMode="auto">
            <a:xfrm>
              <a:off x="1776" y="3024"/>
              <a:ext cx="3929" cy="1290"/>
              <a:chOff x="1776" y="3024"/>
              <a:chExt cx="3929" cy="1290"/>
            </a:xfrm>
          </p:grpSpPr>
          <p:grpSp>
            <p:nvGrpSpPr>
              <p:cNvPr id="7" name="Group 5">
                <a:extLst>
                  <a:ext uri="{FF2B5EF4-FFF2-40B4-BE49-F238E27FC236}">
                    <a16:creationId xmlns:a16="http://schemas.microsoft.com/office/drawing/2014/main" id="{7EF31133-72F8-4C9C-BF9B-E1B7D8EA33C2}"/>
                  </a:ext>
                </a:extLst>
              </p:cNvPr>
              <p:cNvGrpSpPr>
                <a:grpSpLocks/>
              </p:cNvGrpSpPr>
              <p:nvPr/>
            </p:nvGrpSpPr>
            <p:grpSpPr bwMode="auto">
              <a:xfrm>
                <a:off x="2268" y="3934"/>
                <a:ext cx="638" cy="377"/>
                <a:chOff x="2268" y="3934"/>
                <a:chExt cx="638" cy="377"/>
              </a:xfrm>
            </p:grpSpPr>
            <p:sp>
              <p:nvSpPr>
                <p:cNvPr id="60" name="Oval 6">
                  <a:extLst>
                    <a:ext uri="{FF2B5EF4-FFF2-40B4-BE49-F238E27FC236}">
                      <a16:creationId xmlns:a16="http://schemas.microsoft.com/office/drawing/2014/main" id="{7055B30D-BFF9-455B-BDFC-416BF93179D0}"/>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61" name="Oval 7">
                  <a:extLst>
                    <a:ext uri="{FF2B5EF4-FFF2-40B4-BE49-F238E27FC236}">
                      <a16:creationId xmlns:a16="http://schemas.microsoft.com/office/drawing/2014/main" id="{6937CD7A-1A13-418B-9B7D-0EFF1B2DB37F}"/>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62" name="Oval 8">
                  <a:extLst>
                    <a:ext uri="{FF2B5EF4-FFF2-40B4-BE49-F238E27FC236}">
                      <a16:creationId xmlns:a16="http://schemas.microsoft.com/office/drawing/2014/main" id="{FE933C45-8001-4205-95B6-9D2391EA2D5C}"/>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63" name="Oval 9">
                  <a:extLst>
                    <a:ext uri="{FF2B5EF4-FFF2-40B4-BE49-F238E27FC236}">
                      <a16:creationId xmlns:a16="http://schemas.microsoft.com/office/drawing/2014/main" id="{B21602F8-2F98-4A1A-ABBA-1E60F209059F}"/>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4" name="Oval 10">
                  <a:extLst>
                    <a:ext uri="{FF2B5EF4-FFF2-40B4-BE49-F238E27FC236}">
                      <a16:creationId xmlns:a16="http://schemas.microsoft.com/office/drawing/2014/main" id="{63C19762-946D-48E2-9C09-7092B4CD11D7}"/>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65" name="Oval 11">
                  <a:extLst>
                    <a:ext uri="{FF2B5EF4-FFF2-40B4-BE49-F238E27FC236}">
                      <a16:creationId xmlns:a16="http://schemas.microsoft.com/office/drawing/2014/main" id="{9370D06E-EE4F-4777-8DBB-9E0FFCEF1E83}"/>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6" name="Oval 12">
                  <a:extLst>
                    <a:ext uri="{FF2B5EF4-FFF2-40B4-BE49-F238E27FC236}">
                      <a16:creationId xmlns:a16="http://schemas.microsoft.com/office/drawing/2014/main" id="{BCF0A579-2343-4DCC-8B67-C3FF14962DC9}"/>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67" name="Oval 13">
                  <a:extLst>
                    <a:ext uri="{FF2B5EF4-FFF2-40B4-BE49-F238E27FC236}">
                      <a16:creationId xmlns:a16="http://schemas.microsoft.com/office/drawing/2014/main" id="{B189F3EE-2E9D-4CAA-A249-94AA597DD96A}"/>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8" name="Oval 14">
                <a:extLst>
                  <a:ext uri="{FF2B5EF4-FFF2-40B4-BE49-F238E27FC236}">
                    <a16:creationId xmlns:a16="http://schemas.microsoft.com/office/drawing/2014/main" id="{01C89C3F-AB50-4928-98DB-5BAEC76DF5ED}"/>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9" name="Oval 15">
                <a:extLst>
                  <a:ext uri="{FF2B5EF4-FFF2-40B4-BE49-F238E27FC236}">
                    <a16:creationId xmlns:a16="http://schemas.microsoft.com/office/drawing/2014/main" id="{098CEF23-F6BB-4343-985B-8301E7DA78D9}"/>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10" name="Oval 16">
                <a:extLst>
                  <a:ext uri="{FF2B5EF4-FFF2-40B4-BE49-F238E27FC236}">
                    <a16:creationId xmlns:a16="http://schemas.microsoft.com/office/drawing/2014/main" id="{DC440C02-FE43-4189-B418-C81CF0CCDB6B}"/>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1" name="Oval 17">
                <a:extLst>
                  <a:ext uri="{FF2B5EF4-FFF2-40B4-BE49-F238E27FC236}">
                    <a16:creationId xmlns:a16="http://schemas.microsoft.com/office/drawing/2014/main" id="{B73FB9BA-A2B2-43F5-A6C4-C5754FC7BDA9}"/>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2" name="Oval 18">
                <a:extLst>
                  <a:ext uri="{FF2B5EF4-FFF2-40B4-BE49-F238E27FC236}">
                    <a16:creationId xmlns:a16="http://schemas.microsoft.com/office/drawing/2014/main" id="{BDD4DFBC-30F2-4B80-9717-0411B66BD109}"/>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 name="Freeform 19">
                <a:extLst>
                  <a:ext uri="{FF2B5EF4-FFF2-40B4-BE49-F238E27FC236}">
                    <a16:creationId xmlns:a16="http://schemas.microsoft.com/office/drawing/2014/main" id="{8BCA5098-1CDF-4C37-89CC-B4C5DAD65790}"/>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14" name="Freeform 20">
                <a:extLst>
                  <a:ext uri="{FF2B5EF4-FFF2-40B4-BE49-F238E27FC236}">
                    <a16:creationId xmlns:a16="http://schemas.microsoft.com/office/drawing/2014/main" id="{521158E9-2891-4BB9-B3BA-BE370A168210}"/>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15" name="Freeform 21">
                <a:extLst>
                  <a:ext uri="{FF2B5EF4-FFF2-40B4-BE49-F238E27FC236}">
                    <a16:creationId xmlns:a16="http://schemas.microsoft.com/office/drawing/2014/main" id="{89DDEE4C-CE64-4316-9639-54612DB8B04A}"/>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6" name="Freeform 22">
                <a:extLst>
                  <a:ext uri="{FF2B5EF4-FFF2-40B4-BE49-F238E27FC236}">
                    <a16:creationId xmlns:a16="http://schemas.microsoft.com/office/drawing/2014/main" id="{EC7D35AA-03CE-476F-92D1-5317BE6FCEC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17" name="Freeform 23">
                <a:extLst>
                  <a:ext uri="{FF2B5EF4-FFF2-40B4-BE49-F238E27FC236}">
                    <a16:creationId xmlns:a16="http://schemas.microsoft.com/office/drawing/2014/main" id="{9BD0A91B-36E8-49A5-82B1-A886F23C185E}"/>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18" name="Freeform 24">
                <a:extLst>
                  <a:ext uri="{FF2B5EF4-FFF2-40B4-BE49-F238E27FC236}">
                    <a16:creationId xmlns:a16="http://schemas.microsoft.com/office/drawing/2014/main" id="{928E569F-E2FA-4F72-BDF1-8F36D66251BE}"/>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19" name="Freeform 25">
                <a:extLst>
                  <a:ext uri="{FF2B5EF4-FFF2-40B4-BE49-F238E27FC236}">
                    <a16:creationId xmlns:a16="http://schemas.microsoft.com/office/drawing/2014/main" id="{E02187E8-6EDC-4F54-8DB1-53BFCD72D646}"/>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20" name="Freeform 26">
                <a:extLst>
                  <a:ext uri="{FF2B5EF4-FFF2-40B4-BE49-F238E27FC236}">
                    <a16:creationId xmlns:a16="http://schemas.microsoft.com/office/drawing/2014/main" id="{0AE80646-85F8-4BD6-BD44-6DA2CEC01FE3}"/>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21" name="Freeform 27">
                <a:extLst>
                  <a:ext uri="{FF2B5EF4-FFF2-40B4-BE49-F238E27FC236}">
                    <a16:creationId xmlns:a16="http://schemas.microsoft.com/office/drawing/2014/main" id="{213A1E26-B666-4E66-B01C-846F19D7243E}"/>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22" name="Freeform 28">
                <a:extLst>
                  <a:ext uri="{FF2B5EF4-FFF2-40B4-BE49-F238E27FC236}">
                    <a16:creationId xmlns:a16="http://schemas.microsoft.com/office/drawing/2014/main" id="{D7C9EC0F-4B0F-4FC5-B8DC-506893DDF1E4}"/>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23" name="Freeform 29">
                <a:extLst>
                  <a:ext uri="{FF2B5EF4-FFF2-40B4-BE49-F238E27FC236}">
                    <a16:creationId xmlns:a16="http://schemas.microsoft.com/office/drawing/2014/main" id="{24EA664C-A32B-4015-B60D-129A21C7752D}"/>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24" name="Freeform 30">
                <a:extLst>
                  <a:ext uri="{FF2B5EF4-FFF2-40B4-BE49-F238E27FC236}">
                    <a16:creationId xmlns:a16="http://schemas.microsoft.com/office/drawing/2014/main" id="{9FA55003-A9CF-46C2-86A1-06BCFECBB670}"/>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25" name="Freeform 31">
                <a:extLst>
                  <a:ext uri="{FF2B5EF4-FFF2-40B4-BE49-F238E27FC236}">
                    <a16:creationId xmlns:a16="http://schemas.microsoft.com/office/drawing/2014/main" id="{E3D5483E-E05E-4A3D-9B72-F4FEDD98F210}"/>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6" name="Freeform 32">
                <a:extLst>
                  <a:ext uri="{FF2B5EF4-FFF2-40B4-BE49-F238E27FC236}">
                    <a16:creationId xmlns:a16="http://schemas.microsoft.com/office/drawing/2014/main" id="{3423E88A-EF83-4624-95DA-4D9F9EB5BA73}"/>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7" name="Freeform 33">
                <a:extLst>
                  <a:ext uri="{FF2B5EF4-FFF2-40B4-BE49-F238E27FC236}">
                    <a16:creationId xmlns:a16="http://schemas.microsoft.com/office/drawing/2014/main" id="{589B7FCE-C19F-43FC-AE0A-7550FC7B5992}"/>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8" name="Freeform 34">
                <a:extLst>
                  <a:ext uri="{FF2B5EF4-FFF2-40B4-BE49-F238E27FC236}">
                    <a16:creationId xmlns:a16="http://schemas.microsoft.com/office/drawing/2014/main" id="{6F0EFC2B-FFF7-47B5-B757-7065FE1D5F7E}"/>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29" name="Freeform 35">
                <a:extLst>
                  <a:ext uri="{FF2B5EF4-FFF2-40B4-BE49-F238E27FC236}">
                    <a16:creationId xmlns:a16="http://schemas.microsoft.com/office/drawing/2014/main" id="{EBD53100-2566-486B-B532-E4D75262D2E8}"/>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0" name="Freeform 36">
                <a:extLst>
                  <a:ext uri="{FF2B5EF4-FFF2-40B4-BE49-F238E27FC236}">
                    <a16:creationId xmlns:a16="http://schemas.microsoft.com/office/drawing/2014/main" id="{C04C05D3-73B9-4D4C-9A98-C6CED55D5E91}"/>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1" name="Freeform 37">
                <a:extLst>
                  <a:ext uri="{FF2B5EF4-FFF2-40B4-BE49-F238E27FC236}">
                    <a16:creationId xmlns:a16="http://schemas.microsoft.com/office/drawing/2014/main" id="{48661F80-AE41-411E-AAE6-8C458C023A2B}"/>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32" name="Freeform 38">
                <a:extLst>
                  <a:ext uri="{FF2B5EF4-FFF2-40B4-BE49-F238E27FC236}">
                    <a16:creationId xmlns:a16="http://schemas.microsoft.com/office/drawing/2014/main" id="{13B8A805-7301-40B9-A154-D7BB161EE9BD}"/>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3" name="Freeform 39">
                <a:extLst>
                  <a:ext uri="{FF2B5EF4-FFF2-40B4-BE49-F238E27FC236}">
                    <a16:creationId xmlns:a16="http://schemas.microsoft.com/office/drawing/2014/main" id="{0927C9FD-7950-477E-8018-32C2DBB41C4C}"/>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4" name="Freeform 40">
                <a:extLst>
                  <a:ext uri="{FF2B5EF4-FFF2-40B4-BE49-F238E27FC236}">
                    <a16:creationId xmlns:a16="http://schemas.microsoft.com/office/drawing/2014/main" id="{5A011986-DD0F-4623-9F97-B71614FDCAE5}"/>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5" name="Freeform 41">
                <a:extLst>
                  <a:ext uri="{FF2B5EF4-FFF2-40B4-BE49-F238E27FC236}">
                    <a16:creationId xmlns:a16="http://schemas.microsoft.com/office/drawing/2014/main" id="{15AA00E8-C275-4E00-9727-68E0137F5C87}"/>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6" name="Freeform 42">
                <a:extLst>
                  <a:ext uri="{FF2B5EF4-FFF2-40B4-BE49-F238E27FC236}">
                    <a16:creationId xmlns:a16="http://schemas.microsoft.com/office/drawing/2014/main" id="{935A218F-0F63-449C-AC73-7F906AD01C98}"/>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37" name="Freeform 43">
                <a:extLst>
                  <a:ext uri="{FF2B5EF4-FFF2-40B4-BE49-F238E27FC236}">
                    <a16:creationId xmlns:a16="http://schemas.microsoft.com/office/drawing/2014/main" id="{84DA35E9-62D9-4612-8A6C-CA9A208516E3}"/>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38" name="Freeform 44">
                <a:extLst>
                  <a:ext uri="{FF2B5EF4-FFF2-40B4-BE49-F238E27FC236}">
                    <a16:creationId xmlns:a16="http://schemas.microsoft.com/office/drawing/2014/main" id="{5A269D5E-8828-4F86-B2BA-531385211453}"/>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9" name="Freeform 45">
                <a:extLst>
                  <a:ext uri="{FF2B5EF4-FFF2-40B4-BE49-F238E27FC236}">
                    <a16:creationId xmlns:a16="http://schemas.microsoft.com/office/drawing/2014/main" id="{32D3F6D1-22EA-4399-A43C-13E2003E150C}"/>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40" name="Freeform 46">
                <a:extLst>
                  <a:ext uri="{FF2B5EF4-FFF2-40B4-BE49-F238E27FC236}">
                    <a16:creationId xmlns:a16="http://schemas.microsoft.com/office/drawing/2014/main" id="{73C69E16-7F86-40B6-A925-766B7CA297F8}"/>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1" name="Freeform 47">
                <a:extLst>
                  <a:ext uri="{FF2B5EF4-FFF2-40B4-BE49-F238E27FC236}">
                    <a16:creationId xmlns:a16="http://schemas.microsoft.com/office/drawing/2014/main" id="{40DE7383-4D80-4FF7-B669-6813DD94F06D}"/>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2" name="Freeform 48">
                <a:extLst>
                  <a:ext uri="{FF2B5EF4-FFF2-40B4-BE49-F238E27FC236}">
                    <a16:creationId xmlns:a16="http://schemas.microsoft.com/office/drawing/2014/main" id="{2F49207F-278E-41B7-8026-287018121295}"/>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3" name="Freeform 49">
                <a:extLst>
                  <a:ext uri="{FF2B5EF4-FFF2-40B4-BE49-F238E27FC236}">
                    <a16:creationId xmlns:a16="http://schemas.microsoft.com/office/drawing/2014/main" id="{14202FFE-C534-4F70-A376-8C61BA191CA2}"/>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4" name="Freeform 50">
                <a:extLst>
                  <a:ext uri="{FF2B5EF4-FFF2-40B4-BE49-F238E27FC236}">
                    <a16:creationId xmlns:a16="http://schemas.microsoft.com/office/drawing/2014/main" id="{0EE29B21-7630-4CA9-A469-9A1923EA3D09}"/>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5" name="Freeform 51">
                <a:extLst>
                  <a:ext uri="{FF2B5EF4-FFF2-40B4-BE49-F238E27FC236}">
                    <a16:creationId xmlns:a16="http://schemas.microsoft.com/office/drawing/2014/main" id="{92A268B3-0CBA-46DC-A343-B6BDCB963A7A}"/>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6" name="Freeform 52">
                <a:extLst>
                  <a:ext uri="{FF2B5EF4-FFF2-40B4-BE49-F238E27FC236}">
                    <a16:creationId xmlns:a16="http://schemas.microsoft.com/office/drawing/2014/main" id="{9984C2EF-055C-4467-A5B3-0AACAF959F0B}"/>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7" name="Oval 53">
                <a:extLst>
                  <a:ext uri="{FF2B5EF4-FFF2-40B4-BE49-F238E27FC236}">
                    <a16:creationId xmlns:a16="http://schemas.microsoft.com/office/drawing/2014/main" id="{5D8B3216-DA58-4C59-AD9F-F13663918487}"/>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48" name="Group 54">
                <a:extLst>
                  <a:ext uri="{FF2B5EF4-FFF2-40B4-BE49-F238E27FC236}">
                    <a16:creationId xmlns:a16="http://schemas.microsoft.com/office/drawing/2014/main" id="{E6ABF919-0EB8-4892-B990-488B20E4FFB6}"/>
                  </a:ext>
                </a:extLst>
              </p:cNvPr>
              <p:cNvGrpSpPr>
                <a:grpSpLocks/>
              </p:cNvGrpSpPr>
              <p:nvPr/>
            </p:nvGrpSpPr>
            <p:grpSpPr bwMode="auto">
              <a:xfrm>
                <a:off x="4546" y="3608"/>
                <a:ext cx="518" cy="319"/>
                <a:chOff x="4546" y="3608"/>
                <a:chExt cx="518" cy="319"/>
              </a:xfrm>
            </p:grpSpPr>
            <p:sp>
              <p:nvSpPr>
                <p:cNvPr id="54" name="Oval 55">
                  <a:extLst>
                    <a:ext uri="{FF2B5EF4-FFF2-40B4-BE49-F238E27FC236}">
                      <a16:creationId xmlns:a16="http://schemas.microsoft.com/office/drawing/2014/main" id="{4CA325E6-4C97-4CAF-BF7C-FB22FA22EF56}"/>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55" name="Oval 56">
                  <a:extLst>
                    <a:ext uri="{FF2B5EF4-FFF2-40B4-BE49-F238E27FC236}">
                      <a16:creationId xmlns:a16="http://schemas.microsoft.com/office/drawing/2014/main" id="{3F1C8A4D-691B-4596-B78B-C6829D52D4F8}"/>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56" name="Oval 57">
                  <a:extLst>
                    <a:ext uri="{FF2B5EF4-FFF2-40B4-BE49-F238E27FC236}">
                      <a16:creationId xmlns:a16="http://schemas.microsoft.com/office/drawing/2014/main" id="{2DEBF041-A42A-4B95-873A-C59A7DE2C71E}"/>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7" name="Oval 58">
                  <a:extLst>
                    <a:ext uri="{FF2B5EF4-FFF2-40B4-BE49-F238E27FC236}">
                      <a16:creationId xmlns:a16="http://schemas.microsoft.com/office/drawing/2014/main" id="{5A587320-6A98-487F-8B92-4F657A41AF7F}"/>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58" name="Oval 59">
                  <a:extLst>
                    <a:ext uri="{FF2B5EF4-FFF2-40B4-BE49-F238E27FC236}">
                      <a16:creationId xmlns:a16="http://schemas.microsoft.com/office/drawing/2014/main" id="{7EF1873E-4A7B-452C-BA6D-1401E048956E}"/>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9" name="Oval 60">
                  <a:extLst>
                    <a:ext uri="{FF2B5EF4-FFF2-40B4-BE49-F238E27FC236}">
                      <a16:creationId xmlns:a16="http://schemas.microsoft.com/office/drawing/2014/main" id="{5A24FC76-6D98-450B-82EA-8785876658EC}"/>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49" name="Group 61">
                <a:extLst>
                  <a:ext uri="{FF2B5EF4-FFF2-40B4-BE49-F238E27FC236}">
                    <a16:creationId xmlns:a16="http://schemas.microsoft.com/office/drawing/2014/main" id="{E354BEEA-E359-4042-B060-26523A0F8150}"/>
                  </a:ext>
                </a:extLst>
              </p:cNvPr>
              <p:cNvGrpSpPr>
                <a:grpSpLocks/>
              </p:cNvGrpSpPr>
              <p:nvPr/>
            </p:nvGrpSpPr>
            <p:grpSpPr bwMode="auto">
              <a:xfrm>
                <a:off x="5381" y="3085"/>
                <a:ext cx="227" cy="132"/>
                <a:chOff x="5381" y="3085"/>
                <a:chExt cx="227" cy="132"/>
              </a:xfrm>
            </p:grpSpPr>
            <p:sp>
              <p:nvSpPr>
                <p:cNvPr id="50" name="Oval 62">
                  <a:extLst>
                    <a:ext uri="{FF2B5EF4-FFF2-40B4-BE49-F238E27FC236}">
                      <a16:creationId xmlns:a16="http://schemas.microsoft.com/office/drawing/2014/main" id="{B9737058-345E-4C7B-A3A5-BF52343E2AE2}"/>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1" name="Oval 63">
                  <a:extLst>
                    <a:ext uri="{FF2B5EF4-FFF2-40B4-BE49-F238E27FC236}">
                      <a16:creationId xmlns:a16="http://schemas.microsoft.com/office/drawing/2014/main" id="{86B5BFA3-A9B7-4506-9BB3-5C44E5F77F08}"/>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52" name="Oval 64">
                  <a:extLst>
                    <a:ext uri="{FF2B5EF4-FFF2-40B4-BE49-F238E27FC236}">
                      <a16:creationId xmlns:a16="http://schemas.microsoft.com/office/drawing/2014/main" id="{AD63B0BA-2920-43D0-923A-451D7A507556}"/>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3" name="Oval 65">
                  <a:extLst>
                    <a:ext uri="{FF2B5EF4-FFF2-40B4-BE49-F238E27FC236}">
                      <a16:creationId xmlns:a16="http://schemas.microsoft.com/office/drawing/2014/main" id="{88306212-957F-495F-8EE2-8683B6685D7C}"/>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135234"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135235"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68">
            <a:extLst>
              <a:ext uri="{FF2B5EF4-FFF2-40B4-BE49-F238E27FC236}">
                <a16:creationId xmlns:a16="http://schemas.microsoft.com/office/drawing/2014/main" id="{947637F4-6D51-4790-A48D-EF4C4B0DEB9E}"/>
              </a:ext>
            </a:extLst>
          </p:cNvPr>
          <p:cNvSpPr>
            <a:spLocks noGrp="1" noChangeArrowheads="1"/>
          </p:cNvSpPr>
          <p:nvPr>
            <p:ph type="dt" sz="quarter" idx="10"/>
          </p:nvPr>
        </p:nvSpPr>
        <p:spPr/>
        <p:txBody>
          <a:bodyPr/>
          <a:lstStyle>
            <a:lvl1pPr>
              <a:defRPr smtClean="0"/>
            </a:lvl1pPr>
          </a:lstStyle>
          <a:p>
            <a:pPr>
              <a:defRPr/>
            </a:pPr>
            <a:endParaRPr lang="en-US"/>
          </a:p>
        </p:txBody>
      </p:sp>
      <p:sp>
        <p:nvSpPr>
          <p:cNvPr id="69" name="Rectangle 69">
            <a:extLst>
              <a:ext uri="{FF2B5EF4-FFF2-40B4-BE49-F238E27FC236}">
                <a16:creationId xmlns:a16="http://schemas.microsoft.com/office/drawing/2014/main" id="{DECB33CE-D9E3-40EC-B986-66E52ABAB824}"/>
              </a:ext>
            </a:extLst>
          </p:cNvPr>
          <p:cNvSpPr>
            <a:spLocks noGrp="1" noChangeArrowheads="1"/>
          </p:cNvSpPr>
          <p:nvPr>
            <p:ph type="ftr" sz="quarter" idx="11"/>
          </p:nvPr>
        </p:nvSpPr>
        <p:spPr/>
        <p:txBody>
          <a:bodyPr/>
          <a:lstStyle>
            <a:lvl1pPr>
              <a:defRPr smtClean="0"/>
            </a:lvl1pPr>
          </a:lstStyle>
          <a:p>
            <a:pPr>
              <a:defRPr/>
            </a:pPr>
            <a:endParaRPr lang="en-US"/>
          </a:p>
        </p:txBody>
      </p:sp>
      <p:sp>
        <p:nvSpPr>
          <p:cNvPr id="70" name="Rectangle 70">
            <a:extLst>
              <a:ext uri="{FF2B5EF4-FFF2-40B4-BE49-F238E27FC236}">
                <a16:creationId xmlns:a16="http://schemas.microsoft.com/office/drawing/2014/main" id="{13311E39-962E-43CD-8C58-56ECCD55DAED}"/>
              </a:ext>
            </a:extLst>
          </p:cNvPr>
          <p:cNvSpPr>
            <a:spLocks noGrp="1" noChangeArrowheads="1"/>
          </p:cNvSpPr>
          <p:nvPr>
            <p:ph type="sldNum" sz="quarter" idx="12"/>
          </p:nvPr>
        </p:nvSpPr>
        <p:spPr/>
        <p:txBody>
          <a:bodyPr/>
          <a:lstStyle>
            <a:lvl1pPr>
              <a:defRPr/>
            </a:lvl1pPr>
          </a:lstStyle>
          <a:p>
            <a:fld id="{3D933A53-21C7-47A9-B234-6C0E78C3A8D5}" type="slidenum">
              <a:rPr lang="en-US" altLang="en-US"/>
              <a:pPr/>
              <a:t>‹#›</a:t>
            </a:fld>
            <a:endParaRPr lang="en-US" altLang="en-US"/>
          </a:p>
        </p:txBody>
      </p:sp>
    </p:spTree>
    <p:extLst>
      <p:ext uri="{BB962C8B-B14F-4D97-AF65-F5344CB8AC3E}">
        <p14:creationId xmlns:p14="http://schemas.microsoft.com/office/powerpoint/2010/main" val="31589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0D949829-0812-47E4-A330-2B11B82419C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5FAD5F0C-7A23-4545-B3CD-90826C92DB1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88F16714-C9E9-46B8-925E-CA0E8A06BA66}"/>
              </a:ext>
            </a:extLst>
          </p:cNvPr>
          <p:cNvSpPr>
            <a:spLocks noGrp="1" noChangeArrowheads="1"/>
          </p:cNvSpPr>
          <p:nvPr>
            <p:ph type="sldNum" sz="quarter" idx="12"/>
          </p:nvPr>
        </p:nvSpPr>
        <p:spPr>
          <a:ln/>
        </p:spPr>
        <p:txBody>
          <a:bodyPr/>
          <a:lstStyle>
            <a:lvl1pPr>
              <a:defRPr/>
            </a:lvl1pPr>
          </a:lstStyle>
          <a:p>
            <a:fld id="{6EF2C7B6-E6D0-4C36-BDE6-57B2BD69D3E1}" type="slidenum">
              <a:rPr lang="en-US" altLang="en-US"/>
              <a:pPr/>
              <a:t>‹#›</a:t>
            </a:fld>
            <a:endParaRPr lang="en-US" altLang="en-US"/>
          </a:p>
        </p:txBody>
      </p:sp>
    </p:spTree>
    <p:extLst>
      <p:ext uri="{BB962C8B-B14F-4D97-AF65-F5344CB8AC3E}">
        <p14:creationId xmlns:p14="http://schemas.microsoft.com/office/powerpoint/2010/main" val="2515675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a:extLst>
              <a:ext uri="{FF2B5EF4-FFF2-40B4-BE49-F238E27FC236}">
                <a16:creationId xmlns:a16="http://schemas.microsoft.com/office/drawing/2014/main" id="{07B0630D-4E3B-4BA4-9015-EED8745A1D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8AFA183A-2AE0-45AF-ACA6-C10B5E6C79D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E22F70B8-78C7-42E0-B1AC-D13FECE522E6}"/>
              </a:ext>
            </a:extLst>
          </p:cNvPr>
          <p:cNvSpPr>
            <a:spLocks noGrp="1" noChangeArrowheads="1"/>
          </p:cNvSpPr>
          <p:nvPr>
            <p:ph type="sldNum" sz="quarter" idx="12"/>
          </p:nvPr>
        </p:nvSpPr>
        <p:spPr>
          <a:ln/>
        </p:spPr>
        <p:txBody>
          <a:bodyPr/>
          <a:lstStyle>
            <a:lvl1pPr>
              <a:defRPr/>
            </a:lvl1pPr>
          </a:lstStyle>
          <a:p>
            <a:fld id="{9887F923-CD19-48EA-B694-7E6C396B8480}" type="slidenum">
              <a:rPr lang="en-US" altLang="en-US"/>
              <a:pPr/>
              <a:t>‹#›</a:t>
            </a:fld>
            <a:endParaRPr lang="en-US" altLang="en-US"/>
          </a:p>
        </p:txBody>
      </p:sp>
    </p:spTree>
    <p:extLst>
      <p:ext uri="{BB962C8B-B14F-4D97-AF65-F5344CB8AC3E}">
        <p14:creationId xmlns:p14="http://schemas.microsoft.com/office/powerpoint/2010/main" val="370188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67">
            <a:extLst>
              <a:ext uri="{FF2B5EF4-FFF2-40B4-BE49-F238E27FC236}">
                <a16:creationId xmlns:a16="http://schemas.microsoft.com/office/drawing/2014/main" id="{31BF260B-7AC6-4B1F-8923-AE76CC372E2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96294B6F-895E-4026-ADB8-F071DE18E9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B06F05A6-3881-4808-A990-E5F5DB3D9693}"/>
              </a:ext>
            </a:extLst>
          </p:cNvPr>
          <p:cNvSpPr>
            <a:spLocks noGrp="1" noChangeArrowheads="1"/>
          </p:cNvSpPr>
          <p:nvPr>
            <p:ph type="sldNum" sz="quarter" idx="12"/>
          </p:nvPr>
        </p:nvSpPr>
        <p:spPr>
          <a:ln/>
        </p:spPr>
        <p:txBody>
          <a:bodyPr/>
          <a:lstStyle>
            <a:lvl1pPr>
              <a:defRPr/>
            </a:lvl1pPr>
          </a:lstStyle>
          <a:p>
            <a:fld id="{DDF3D3F6-D75A-4D0C-8C76-EF9902701990}" type="slidenum">
              <a:rPr lang="en-US" altLang="en-US"/>
              <a:pPr/>
              <a:t>‹#›</a:t>
            </a:fld>
            <a:endParaRPr lang="en-US" altLang="en-US"/>
          </a:p>
        </p:txBody>
      </p:sp>
    </p:spTree>
    <p:extLst>
      <p:ext uri="{BB962C8B-B14F-4D97-AF65-F5344CB8AC3E}">
        <p14:creationId xmlns:p14="http://schemas.microsoft.com/office/powerpoint/2010/main" val="2995563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67">
            <a:extLst>
              <a:ext uri="{FF2B5EF4-FFF2-40B4-BE49-F238E27FC236}">
                <a16:creationId xmlns:a16="http://schemas.microsoft.com/office/drawing/2014/main" id="{ADF17FF6-B684-40D1-BD35-5A10E8DA439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8">
            <a:extLst>
              <a:ext uri="{FF2B5EF4-FFF2-40B4-BE49-F238E27FC236}">
                <a16:creationId xmlns:a16="http://schemas.microsoft.com/office/drawing/2014/main" id="{E9A24AA0-5AFF-4527-82EB-DA279EA8D6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9">
            <a:extLst>
              <a:ext uri="{FF2B5EF4-FFF2-40B4-BE49-F238E27FC236}">
                <a16:creationId xmlns:a16="http://schemas.microsoft.com/office/drawing/2014/main" id="{59113EEC-E176-43D3-B4A1-169B06C36EFE}"/>
              </a:ext>
            </a:extLst>
          </p:cNvPr>
          <p:cNvSpPr>
            <a:spLocks noGrp="1" noChangeArrowheads="1"/>
          </p:cNvSpPr>
          <p:nvPr>
            <p:ph type="sldNum" sz="quarter" idx="12"/>
          </p:nvPr>
        </p:nvSpPr>
        <p:spPr>
          <a:ln/>
        </p:spPr>
        <p:txBody>
          <a:bodyPr/>
          <a:lstStyle>
            <a:lvl1pPr>
              <a:defRPr/>
            </a:lvl1pPr>
          </a:lstStyle>
          <a:p>
            <a:fld id="{59BA9FFF-B1D3-458A-8BF9-912958F1F233}" type="slidenum">
              <a:rPr lang="en-US" altLang="en-US"/>
              <a:pPr/>
              <a:t>‹#›</a:t>
            </a:fld>
            <a:endParaRPr lang="en-US" altLang="en-US"/>
          </a:p>
        </p:txBody>
      </p:sp>
    </p:spTree>
    <p:extLst>
      <p:ext uri="{BB962C8B-B14F-4D97-AF65-F5344CB8AC3E}">
        <p14:creationId xmlns:p14="http://schemas.microsoft.com/office/powerpoint/2010/main" val="1513119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67">
            <a:extLst>
              <a:ext uri="{FF2B5EF4-FFF2-40B4-BE49-F238E27FC236}">
                <a16:creationId xmlns:a16="http://schemas.microsoft.com/office/drawing/2014/main" id="{3AFA5FCE-7005-49C7-B826-B82921FF20A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8">
            <a:extLst>
              <a:ext uri="{FF2B5EF4-FFF2-40B4-BE49-F238E27FC236}">
                <a16:creationId xmlns:a16="http://schemas.microsoft.com/office/drawing/2014/main" id="{00FE69A6-9CD0-41FC-95E9-A8B1BDD9B0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9">
            <a:extLst>
              <a:ext uri="{FF2B5EF4-FFF2-40B4-BE49-F238E27FC236}">
                <a16:creationId xmlns:a16="http://schemas.microsoft.com/office/drawing/2014/main" id="{1E3BF14F-F81F-47EE-BB68-B4E40EC2A4AB}"/>
              </a:ext>
            </a:extLst>
          </p:cNvPr>
          <p:cNvSpPr>
            <a:spLocks noGrp="1" noChangeArrowheads="1"/>
          </p:cNvSpPr>
          <p:nvPr>
            <p:ph type="sldNum" sz="quarter" idx="12"/>
          </p:nvPr>
        </p:nvSpPr>
        <p:spPr>
          <a:ln/>
        </p:spPr>
        <p:txBody>
          <a:bodyPr/>
          <a:lstStyle>
            <a:lvl1pPr>
              <a:defRPr/>
            </a:lvl1pPr>
          </a:lstStyle>
          <a:p>
            <a:fld id="{93579E09-9487-4D0E-84DA-9DF8B937AD65}" type="slidenum">
              <a:rPr lang="en-US" altLang="en-US"/>
              <a:pPr/>
              <a:t>‹#›</a:t>
            </a:fld>
            <a:endParaRPr lang="en-US" altLang="en-US"/>
          </a:p>
        </p:txBody>
      </p:sp>
    </p:spTree>
    <p:extLst>
      <p:ext uri="{BB962C8B-B14F-4D97-AF65-F5344CB8AC3E}">
        <p14:creationId xmlns:p14="http://schemas.microsoft.com/office/powerpoint/2010/main" val="2800197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a:extLst>
              <a:ext uri="{FF2B5EF4-FFF2-40B4-BE49-F238E27FC236}">
                <a16:creationId xmlns:a16="http://schemas.microsoft.com/office/drawing/2014/main" id="{D93E7E6A-79DB-46AF-BA07-2DB28A9C93F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8">
            <a:extLst>
              <a:ext uri="{FF2B5EF4-FFF2-40B4-BE49-F238E27FC236}">
                <a16:creationId xmlns:a16="http://schemas.microsoft.com/office/drawing/2014/main" id="{F279D8CB-96D0-4592-9742-F37B266724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9">
            <a:extLst>
              <a:ext uri="{FF2B5EF4-FFF2-40B4-BE49-F238E27FC236}">
                <a16:creationId xmlns:a16="http://schemas.microsoft.com/office/drawing/2014/main" id="{5C510AB9-1F2C-487D-83A5-CF9AB4D5FBC6}"/>
              </a:ext>
            </a:extLst>
          </p:cNvPr>
          <p:cNvSpPr>
            <a:spLocks noGrp="1" noChangeArrowheads="1"/>
          </p:cNvSpPr>
          <p:nvPr>
            <p:ph type="sldNum" sz="quarter" idx="12"/>
          </p:nvPr>
        </p:nvSpPr>
        <p:spPr>
          <a:ln/>
        </p:spPr>
        <p:txBody>
          <a:bodyPr/>
          <a:lstStyle>
            <a:lvl1pPr>
              <a:defRPr/>
            </a:lvl1pPr>
          </a:lstStyle>
          <a:p>
            <a:fld id="{8A1751CC-D8D9-4E02-BBD2-B4869E106160}" type="slidenum">
              <a:rPr lang="en-US" altLang="en-US"/>
              <a:pPr/>
              <a:t>‹#›</a:t>
            </a:fld>
            <a:endParaRPr lang="en-US" altLang="en-US"/>
          </a:p>
        </p:txBody>
      </p:sp>
    </p:spTree>
    <p:extLst>
      <p:ext uri="{BB962C8B-B14F-4D97-AF65-F5344CB8AC3E}">
        <p14:creationId xmlns:p14="http://schemas.microsoft.com/office/powerpoint/2010/main" val="2525749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033E15AE-273B-47C6-8E5A-C53227FDEEB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6EFCA16E-7E4A-4F17-BB2A-92B4D2C35F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B33E2712-D705-4594-BF12-77F317F4EDCA}"/>
              </a:ext>
            </a:extLst>
          </p:cNvPr>
          <p:cNvSpPr>
            <a:spLocks noGrp="1" noChangeArrowheads="1"/>
          </p:cNvSpPr>
          <p:nvPr>
            <p:ph type="sldNum" sz="quarter" idx="12"/>
          </p:nvPr>
        </p:nvSpPr>
        <p:spPr>
          <a:ln/>
        </p:spPr>
        <p:txBody>
          <a:bodyPr/>
          <a:lstStyle>
            <a:lvl1pPr>
              <a:defRPr/>
            </a:lvl1pPr>
          </a:lstStyle>
          <a:p>
            <a:fld id="{61EE571C-65EA-4182-850B-AD24BF281860}" type="slidenum">
              <a:rPr lang="en-US" altLang="en-US"/>
              <a:pPr/>
              <a:t>‹#›</a:t>
            </a:fld>
            <a:endParaRPr lang="en-US" altLang="en-US"/>
          </a:p>
        </p:txBody>
      </p:sp>
    </p:spTree>
    <p:extLst>
      <p:ext uri="{BB962C8B-B14F-4D97-AF65-F5344CB8AC3E}">
        <p14:creationId xmlns:p14="http://schemas.microsoft.com/office/powerpoint/2010/main" val="74154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32B39275-5F3D-45AF-891D-FE564EF539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47313AE4-27F9-417D-AD85-D661D9575E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2827D42C-281D-4B46-BBD8-337B8D917F0C}"/>
              </a:ext>
            </a:extLst>
          </p:cNvPr>
          <p:cNvSpPr>
            <a:spLocks noGrp="1" noChangeArrowheads="1"/>
          </p:cNvSpPr>
          <p:nvPr>
            <p:ph type="sldNum" sz="quarter" idx="12"/>
          </p:nvPr>
        </p:nvSpPr>
        <p:spPr>
          <a:ln/>
        </p:spPr>
        <p:txBody>
          <a:bodyPr/>
          <a:lstStyle>
            <a:lvl1pPr>
              <a:defRPr/>
            </a:lvl1pPr>
          </a:lstStyle>
          <a:p>
            <a:fld id="{2CFDC774-4908-4C49-AF19-C19781E4AE24}" type="slidenum">
              <a:rPr lang="en-US" altLang="en-US"/>
              <a:pPr/>
              <a:t>‹#›</a:t>
            </a:fld>
            <a:endParaRPr lang="en-US" altLang="en-US"/>
          </a:p>
        </p:txBody>
      </p:sp>
    </p:spTree>
    <p:extLst>
      <p:ext uri="{BB962C8B-B14F-4D97-AF65-F5344CB8AC3E}">
        <p14:creationId xmlns:p14="http://schemas.microsoft.com/office/powerpoint/2010/main" val="981053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51DF9858-EDFE-4C16-B5A7-BEA1179B3C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233ADC31-95F8-418F-8645-9E962B832C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9B78A07F-3956-42F5-A591-2B5AEBD17FF9}"/>
              </a:ext>
            </a:extLst>
          </p:cNvPr>
          <p:cNvSpPr>
            <a:spLocks noGrp="1" noChangeArrowheads="1"/>
          </p:cNvSpPr>
          <p:nvPr>
            <p:ph type="sldNum" sz="quarter" idx="12"/>
          </p:nvPr>
        </p:nvSpPr>
        <p:spPr>
          <a:ln/>
        </p:spPr>
        <p:txBody>
          <a:bodyPr/>
          <a:lstStyle>
            <a:lvl1pPr>
              <a:defRPr/>
            </a:lvl1pPr>
          </a:lstStyle>
          <a:p>
            <a:fld id="{DB775AD3-11D8-42C2-9BC7-9DFB3352EE0B}" type="slidenum">
              <a:rPr lang="en-US" altLang="en-US"/>
              <a:pPr/>
              <a:t>‹#›</a:t>
            </a:fld>
            <a:endParaRPr lang="en-US" altLang="en-US"/>
          </a:p>
        </p:txBody>
      </p:sp>
    </p:spTree>
    <p:extLst>
      <p:ext uri="{BB962C8B-B14F-4D97-AF65-F5344CB8AC3E}">
        <p14:creationId xmlns:p14="http://schemas.microsoft.com/office/powerpoint/2010/main" val="891073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5CE54DCD-B57D-40D7-91DA-B7F454AB05F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A0B47D9D-EA1A-47E1-B363-83FB177B34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A242BE9C-49FE-4068-8825-BAF039C454B7}"/>
              </a:ext>
            </a:extLst>
          </p:cNvPr>
          <p:cNvSpPr>
            <a:spLocks noGrp="1" noChangeArrowheads="1"/>
          </p:cNvSpPr>
          <p:nvPr>
            <p:ph type="sldNum" sz="quarter" idx="12"/>
          </p:nvPr>
        </p:nvSpPr>
        <p:spPr>
          <a:ln/>
        </p:spPr>
        <p:txBody>
          <a:bodyPr/>
          <a:lstStyle>
            <a:lvl1pPr>
              <a:defRPr/>
            </a:lvl1pPr>
          </a:lstStyle>
          <a:p>
            <a:fld id="{E8E4B75B-D438-46AC-8B5E-44FA5B5297C1}" type="slidenum">
              <a:rPr lang="en-US" altLang="en-US"/>
              <a:pPr/>
              <a:t>‹#›</a:t>
            </a:fld>
            <a:endParaRPr lang="en-US" altLang="en-US"/>
          </a:p>
        </p:txBody>
      </p:sp>
    </p:spTree>
    <p:extLst>
      <p:ext uri="{BB962C8B-B14F-4D97-AF65-F5344CB8AC3E}">
        <p14:creationId xmlns:p14="http://schemas.microsoft.com/office/powerpoint/2010/main" val="2751528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754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4EBFDBE9-6665-478D-8869-A405BF73AD06}"/>
              </a:ext>
            </a:extLst>
          </p:cNvPr>
          <p:cNvGrpSpPr>
            <a:grpSpLocks/>
          </p:cNvGrpSpPr>
          <p:nvPr/>
        </p:nvGrpSpPr>
        <p:grpSpPr bwMode="auto">
          <a:xfrm>
            <a:off x="3175" y="4267200"/>
            <a:ext cx="9140825" cy="2590800"/>
            <a:chOff x="2" y="2688"/>
            <a:chExt cx="5758" cy="1632"/>
          </a:xfrm>
        </p:grpSpPr>
        <p:sp>
          <p:nvSpPr>
            <p:cNvPr id="134147" name="Freeform 3">
              <a:extLst>
                <a:ext uri="{FF2B5EF4-FFF2-40B4-BE49-F238E27FC236}">
                  <a16:creationId xmlns:a16="http://schemas.microsoft.com/office/drawing/2014/main" id="{92832989-191A-4E04-8591-D3ACB7935F87}"/>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1033" name="Group 4">
              <a:extLst>
                <a:ext uri="{FF2B5EF4-FFF2-40B4-BE49-F238E27FC236}">
                  <a16:creationId xmlns:a16="http://schemas.microsoft.com/office/drawing/2014/main" id="{CFAB520A-BD01-4E50-AE8B-A14FC40565B2}"/>
                </a:ext>
              </a:extLst>
            </p:cNvPr>
            <p:cNvGrpSpPr>
              <a:grpSpLocks/>
            </p:cNvGrpSpPr>
            <p:nvPr/>
          </p:nvGrpSpPr>
          <p:grpSpPr bwMode="auto">
            <a:xfrm>
              <a:off x="1776" y="3024"/>
              <a:ext cx="3929" cy="1290"/>
              <a:chOff x="1776" y="3024"/>
              <a:chExt cx="3929" cy="1290"/>
            </a:xfrm>
          </p:grpSpPr>
          <p:grpSp>
            <p:nvGrpSpPr>
              <p:cNvPr id="1034" name="Group 5">
                <a:extLst>
                  <a:ext uri="{FF2B5EF4-FFF2-40B4-BE49-F238E27FC236}">
                    <a16:creationId xmlns:a16="http://schemas.microsoft.com/office/drawing/2014/main" id="{BC2F9018-B3CD-4CB2-8AA4-49D8B205F144}"/>
                  </a:ext>
                </a:extLst>
              </p:cNvPr>
              <p:cNvGrpSpPr>
                <a:grpSpLocks/>
              </p:cNvGrpSpPr>
              <p:nvPr userDrawn="1"/>
            </p:nvGrpSpPr>
            <p:grpSpPr bwMode="auto">
              <a:xfrm>
                <a:off x="2268" y="3934"/>
                <a:ext cx="638" cy="377"/>
                <a:chOff x="2268" y="3934"/>
                <a:chExt cx="638" cy="377"/>
              </a:xfrm>
            </p:grpSpPr>
            <p:sp>
              <p:nvSpPr>
                <p:cNvPr id="134150" name="Oval 6">
                  <a:extLst>
                    <a:ext uri="{FF2B5EF4-FFF2-40B4-BE49-F238E27FC236}">
                      <a16:creationId xmlns:a16="http://schemas.microsoft.com/office/drawing/2014/main" id="{491DFA4F-07D6-4B7D-9C69-A51246B71748}"/>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134151" name="Oval 7">
                  <a:extLst>
                    <a:ext uri="{FF2B5EF4-FFF2-40B4-BE49-F238E27FC236}">
                      <a16:creationId xmlns:a16="http://schemas.microsoft.com/office/drawing/2014/main" id="{1BDF87B2-DACD-4D46-9596-DA7BB2C1E1B2}"/>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134152" name="Oval 8">
                  <a:extLst>
                    <a:ext uri="{FF2B5EF4-FFF2-40B4-BE49-F238E27FC236}">
                      <a16:creationId xmlns:a16="http://schemas.microsoft.com/office/drawing/2014/main" id="{62DC62E8-1D4D-4756-BB58-A961204493E1}"/>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134153" name="Oval 9">
                  <a:extLst>
                    <a:ext uri="{FF2B5EF4-FFF2-40B4-BE49-F238E27FC236}">
                      <a16:creationId xmlns:a16="http://schemas.microsoft.com/office/drawing/2014/main" id="{AE6DC6D3-3192-4CBB-92C9-95151DDB904F}"/>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134154" name="Oval 10">
                  <a:extLst>
                    <a:ext uri="{FF2B5EF4-FFF2-40B4-BE49-F238E27FC236}">
                      <a16:creationId xmlns:a16="http://schemas.microsoft.com/office/drawing/2014/main" id="{8484DAD1-6EB6-4CF7-8CFC-10F11391EC1E}"/>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134155" name="Oval 11">
                  <a:extLst>
                    <a:ext uri="{FF2B5EF4-FFF2-40B4-BE49-F238E27FC236}">
                      <a16:creationId xmlns:a16="http://schemas.microsoft.com/office/drawing/2014/main" id="{8B5DBA6D-CA98-4715-BF98-48F8592F5FD1}"/>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134156" name="Oval 12">
                  <a:extLst>
                    <a:ext uri="{FF2B5EF4-FFF2-40B4-BE49-F238E27FC236}">
                      <a16:creationId xmlns:a16="http://schemas.microsoft.com/office/drawing/2014/main" id="{C71B65F8-20FF-48F0-843C-E09FEA67FBE3}"/>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134157" name="Oval 13">
                  <a:extLst>
                    <a:ext uri="{FF2B5EF4-FFF2-40B4-BE49-F238E27FC236}">
                      <a16:creationId xmlns:a16="http://schemas.microsoft.com/office/drawing/2014/main" id="{F5A254F1-197A-4137-8829-3E86DD3E6175}"/>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134158" name="Oval 14">
                <a:extLst>
                  <a:ext uri="{FF2B5EF4-FFF2-40B4-BE49-F238E27FC236}">
                    <a16:creationId xmlns:a16="http://schemas.microsoft.com/office/drawing/2014/main" id="{2457DB40-2A31-47DA-93A2-753DF0CA3B29}"/>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134159" name="Oval 15">
                <a:extLst>
                  <a:ext uri="{FF2B5EF4-FFF2-40B4-BE49-F238E27FC236}">
                    <a16:creationId xmlns:a16="http://schemas.microsoft.com/office/drawing/2014/main" id="{A78F8A08-FC9E-4FDA-909C-9B78B5D6864C}"/>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134160" name="Oval 16">
                <a:extLst>
                  <a:ext uri="{FF2B5EF4-FFF2-40B4-BE49-F238E27FC236}">
                    <a16:creationId xmlns:a16="http://schemas.microsoft.com/office/drawing/2014/main" id="{02EF38DB-D0F2-4B25-ACAF-BD8BD20B7F64}"/>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161" name="Oval 17">
                <a:extLst>
                  <a:ext uri="{FF2B5EF4-FFF2-40B4-BE49-F238E27FC236}">
                    <a16:creationId xmlns:a16="http://schemas.microsoft.com/office/drawing/2014/main" id="{4AD969E8-73F9-4AD2-BD93-9DAEF15DCDC9}"/>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34162" name="Oval 18">
                <a:extLst>
                  <a:ext uri="{FF2B5EF4-FFF2-40B4-BE49-F238E27FC236}">
                    <a16:creationId xmlns:a16="http://schemas.microsoft.com/office/drawing/2014/main" id="{46106C8E-443B-47A4-B557-E39798AC5430}"/>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163" name="Freeform 19">
                <a:extLst>
                  <a:ext uri="{FF2B5EF4-FFF2-40B4-BE49-F238E27FC236}">
                    <a16:creationId xmlns:a16="http://schemas.microsoft.com/office/drawing/2014/main" id="{4A91922F-5197-4F24-BFBE-41D127D09663}"/>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134164" name="Freeform 20">
                <a:extLst>
                  <a:ext uri="{FF2B5EF4-FFF2-40B4-BE49-F238E27FC236}">
                    <a16:creationId xmlns:a16="http://schemas.microsoft.com/office/drawing/2014/main" id="{76AC0071-28DD-4459-8D6A-F4388F4AC7AB}"/>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134165" name="Freeform 21">
                <a:extLst>
                  <a:ext uri="{FF2B5EF4-FFF2-40B4-BE49-F238E27FC236}">
                    <a16:creationId xmlns:a16="http://schemas.microsoft.com/office/drawing/2014/main" id="{421A39BD-A66C-4198-96D2-9EFBE78B9626}"/>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66" name="Freeform 22">
                <a:extLst>
                  <a:ext uri="{FF2B5EF4-FFF2-40B4-BE49-F238E27FC236}">
                    <a16:creationId xmlns:a16="http://schemas.microsoft.com/office/drawing/2014/main" id="{BF805A8B-E6B7-4365-B082-972B146FC449}"/>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134167" name="Freeform 23">
                <a:extLst>
                  <a:ext uri="{FF2B5EF4-FFF2-40B4-BE49-F238E27FC236}">
                    <a16:creationId xmlns:a16="http://schemas.microsoft.com/office/drawing/2014/main" id="{B2D30394-7A02-48C4-ADC9-026FCCB72EBB}"/>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134168" name="Freeform 24">
                <a:extLst>
                  <a:ext uri="{FF2B5EF4-FFF2-40B4-BE49-F238E27FC236}">
                    <a16:creationId xmlns:a16="http://schemas.microsoft.com/office/drawing/2014/main" id="{4E4C8A94-4326-4DAA-99F5-3C1BA05D0435}"/>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134169" name="Freeform 25">
                <a:extLst>
                  <a:ext uri="{FF2B5EF4-FFF2-40B4-BE49-F238E27FC236}">
                    <a16:creationId xmlns:a16="http://schemas.microsoft.com/office/drawing/2014/main" id="{6E9129E2-628B-42EA-8C8A-BFD24CA919F2}"/>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134170" name="Freeform 26">
                <a:extLst>
                  <a:ext uri="{FF2B5EF4-FFF2-40B4-BE49-F238E27FC236}">
                    <a16:creationId xmlns:a16="http://schemas.microsoft.com/office/drawing/2014/main" id="{AC144C84-C0A6-4122-AEA1-E43BECE72BEC}"/>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134171" name="Freeform 27">
                <a:extLst>
                  <a:ext uri="{FF2B5EF4-FFF2-40B4-BE49-F238E27FC236}">
                    <a16:creationId xmlns:a16="http://schemas.microsoft.com/office/drawing/2014/main" id="{F558D35B-CA66-4EF5-93D8-0EF5C3C06E71}"/>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134172" name="Freeform 28">
                <a:extLst>
                  <a:ext uri="{FF2B5EF4-FFF2-40B4-BE49-F238E27FC236}">
                    <a16:creationId xmlns:a16="http://schemas.microsoft.com/office/drawing/2014/main" id="{BBF0997D-FBA7-419F-99E1-FFD971473421}"/>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134173" name="Freeform 29">
                <a:extLst>
                  <a:ext uri="{FF2B5EF4-FFF2-40B4-BE49-F238E27FC236}">
                    <a16:creationId xmlns:a16="http://schemas.microsoft.com/office/drawing/2014/main" id="{7E527FCE-F0E7-4DD0-B493-1871D45BDBC1}"/>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134174" name="Freeform 30">
                <a:extLst>
                  <a:ext uri="{FF2B5EF4-FFF2-40B4-BE49-F238E27FC236}">
                    <a16:creationId xmlns:a16="http://schemas.microsoft.com/office/drawing/2014/main" id="{FB1C68AB-0C5A-47EA-B5F8-9F33E851BA41}"/>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134175" name="Freeform 31">
                <a:extLst>
                  <a:ext uri="{FF2B5EF4-FFF2-40B4-BE49-F238E27FC236}">
                    <a16:creationId xmlns:a16="http://schemas.microsoft.com/office/drawing/2014/main" id="{2D65B2CD-731C-4F7D-BB7E-CC55E04ECE5C}"/>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76" name="Freeform 32">
                <a:extLst>
                  <a:ext uri="{FF2B5EF4-FFF2-40B4-BE49-F238E27FC236}">
                    <a16:creationId xmlns:a16="http://schemas.microsoft.com/office/drawing/2014/main" id="{2B2253D5-B929-49A5-B17E-F3C974FE97F7}"/>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77" name="Freeform 33">
                <a:extLst>
                  <a:ext uri="{FF2B5EF4-FFF2-40B4-BE49-F238E27FC236}">
                    <a16:creationId xmlns:a16="http://schemas.microsoft.com/office/drawing/2014/main" id="{1A491FFD-9ADE-47B6-A06A-B72AFCE69B65}"/>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78" name="Freeform 34">
                <a:extLst>
                  <a:ext uri="{FF2B5EF4-FFF2-40B4-BE49-F238E27FC236}">
                    <a16:creationId xmlns:a16="http://schemas.microsoft.com/office/drawing/2014/main" id="{FE165A11-A8AD-4529-9C69-F9F51519E292}"/>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134179" name="Freeform 35">
                <a:extLst>
                  <a:ext uri="{FF2B5EF4-FFF2-40B4-BE49-F238E27FC236}">
                    <a16:creationId xmlns:a16="http://schemas.microsoft.com/office/drawing/2014/main" id="{4C195CDE-E28D-4C5E-9CAE-F284B1D0A037}"/>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80" name="Freeform 36">
                <a:extLst>
                  <a:ext uri="{FF2B5EF4-FFF2-40B4-BE49-F238E27FC236}">
                    <a16:creationId xmlns:a16="http://schemas.microsoft.com/office/drawing/2014/main" id="{466A8A08-3445-4739-8F11-2E7C95DE8B58}"/>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81" name="Freeform 37">
                <a:extLst>
                  <a:ext uri="{FF2B5EF4-FFF2-40B4-BE49-F238E27FC236}">
                    <a16:creationId xmlns:a16="http://schemas.microsoft.com/office/drawing/2014/main" id="{8702AEBA-582B-4379-9155-88669811BA0E}"/>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134182" name="Freeform 38">
                <a:extLst>
                  <a:ext uri="{FF2B5EF4-FFF2-40B4-BE49-F238E27FC236}">
                    <a16:creationId xmlns:a16="http://schemas.microsoft.com/office/drawing/2014/main" id="{EFB77507-60C5-4021-9705-AD1A42C281D0}"/>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3" name="Freeform 39">
                <a:extLst>
                  <a:ext uri="{FF2B5EF4-FFF2-40B4-BE49-F238E27FC236}">
                    <a16:creationId xmlns:a16="http://schemas.microsoft.com/office/drawing/2014/main" id="{555923D1-A436-4CA5-BCEB-B1766DE11BB9}"/>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4" name="Freeform 40">
                <a:extLst>
                  <a:ext uri="{FF2B5EF4-FFF2-40B4-BE49-F238E27FC236}">
                    <a16:creationId xmlns:a16="http://schemas.microsoft.com/office/drawing/2014/main" id="{B38F46B6-2A07-4EFC-9437-5B443E2DCE8C}"/>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5" name="Freeform 41">
                <a:extLst>
                  <a:ext uri="{FF2B5EF4-FFF2-40B4-BE49-F238E27FC236}">
                    <a16:creationId xmlns:a16="http://schemas.microsoft.com/office/drawing/2014/main" id="{2AAEB351-CCB4-48E1-9CDA-553540CEDF4D}"/>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6" name="Freeform 42">
                <a:extLst>
                  <a:ext uri="{FF2B5EF4-FFF2-40B4-BE49-F238E27FC236}">
                    <a16:creationId xmlns:a16="http://schemas.microsoft.com/office/drawing/2014/main" id="{5D0C6DF6-932F-47EA-BAFA-796311DF8C20}"/>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134187" name="Freeform 43">
                <a:extLst>
                  <a:ext uri="{FF2B5EF4-FFF2-40B4-BE49-F238E27FC236}">
                    <a16:creationId xmlns:a16="http://schemas.microsoft.com/office/drawing/2014/main" id="{903452EC-A5F6-445E-B15C-A3A92A22FDA3}"/>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134188" name="Freeform 44">
                <a:extLst>
                  <a:ext uri="{FF2B5EF4-FFF2-40B4-BE49-F238E27FC236}">
                    <a16:creationId xmlns:a16="http://schemas.microsoft.com/office/drawing/2014/main" id="{E2B9495A-D9BC-4B2A-8640-4B8121EB7CE7}"/>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89" name="Freeform 45">
                <a:extLst>
                  <a:ext uri="{FF2B5EF4-FFF2-40B4-BE49-F238E27FC236}">
                    <a16:creationId xmlns:a16="http://schemas.microsoft.com/office/drawing/2014/main" id="{DF1E2478-71A3-445D-8D70-B59DE3C9BC97}"/>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90" name="Freeform 46">
                <a:extLst>
                  <a:ext uri="{FF2B5EF4-FFF2-40B4-BE49-F238E27FC236}">
                    <a16:creationId xmlns:a16="http://schemas.microsoft.com/office/drawing/2014/main" id="{45DC3DB2-E357-4DEE-8EA9-6BFB314AEC52}"/>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1" name="Freeform 47">
                <a:extLst>
                  <a:ext uri="{FF2B5EF4-FFF2-40B4-BE49-F238E27FC236}">
                    <a16:creationId xmlns:a16="http://schemas.microsoft.com/office/drawing/2014/main" id="{EE86F649-B73E-4545-BAF4-689510ACCC2D}"/>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2" name="Freeform 48">
                <a:extLst>
                  <a:ext uri="{FF2B5EF4-FFF2-40B4-BE49-F238E27FC236}">
                    <a16:creationId xmlns:a16="http://schemas.microsoft.com/office/drawing/2014/main" id="{A0705940-5AFA-49D7-A33C-48A0EC8C9114}"/>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3" name="Freeform 49">
                <a:extLst>
                  <a:ext uri="{FF2B5EF4-FFF2-40B4-BE49-F238E27FC236}">
                    <a16:creationId xmlns:a16="http://schemas.microsoft.com/office/drawing/2014/main" id="{E643F9CF-C870-4C67-8AFE-4C1137C8589F}"/>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4" name="Freeform 50">
                <a:extLst>
                  <a:ext uri="{FF2B5EF4-FFF2-40B4-BE49-F238E27FC236}">
                    <a16:creationId xmlns:a16="http://schemas.microsoft.com/office/drawing/2014/main" id="{B684EDFF-2506-40CD-86CB-E3A46071A19D}"/>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134195" name="Freeform 51">
                <a:extLst>
                  <a:ext uri="{FF2B5EF4-FFF2-40B4-BE49-F238E27FC236}">
                    <a16:creationId xmlns:a16="http://schemas.microsoft.com/office/drawing/2014/main" id="{D4FDA40C-C25F-4A2B-BFC0-983A8396AD7D}"/>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134196" name="Freeform 52">
                <a:extLst>
                  <a:ext uri="{FF2B5EF4-FFF2-40B4-BE49-F238E27FC236}">
                    <a16:creationId xmlns:a16="http://schemas.microsoft.com/office/drawing/2014/main" id="{13913470-77ED-40B3-A341-ABDD7CA5CCF0}"/>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7" name="Oval 53">
                <a:extLst>
                  <a:ext uri="{FF2B5EF4-FFF2-40B4-BE49-F238E27FC236}">
                    <a16:creationId xmlns:a16="http://schemas.microsoft.com/office/drawing/2014/main" id="{F1946DE0-EEF9-41AF-A210-2EB216111BDF}"/>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1075" name="Group 54">
                <a:extLst>
                  <a:ext uri="{FF2B5EF4-FFF2-40B4-BE49-F238E27FC236}">
                    <a16:creationId xmlns:a16="http://schemas.microsoft.com/office/drawing/2014/main" id="{C9E4FC09-A196-4017-A83C-7B0FCC1C0ACB}"/>
                  </a:ext>
                </a:extLst>
              </p:cNvPr>
              <p:cNvGrpSpPr>
                <a:grpSpLocks/>
              </p:cNvGrpSpPr>
              <p:nvPr userDrawn="1"/>
            </p:nvGrpSpPr>
            <p:grpSpPr bwMode="auto">
              <a:xfrm>
                <a:off x="4546" y="3608"/>
                <a:ext cx="518" cy="319"/>
                <a:chOff x="4546" y="3608"/>
                <a:chExt cx="518" cy="319"/>
              </a:xfrm>
            </p:grpSpPr>
            <p:sp>
              <p:nvSpPr>
                <p:cNvPr id="134199" name="Oval 55">
                  <a:extLst>
                    <a:ext uri="{FF2B5EF4-FFF2-40B4-BE49-F238E27FC236}">
                      <a16:creationId xmlns:a16="http://schemas.microsoft.com/office/drawing/2014/main" id="{4A9C87D2-D302-4BC7-92F3-E29BE50EB6FC}"/>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134200" name="Oval 56">
                  <a:extLst>
                    <a:ext uri="{FF2B5EF4-FFF2-40B4-BE49-F238E27FC236}">
                      <a16:creationId xmlns:a16="http://schemas.microsoft.com/office/drawing/2014/main" id="{E3F0EF7A-D9B9-4502-A300-515BE5C181DF}"/>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34201" name="Oval 57">
                  <a:extLst>
                    <a:ext uri="{FF2B5EF4-FFF2-40B4-BE49-F238E27FC236}">
                      <a16:creationId xmlns:a16="http://schemas.microsoft.com/office/drawing/2014/main" id="{B32EC241-61C7-4F35-B970-FA8B9EE5CADE}"/>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202" name="Oval 58">
                  <a:extLst>
                    <a:ext uri="{FF2B5EF4-FFF2-40B4-BE49-F238E27FC236}">
                      <a16:creationId xmlns:a16="http://schemas.microsoft.com/office/drawing/2014/main" id="{E6BE2C86-9084-42D3-B1B3-B049B2BBC44D}"/>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134203" name="Oval 59">
                  <a:extLst>
                    <a:ext uri="{FF2B5EF4-FFF2-40B4-BE49-F238E27FC236}">
                      <a16:creationId xmlns:a16="http://schemas.microsoft.com/office/drawing/2014/main" id="{544BE5DB-D878-4B01-ACBA-2B1C5ECC7B91}"/>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204" name="Oval 60">
                  <a:extLst>
                    <a:ext uri="{FF2B5EF4-FFF2-40B4-BE49-F238E27FC236}">
                      <a16:creationId xmlns:a16="http://schemas.microsoft.com/office/drawing/2014/main" id="{4C37CCE9-CF10-4664-A20E-4BD33E5090C8}"/>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1076" name="Group 61">
                <a:extLst>
                  <a:ext uri="{FF2B5EF4-FFF2-40B4-BE49-F238E27FC236}">
                    <a16:creationId xmlns:a16="http://schemas.microsoft.com/office/drawing/2014/main" id="{F89EDC9B-5113-4BC1-8EC5-9CF17A7D9EBA}"/>
                  </a:ext>
                </a:extLst>
              </p:cNvPr>
              <p:cNvGrpSpPr>
                <a:grpSpLocks/>
              </p:cNvGrpSpPr>
              <p:nvPr userDrawn="1"/>
            </p:nvGrpSpPr>
            <p:grpSpPr bwMode="auto">
              <a:xfrm>
                <a:off x="5381" y="3085"/>
                <a:ext cx="227" cy="132"/>
                <a:chOff x="5381" y="3085"/>
                <a:chExt cx="227" cy="132"/>
              </a:xfrm>
            </p:grpSpPr>
            <p:sp>
              <p:nvSpPr>
                <p:cNvPr id="134206" name="Oval 62">
                  <a:extLst>
                    <a:ext uri="{FF2B5EF4-FFF2-40B4-BE49-F238E27FC236}">
                      <a16:creationId xmlns:a16="http://schemas.microsoft.com/office/drawing/2014/main" id="{1437DC43-033D-461B-8051-DE63ED8828CD}"/>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134207" name="Oval 63">
                  <a:extLst>
                    <a:ext uri="{FF2B5EF4-FFF2-40B4-BE49-F238E27FC236}">
                      <a16:creationId xmlns:a16="http://schemas.microsoft.com/office/drawing/2014/main" id="{637224E8-6321-47F4-B152-08372B3A9796}"/>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134208" name="Oval 64">
                  <a:extLst>
                    <a:ext uri="{FF2B5EF4-FFF2-40B4-BE49-F238E27FC236}">
                      <a16:creationId xmlns:a16="http://schemas.microsoft.com/office/drawing/2014/main" id="{56747FC6-5E53-4C92-A1B5-98A2306CE39C}"/>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134209" name="Oval 65">
                  <a:extLst>
                    <a:ext uri="{FF2B5EF4-FFF2-40B4-BE49-F238E27FC236}">
                      <a16:creationId xmlns:a16="http://schemas.microsoft.com/office/drawing/2014/main" id="{5061B439-50DD-4946-8362-3EF3FDE48388}"/>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134210" name="Rectangle 66">
            <a:extLst>
              <a:ext uri="{FF2B5EF4-FFF2-40B4-BE49-F238E27FC236}">
                <a16:creationId xmlns:a16="http://schemas.microsoft.com/office/drawing/2014/main" id="{AB1BF2CD-D0E4-40AB-BE67-A018054A8942}"/>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34211" name="Rectangle 67">
            <a:extLst>
              <a:ext uri="{FF2B5EF4-FFF2-40B4-BE49-F238E27FC236}">
                <a16:creationId xmlns:a16="http://schemas.microsoft.com/office/drawing/2014/main" id="{A73C0B59-C8A8-4BA4-A4A4-E711588E1016}"/>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effectLst>
                  <a:outerShdw blurRad="38100" dist="38100" dir="2700000" algn="tl">
                    <a:srgbClr val="000000"/>
                  </a:outerShdw>
                </a:effectLst>
              </a:defRPr>
            </a:lvl1pPr>
          </a:lstStyle>
          <a:p>
            <a:pPr>
              <a:defRPr/>
            </a:pPr>
            <a:endParaRPr lang="en-US"/>
          </a:p>
        </p:txBody>
      </p:sp>
      <p:sp>
        <p:nvSpPr>
          <p:cNvPr id="134212" name="Rectangle 68">
            <a:extLst>
              <a:ext uri="{FF2B5EF4-FFF2-40B4-BE49-F238E27FC236}">
                <a16:creationId xmlns:a16="http://schemas.microsoft.com/office/drawing/2014/main" id="{39B38EED-D52F-4E81-A4A3-CD8DCA9A9EBE}"/>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smtClean="0">
                <a:effectLst>
                  <a:outerShdw blurRad="38100" dist="38100" dir="2700000" algn="tl">
                    <a:srgbClr val="000000"/>
                  </a:outerShdw>
                </a:effectLst>
              </a:defRPr>
            </a:lvl1pPr>
          </a:lstStyle>
          <a:p>
            <a:pPr>
              <a:defRPr/>
            </a:pPr>
            <a:endParaRPr lang="en-US"/>
          </a:p>
        </p:txBody>
      </p:sp>
      <p:sp>
        <p:nvSpPr>
          <p:cNvPr id="134213" name="Rectangle 69">
            <a:extLst>
              <a:ext uri="{FF2B5EF4-FFF2-40B4-BE49-F238E27FC236}">
                <a16:creationId xmlns:a16="http://schemas.microsoft.com/office/drawing/2014/main" id="{1F9F3296-0871-4954-A864-9E9F4486F28C}"/>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defRPr>
            </a:lvl1pPr>
          </a:lstStyle>
          <a:p>
            <a:fld id="{832F7E46-41C7-4A21-BE87-E8613C7D9E6A}" type="slidenum">
              <a:rPr lang="en-US" altLang="en-US"/>
              <a:pPr/>
              <a:t>‹#›</a:t>
            </a:fld>
            <a:endParaRPr lang="en-US" altLang="en-US"/>
          </a:p>
        </p:txBody>
      </p:sp>
      <p:sp>
        <p:nvSpPr>
          <p:cNvPr id="134214" name="Rectangle 70">
            <a:extLst>
              <a:ext uri="{FF2B5EF4-FFF2-40B4-BE49-F238E27FC236}">
                <a16:creationId xmlns:a16="http://schemas.microsoft.com/office/drawing/2014/main" id="{D3D02746-BDC3-4D95-A194-5BEC09E26FC2}"/>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Data_Encryption_Standar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differential-and-linear-cryptanalysi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96B60154-FE86-4BCB-BE62-29FFA761535D}"/>
              </a:ext>
            </a:extLst>
          </p:cNvPr>
          <p:cNvSpPr>
            <a:spLocks noGrp="1" noChangeArrowheads="1"/>
          </p:cNvSpPr>
          <p:nvPr>
            <p:ph type="ctrTitle"/>
          </p:nvPr>
        </p:nvSpPr>
        <p:spPr>
          <a:xfrm>
            <a:off x="838200" y="457200"/>
            <a:ext cx="7848600" cy="2765425"/>
          </a:xfrm>
        </p:spPr>
        <p:txBody>
          <a:bodyPr/>
          <a:lstStyle/>
          <a:p>
            <a:pPr eaLnBrk="1" hangingPunct="1">
              <a:defRPr/>
            </a:pPr>
            <a:r>
              <a:rPr lang="en-US" dirty="0"/>
              <a:t>Cryptography and Network Security</a:t>
            </a:r>
            <a:br>
              <a:rPr lang="en-US" dirty="0"/>
            </a:br>
            <a:r>
              <a:rPr lang="en-US" dirty="0"/>
              <a:t>Chapter 3</a:t>
            </a:r>
            <a:endParaRPr lang="en-AU" dirty="0"/>
          </a:p>
        </p:txBody>
      </p:sp>
      <p:sp>
        <p:nvSpPr>
          <p:cNvPr id="8" name="Rectangle 2">
            <a:extLst>
              <a:ext uri="{FF2B5EF4-FFF2-40B4-BE49-F238E27FC236}">
                <a16:creationId xmlns:a16="http://schemas.microsoft.com/office/drawing/2014/main" id="{7B094CE5-58A1-4D53-8F38-A639A3798E19}"/>
              </a:ext>
            </a:extLst>
          </p:cNvPr>
          <p:cNvSpPr txBox="1">
            <a:spLocks noChangeArrowheads="1"/>
          </p:cNvSpPr>
          <p:nvPr/>
        </p:nvSpPr>
        <p:spPr bwMode="black">
          <a:xfrm>
            <a:off x="468313" y="3573463"/>
            <a:ext cx="8229600" cy="2159000"/>
          </a:xfrm>
          <a:prstGeom prst="rect">
            <a:avLst/>
          </a:prstGeom>
          <a:noFill/>
          <a:ln w="9525">
            <a:noFill/>
            <a:miter lim="800000"/>
            <a:headEnd/>
            <a:tailEnd/>
          </a:ln>
          <a:effectLst/>
        </p:spPr>
        <p:txBody>
          <a:bodyPr anchor="b" anchorCtr="1"/>
          <a:lstStyle/>
          <a:p>
            <a:pPr algn="ctr">
              <a:defRPr/>
            </a:pPr>
            <a:r>
              <a:rPr lang="en-US" sz="4000" b="1" kern="0" dirty="0">
                <a:solidFill>
                  <a:schemeClr val="tx2"/>
                </a:solidFill>
                <a:effectLst>
                  <a:outerShdw blurRad="38100" dist="38100" dir="2700000" algn="tl">
                    <a:srgbClr val="000000"/>
                  </a:outerShdw>
                </a:effectLst>
                <a:latin typeface="+mj-lt"/>
                <a:ea typeface="+mj-ea"/>
                <a:cs typeface="+mj-cs"/>
              </a:rPr>
              <a:t>Block Ciphers and the Data Encryption Standard</a:t>
            </a:r>
            <a:endParaRPr lang="en-AU" sz="4000" b="1" kern="0" dirty="0">
              <a:solidFill>
                <a:schemeClr val="tx2"/>
              </a:solidFill>
              <a:effectLst>
                <a:outerShdw blurRad="38100" dist="38100" dir="2700000" algn="tl">
                  <a:srgbClr val="000000"/>
                </a:outerShdw>
              </a:effectLst>
              <a:latin typeface="+mj-lt"/>
              <a:ea typeface="+mj-ea"/>
              <a:cs typeface="+mj-cs"/>
            </a:endParaRPr>
          </a:p>
        </p:txBody>
      </p:sp>
      <p:sp>
        <p:nvSpPr>
          <p:cNvPr id="9" name="Slide Number Placeholder 8">
            <a:extLst>
              <a:ext uri="{FF2B5EF4-FFF2-40B4-BE49-F238E27FC236}">
                <a16:creationId xmlns:a16="http://schemas.microsoft.com/office/drawing/2014/main" id="{2F795CD2-7E1D-41F6-9E05-43588E5BFB5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CE90A4C-C1EB-41AB-965D-182203CBF5E1}" type="slidenum">
              <a:rPr lang="en-US" altLang="en-US" sz="1000"/>
              <a:pPr eaLnBrk="1" hangingPunct="1"/>
              <a:t>1</a:t>
            </a:fld>
            <a:endParaRPr lang="en-US" alt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0D7164B-5491-48A0-800B-2B57F7AAF8C0}"/>
              </a:ext>
            </a:extLst>
          </p:cNvPr>
          <p:cNvSpPr>
            <a:spLocks noGrp="1" noChangeArrowheads="1"/>
          </p:cNvSpPr>
          <p:nvPr>
            <p:ph type="title"/>
          </p:nvPr>
        </p:nvSpPr>
        <p:spPr/>
        <p:txBody>
          <a:bodyPr/>
          <a:lstStyle/>
          <a:p>
            <a:pPr eaLnBrk="1" hangingPunct="1">
              <a:defRPr/>
            </a:pPr>
            <a:r>
              <a:rPr lang="en-AU"/>
              <a:t>Modern Block Ciphers</a:t>
            </a:r>
          </a:p>
        </p:txBody>
      </p:sp>
      <p:sp>
        <p:nvSpPr>
          <p:cNvPr id="47107" name="Rectangle 3">
            <a:extLst>
              <a:ext uri="{FF2B5EF4-FFF2-40B4-BE49-F238E27FC236}">
                <a16:creationId xmlns:a16="http://schemas.microsoft.com/office/drawing/2014/main" id="{A6CA224E-A94C-49ED-A98D-BE490BC23F0E}"/>
              </a:ext>
            </a:extLst>
          </p:cNvPr>
          <p:cNvSpPr>
            <a:spLocks noGrp="1" noChangeArrowheads="1"/>
          </p:cNvSpPr>
          <p:nvPr>
            <p:ph type="body" idx="1"/>
          </p:nvPr>
        </p:nvSpPr>
        <p:spPr/>
        <p:txBody>
          <a:bodyPr/>
          <a:lstStyle/>
          <a:p>
            <a:pPr eaLnBrk="1" hangingPunct="1">
              <a:defRPr/>
            </a:pPr>
            <a:r>
              <a:rPr lang="en-AU"/>
              <a:t>now look at modern block ciphers</a:t>
            </a:r>
          </a:p>
          <a:p>
            <a:pPr eaLnBrk="1" hangingPunct="1">
              <a:defRPr/>
            </a:pPr>
            <a:r>
              <a:rPr lang="en-AU"/>
              <a:t>one of the most widely used types of cryptographic algorithms </a:t>
            </a:r>
          </a:p>
          <a:p>
            <a:pPr eaLnBrk="1" hangingPunct="1">
              <a:defRPr/>
            </a:pPr>
            <a:r>
              <a:rPr lang="en-AU"/>
              <a:t>provide secrecy /authentication services</a:t>
            </a:r>
          </a:p>
          <a:p>
            <a:pPr eaLnBrk="1" hangingPunct="1">
              <a:defRPr/>
            </a:pPr>
            <a:r>
              <a:rPr lang="en-AU"/>
              <a:t>focus on DES (Data Encryption Standard)</a:t>
            </a:r>
          </a:p>
          <a:p>
            <a:pPr eaLnBrk="1" hangingPunct="1">
              <a:defRPr/>
            </a:pPr>
            <a:r>
              <a:rPr lang="en-AU"/>
              <a:t>to illustrate block cipher design principles</a:t>
            </a:r>
          </a:p>
        </p:txBody>
      </p:sp>
      <p:sp>
        <p:nvSpPr>
          <p:cNvPr id="6" name="Slide Number Placeholder 5">
            <a:extLst>
              <a:ext uri="{FF2B5EF4-FFF2-40B4-BE49-F238E27FC236}">
                <a16:creationId xmlns:a16="http://schemas.microsoft.com/office/drawing/2014/main" id="{0707FCC7-D2D7-4A3D-8D22-C39D0B92BDC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D414559-01BF-443B-B5B0-AB8BF0C97753}" type="slidenum">
              <a:rPr lang="en-US" altLang="en-US" sz="1000"/>
              <a:pPr eaLnBrk="1" hangingPunct="1"/>
              <a:t>2</a:t>
            </a:fld>
            <a:endParaRPr lang="en-US" alt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467544" y="260648"/>
            <a:ext cx="8229600" cy="1265238"/>
          </a:xfrm>
        </p:spPr>
        <p:txBody>
          <a:bodyPr>
            <a:normAutofit fontScale="90000"/>
          </a:bodyPr>
          <a:lstStyle/>
          <a:p>
            <a:pPr eaLnBrk="1" fontAlgn="auto" hangingPunct="1">
              <a:spcAft>
                <a:spcPts val="0"/>
              </a:spcAft>
              <a:defRPr/>
            </a:pPr>
            <a:r>
              <a:rPr lang="en-US" dirty="0">
                <a:solidFill>
                  <a:schemeClr val="accent6">
                    <a:lumMod val="40000"/>
                    <a:lumOff val="60000"/>
                  </a:schemeClr>
                </a:solidFill>
                <a:ea typeface="+mj-ea"/>
                <a:cs typeface="+mj-cs"/>
              </a:rPr>
              <a:t>Data Encryption Standard</a:t>
            </a:r>
            <a:br>
              <a:rPr lang="en-US" dirty="0">
                <a:solidFill>
                  <a:schemeClr val="accent6">
                    <a:lumMod val="40000"/>
                    <a:lumOff val="60000"/>
                  </a:schemeClr>
                </a:solidFill>
                <a:ea typeface="+mj-ea"/>
                <a:cs typeface="+mj-cs"/>
              </a:rPr>
            </a:br>
            <a:r>
              <a:rPr lang="en-US" dirty="0">
                <a:solidFill>
                  <a:schemeClr val="accent6">
                    <a:lumMod val="40000"/>
                    <a:lumOff val="60000"/>
                  </a:schemeClr>
                </a:solidFill>
                <a:ea typeface="+mj-ea"/>
                <a:cs typeface="+mj-cs"/>
              </a:rPr>
              <a:t>(DES)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82806974"/>
              </p:ext>
            </p:extLst>
          </p:nvPr>
        </p:nvGraphicFramePr>
        <p:xfrm>
          <a:off x="251520" y="1700808"/>
          <a:ext cx="86868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Oval 13"/>
          <p:cNvSpPr/>
          <p:nvPr/>
        </p:nvSpPr>
        <p:spPr>
          <a:xfrm>
            <a:off x="4211960" y="5589240"/>
            <a:ext cx="144016" cy="144016"/>
          </a:xfrm>
          <a:prstGeom prst="ellipse">
            <a:avLst/>
          </a:prstGeom>
          <a:solidFill>
            <a:schemeClr val="bg2">
              <a:lumMod val="20000"/>
              <a:lumOff val="8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87624" y="404664"/>
            <a:ext cx="8229600" cy="1143000"/>
          </a:xfrm>
        </p:spPr>
        <p:txBody>
          <a:bodyPr/>
          <a:lstStyle/>
          <a:p>
            <a:pPr eaLnBrk="1" hangingPunct="1">
              <a:defRPr/>
            </a:pPr>
            <a:r>
              <a:rPr lang="en-US" dirty="0">
                <a:solidFill>
                  <a:schemeClr val="accent2">
                    <a:lumMod val="40000"/>
                    <a:lumOff val="60000"/>
                  </a:schemeClr>
                </a:solidFill>
              </a:rPr>
              <a:t>Block &amp; Stream Ciphers</a:t>
            </a:r>
          </a:p>
        </p:txBody>
      </p:sp>
      <p:graphicFrame>
        <p:nvGraphicFramePr>
          <p:cNvPr id="12" name="Diagram 11"/>
          <p:cNvGraphicFramePr/>
          <p:nvPr/>
        </p:nvGraphicFramePr>
        <p:xfrm>
          <a:off x="990600" y="1981200"/>
          <a:ext cx="71628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344ECC2-ED31-4709-BCE2-0529B2E4C506}"/>
              </a:ext>
            </a:extLst>
          </p:cNvPr>
          <p:cNvSpPr>
            <a:spLocks noGrp="1" noChangeArrowheads="1"/>
          </p:cNvSpPr>
          <p:nvPr>
            <p:ph type="title"/>
          </p:nvPr>
        </p:nvSpPr>
        <p:spPr/>
        <p:txBody>
          <a:bodyPr/>
          <a:lstStyle/>
          <a:p>
            <a:pPr eaLnBrk="1" hangingPunct="1">
              <a:defRPr/>
            </a:pPr>
            <a:r>
              <a:rPr lang="en-US"/>
              <a:t>Block Cipher Principles</a:t>
            </a:r>
            <a:endParaRPr lang="en-AU"/>
          </a:p>
        </p:txBody>
      </p:sp>
      <p:sp>
        <p:nvSpPr>
          <p:cNvPr id="46083" name="Rectangle 3">
            <a:extLst>
              <a:ext uri="{FF2B5EF4-FFF2-40B4-BE49-F238E27FC236}">
                <a16:creationId xmlns:a16="http://schemas.microsoft.com/office/drawing/2014/main" id="{A5AFC2BC-0463-4F4E-9F60-7D2D9594DE89}"/>
              </a:ext>
            </a:extLst>
          </p:cNvPr>
          <p:cNvSpPr>
            <a:spLocks noGrp="1" noChangeArrowheads="1"/>
          </p:cNvSpPr>
          <p:nvPr>
            <p:ph type="body" idx="1"/>
          </p:nvPr>
        </p:nvSpPr>
        <p:spPr/>
        <p:txBody>
          <a:bodyPr/>
          <a:lstStyle/>
          <a:p>
            <a:pPr eaLnBrk="1" hangingPunct="1">
              <a:lnSpc>
                <a:spcPct val="90000"/>
              </a:lnSpc>
              <a:defRPr/>
            </a:pPr>
            <a:r>
              <a:rPr lang="en-US" sz="2800" dirty="0"/>
              <a:t>most symmetric block ciphers are based on a </a:t>
            </a:r>
            <a:r>
              <a:rPr lang="en-US" sz="2800" b="1" dirty="0" err="1"/>
              <a:t>Feistel</a:t>
            </a:r>
            <a:r>
              <a:rPr lang="en-US" sz="2800" b="1" dirty="0"/>
              <a:t> Cipher Structure</a:t>
            </a:r>
          </a:p>
          <a:p>
            <a:pPr eaLnBrk="1" hangingPunct="1">
              <a:lnSpc>
                <a:spcPct val="90000"/>
              </a:lnSpc>
              <a:defRPr/>
            </a:pPr>
            <a:r>
              <a:rPr lang="en-US" sz="2800" dirty="0"/>
              <a:t>needed since must be able to </a:t>
            </a:r>
            <a:r>
              <a:rPr lang="en-US" sz="2800" b="1" dirty="0"/>
              <a:t>decrypt</a:t>
            </a:r>
            <a:r>
              <a:rPr lang="en-US" sz="2800" dirty="0"/>
              <a:t> </a:t>
            </a:r>
            <a:r>
              <a:rPr lang="en-US" sz="2800" dirty="0" err="1"/>
              <a:t>ciphertext</a:t>
            </a:r>
            <a:r>
              <a:rPr lang="en-US" sz="2800" dirty="0"/>
              <a:t> to recover messages efficiently</a:t>
            </a:r>
          </a:p>
          <a:p>
            <a:pPr eaLnBrk="1" hangingPunct="1">
              <a:lnSpc>
                <a:spcPct val="90000"/>
              </a:lnSpc>
              <a:defRPr/>
            </a:pPr>
            <a:r>
              <a:rPr lang="en-AU" sz="2800" dirty="0"/>
              <a:t>block ciphers look like an extremely large substitution </a:t>
            </a:r>
          </a:p>
          <a:p>
            <a:pPr eaLnBrk="1" hangingPunct="1">
              <a:lnSpc>
                <a:spcPct val="90000"/>
              </a:lnSpc>
              <a:defRPr/>
            </a:pPr>
            <a:r>
              <a:rPr lang="en-AU" sz="2800" dirty="0"/>
              <a:t>would need table of 2</a:t>
            </a:r>
            <a:r>
              <a:rPr lang="en-AU" sz="2800" baseline="30000" dirty="0"/>
              <a:t>64</a:t>
            </a:r>
            <a:r>
              <a:rPr lang="en-AU" sz="2800" dirty="0"/>
              <a:t> entries for a 64-bit block </a:t>
            </a:r>
          </a:p>
          <a:p>
            <a:pPr eaLnBrk="1" hangingPunct="1">
              <a:lnSpc>
                <a:spcPct val="90000"/>
              </a:lnSpc>
              <a:defRPr/>
            </a:pPr>
            <a:r>
              <a:rPr lang="en-AU" sz="2800" dirty="0"/>
              <a:t>instead create from smaller building blocks </a:t>
            </a:r>
          </a:p>
          <a:p>
            <a:pPr eaLnBrk="1" hangingPunct="1">
              <a:lnSpc>
                <a:spcPct val="90000"/>
              </a:lnSpc>
              <a:defRPr/>
            </a:pPr>
            <a:r>
              <a:rPr lang="en-AU" sz="2800" dirty="0"/>
              <a:t>using idea of a product cipher </a:t>
            </a:r>
          </a:p>
          <a:p>
            <a:pPr eaLnBrk="1" hangingPunct="1">
              <a:lnSpc>
                <a:spcPct val="90000"/>
              </a:lnSpc>
              <a:defRPr/>
            </a:pPr>
            <a:endParaRPr lang="en-US" sz="2800" dirty="0"/>
          </a:p>
          <a:p>
            <a:pPr eaLnBrk="1" hangingPunct="1">
              <a:lnSpc>
                <a:spcPct val="90000"/>
              </a:lnSpc>
              <a:defRPr/>
            </a:pPr>
            <a:endParaRPr lang="en-AU" sz="2800" dirty="0"/>
          </a:p>
        </p:txBody>
      </p:sp>
      <p:sp>
        <p:nvSpPr>
          <p:cNvPr id="6" name="Slide Number Placeholder 5">
            <a:extLst>
              <a:ext uri="{FF2B5EF4-FFF2-40B4-BE49-F238E27FC236}">
                <a16:creationId xmlns:a16="http://schemas.microsoft.com/office/drawing/2014/main" id="{2911D0A2-EF71-4464-9029-691EA708306B}"/>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B3DBD3E-A629-4E3C-9B39-778FDEA5D159}" type="slidenum">
              <a:rPr lang="en-US" altLang="en-US" sz="1000"/>
              <a:pPr eaLnBrk="1" hangingPunct="1"/>
              <a:t>5</a:t>
            </a:fld>
            <a:endParaRPr lang="en-US" alt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A55E76A-AE6F-46A7-A774-6B6C560C88EA}"/>
              </a:ext>
            </a:extLst>
          </p:cNvPr>
          <p:cNvSpPr>
            <a:spLocks noGrp="1" noChangeArrowheads="1"/>
          </p:cNvSpPr>
          <p:nvPr>
            <p:ph type="title"/>
          </p:nvPr>
        </p:nvSpPr>
        <p:spPr>
          <a:xfrm>
            <a:off x="228600" y="277813"/>
            <a:ext cx="8686800" cy="1139825"/>
          </a:xfrm>
        </p:spPr>
        <p:txBody>
          <a:bodyPr/>
          <a:lstStyle/>
          <a:p>
            <a:pPr eaLnBrk="1" hangingPunct="1">
              <a:defRPr/>
            </a:pPr>
            <a:r>
              <a:rPr lang="en-AU" sz="4000"/>
              <a:t>Claude Shannon and Substitution-Permutation Ciphers</a:t>
            </a:r>
          </a:p>
        </p:txBody>
      </p:sp>
      <p:sp>
        <p:nvSpPr>
          <p:cNvPr id="52227" name="Rectangle 3">
            <a:extLst>
              <a:ext uri="{FF2B5EF4-FFF2-40B4-BE49-F238E27FC236}">
                <a16:creationId xmlns:a16="http://schemas.microsoft.com/office/drawing/2014/main" id="{DA284079-B83E-43EA-8000-F718D7925367}"/>
              </a:ext>
            </a:extLst>
          </p:cNvPr>
          <p:cNvSpPr>
            <a:spLocks noGrp="1" noChangeArrowheads="1"/>
          </p:cNvSpPr>
          <p:nvPr>
            <p:ph type="body" idx="1"/>
          </p:nvPr>
        </p:nvSpPr>
        <p:spPr/>
        <p:txBody>
          <a:bodyPr/>
          <a:lstStyle/>
          <a:p>
            <a:pPr eaLnBrk="1" hangingPunct="1">
              <a:defRPr/>
            </a:pPr>
            <a:r>
              <a:rPr lang="en-AU" sz="2800" dirty="0"/>
              <a:t>Claude Shannon introduced idea of substitution-permutation (S-P) networks in 1949 paper</a:t>
            </a:r>
          </a:p>
          <a:p>
            <a:pPr eaLnBrk="1" hangingPunct="1">
              <a:defRPr/>
            </a:pPr>
            <a:r>
              <a:rPr lang="en-AU" sz="2800" dirty="0"/>
              <a:t>form basis of modern block ciphers </a:t>
            </a:r>
          </a:p>
          <a:p>
            <a:pPr eaLnBrk="1" hangingPunct="1">
              <a:defRPr/>
            </a:pPr>
            <a:r>
              <a:rPr lang="en-AU" sz="2800" dirty="0"/>
              <a:t>S-P nets are based on the two primitive cryptographic operations seen before: </a:t>
            </a:r>
          </a:p>
          <a:p>
            <a:pPr lvl="1" eaLnBrk="1" hangingPunct="1">
              <a:defRPr/>
            </a:pPr>
            <a:r>
              <a:rPr lang="en-AU" sz="2400" i="1" dirty="0"/>
              <a:t>substitution</a:t>
            </a:r>
            <a:r>
              <a:rPr lang="en-AU" sz="2400" dirty="0"/>
              <a:t> (S-box)</a:t>
            </a:r>
          </a:p>
          <a:p>
            <a:pPr lvl="1" eaLnBrk="1" hangingPunct="1">
              <a:defRPr/>
            </a:pPr>
            <a:r>
              <a:rPr lang="en-AU" sz="2400" i="1" dirty="0"/>
              <a:t>permutation </a:t>
            </a:r>
            <a:r>
              <a:rPr lang="en-AU" sz="2400" dirty="0"/>
              <a:t>(P-box)</a:t>
            </a:r>
          </a:p>
          <a:p>
            <a:pPr eaLnBrk="1" hangingPunct="1">
              <a:defRPr/>
            </a:pPr>
            <a:r>
              <a:rPr lang="en-AU" sz="2800" dirty="0"/>
              <a:t>provide </a:t>
            </a:r>
            <a:r>
              <a:rPr lang="en-AU" sz="2800" i="1" dirty="0"/>
              <a:t>confusion</a:t>
            </a:r>
            <a:r>
              <a:rPr lang="en-AU" sz="2800" dirty="0"/>
              <a:t> &amp; </a:t>
            </a:r>
            <a:r>
              <a:rPr lang="en-AU" sz="2800" i="1" dirty="0"/>
              <a:t>diffusion</a:t>
            </a:r>
            <a:r>
              <a:rPr lang="en-AU" sz="2800" dirty="0"/>
              <a:t> of message &amp; key</a:t>
            </a:r>
          </a:p>
        </p:txBody>
      </p:sp>
      <p:sp>
        <p:nvSpPr>
          <p:cNvPr id="6" name="Slide Number Placeholder 5">
            <a:extLst>
              <a:ext uri="{FF2B5EF4-FFF2-40B4-BE49-F238E27FC236}">
                <a16:creationId xmlns:a16="http://schemas.microsoft.com/office/drawing/2014/main" id="{BC080913-45B5-4601-86D3-214318845B8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29B39EC-4A89-4117-B521-20CA026C8979}" type="slidenum">
              <a:rPr lang="en-US" altLang="en-US" sz="1000"/>
              <a:pPr eaLnBrk="1" hangingPunct="1"/>
              <a:t>6</a:t>
            </a:fld>
            <a:endParaRPr lang="en-US" alt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EF8C1FE-09F7-4FB3-B2D9-3E3146044282}"/>
              </a:ext>
            </a:extLst>
          </p:cNvPr>
          <p:cNvSpPr>
            <a:spLocks noGrp="1" noChangeArrowheads="1"/>
          </p:cNvSpPr>
          <p:nvPr>
            <p:ph type="title"/>
          </p:nvPr>
        </p:nvSpPr>
        <p:spPr/>
        <p:txBody>
          <a:bodyPr/>
          <a:lstStyle/>
          <a:p>
            <a:pPr eaLnBrk="1" hangingPunct="1">
              <a:defRPr/>
            </a:pPr>
            <a:r>
              <a:rPr lang="en-US"/>
              <a:t>Confusion and Diffusion</a:t>
            </a:r>
            <a:endParaRPr lang="en-AU"/>
          </a:p>
        </p:txBody>
      </p:sp>
      <p:sp>
        <p:nvSpPr>
          <p:cNvPr id="54275" name="Rectangle 3">
            <a:extLst>
              <a:ext uri="{FF2B5EF4-FFF2-40B4-BE49-F238E27FC236}">
                <a16:creationId xmlns:a16="http://schemas.microsoft.com/office/drawing/2014/main" id="{94E89C24-D351-42F3-AF0F-9D24B6A085A1}"/>
              </a:ext>
            </a:extLst>
          </p:cNvPr>
          <p:cNvSpPr>
            <a:spLocks noGrp="1" noChangeArrowheads="1"/>
          </p:cNvSpPr>
          <p:nvPr>
            <p:ph type="body" idx="1"/>
          </p:nvPr>
        </p:nvSpPr>
        <p:spPr/>
        <p:txBody>
          <a:bodyPr/>
          <a:lstStyle/>
          <a:p>
            <a:pPr eaLnBrk="1" hangingPunct="1">
              <a:lnSpc>
                <a:spcPct val="90000"/>
              </a:lnSpc>
              <a:defRPr/>
            </a:pPr>
            <a:r>
              <a:rPr lang="en-US" dirty="0"/>
              <a:t>cipher needs to completely obscure statistical properties of original message</a:t>
            </a:r>
          </a:p>
          <a:p>
            <a:pPr eaLnBrk="1" hangingPunct="1">
              <a:lnSpc>
                <a:spcPct val="90000"/>
              </a:lnSpc>
              <a:defRPr/>
            </a:pPr>
            <a:r>
              <a:rPr lang="en-US" dirty="0"/>
              <a:t>a one-time pad does this</a:t>
            </a:r>
          </a:p>
          <a:p>
            <a:pPr eaLnBrk="1" hangingPunct="1">
              <a:lnSpc>
                <a:spcPct val="90000"/>
              </a:lnSpc>
              <a:defRPr/>
            </a:pPr>
            <a:r>
              <a:rPr lang="en-US" dirty="0"/>
              <a:t>more practically Shannon suggested combining S &amp; P elements to obtain:</a:t>
            </a:r>
          </a:p>
          <a:p>
            <a:pPr eaLnBrk="1" hangingPunct="1">
              <a:lnSpc>
                <a:spcPct val="90000"/>
              </a:lnSpc>
              <a:defRPr/>
            </a:pPr>
            <a:r>
              <a:rPr lang="en-AU" b="1" dirty="0"/>
              <a:t>diffusion</a:t>
            </a:r>
            <a:r>
              <a:rPr lang="en-AU" dirty="0"/>
              <a:t> – dissipates statistical structure of plaintext over bulk of </a:t>
            </a:r>
            <a:r>
              <a:rPr lang="en-AU" dirty="0" err="1"/>
              <a:t>ciphertext</a:t>
            </a:r>
            <a:endParaRPr lang="en-AU" dirty="0"/>
          </a:p>
          <a:p>
            <a:pPr eaLnBrk="1" hangingPunct="1">
              <a:lnSpc>
                <a:spcPct val="90000"/>
              </a:lnSpc>
              <a:defRPr/>
            </a:pPr>
            <a:r>
              <a:rPr lang="en-AU" b="1" dirty="0"/>
              <a:t>confusion</a:t>
            </a:r>
            <a:r>
              <a:rPr lang="en-AU" dirty="0"/>
              <a:t> – makes relationship between </a:t>
            </a:r>
            <a:r>
              <a:rPr lang="en-AU" dirty="0" err="1"/>
              <a:t>ciphertext</a:t>
            </a:r>
            <a:r>
              <a:rPr lang="en-AU" dirty="0"/>
              <a:t> and key as complex as possible</a:t>
            </a:r>
            <a:endParaRPr lang="en-AU" i="1" dirty="0"/>
          </a:p>
        </p:txBody>
      </p:sp>
      <p:sp>
        <p:nvSpPr>
          <p:cNvPr id="6" name="Slide Number Placeholder 5">
            <a:extLst>
              <a:ext uri="{FF2B5EF4-FFF2-40B4-BE49-F238E27FC236}">
                <a16:creationId xmlns:a16="http://schemas.microsoft.com/office/drawing/2014/main" id="{02787805-C464-40FF-A9EE-BDEB5A78E9D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A80527F-D86D-4370-92A1-059C8AA60484}" type="slidenum">
              <a:rPr lang="en-US" altLang="en-US" sz="1000"/>
              <a:pPr eaLnBrk="1" hangingPunct="1"/>
              <a:t>7</a:t>
            </a:fld>
            <a:endParaRPr lang="en-US" alt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C03995A-C35F-40AC-81CD-FB9B21A8B26D}"/>
              </a:ext>
            </a:extLst>
          </p:cNvPr>
          <p:cNvSpPr>
            <a:spLocks noGrp="1" noChangeArrowheads="1"/>
          </p:cNvSpPr>
          <p:nvPr>
            <p:ph type="title"/>
          </p:nvPr>
        </p:nvSpPr>
        <p:spPr/>
        <p:txBody>
          <a:bodyPr/>
          <a:lstStyle/>
          <a:p>
            <a:pPr eaLnBrk="1" hangingPunct="1">
              <a:defRPr/>
            </a:pPr>
            <a:r>
              <a:rPr lang="en-AU" dirty="0"/>
              <a:t>Feistel Cipher Structure</a:t>
            </a:r>
          </a:p>
        </p:txBody>
      </p:sp>
      <p:sp>
        <p:nvSpPr>
          <p:cNvPr id="56323" name="Rectangle 3">
            <a:extLst>
              <a:ext uri="{FF2B5EF4-FFF2-40B4-BE49-F238E27FC236}">
                <a16:creationId xmlns:a16="http://schemas.microsoft.com/office/drawing/2014/main" id="{0F63EACB-2F79-4A12-A112-B73078D7FAA5}"/>
              </a:ext>
            </a:extLst>
          </p:cNvPr>
          <p:cNvSpPr>
            <a:spLocks noGrp="1" noChangeArrowheads="1"/>
          </p:cNvSpPr>
          <p:nvPr>
            <p:ph type="body" idx="1"/>
          </p:nvPr>
        </p:nvSpPr>
        <p:spPr/>
        <p:txBody>
          <a:bodyPr/>
          <a:lstStyle/>
          <a:p>
            <a:pPr eaLnBrk="1" hangingPunct="1">
              <a:defRPr/>
            </a:pPr>
            <a:r>
              <a:rPr lang="en-AU"/>
              <a:t>Horst Feistel devised the </a:t>
            </a:r>
            <a:r>
              <a:rPr lang="en-AU" b="1"/>
              <a:t>feistel cipher</a:t>
            </a:r>
            <a:endParaRPr lang="en-AU"/>
          </a:p>
          <a:p>
            <a:pPr lvl="1" eaLnBrk="1" hangingPunct="1">
              <a:defRPr/>
            </a:pPr>
            <a:r>
              <a:rPr lang="en-US"/>
              <a:t>based on concept of invertible product cipher</a:t>
            </a:r>
            <a:endParaRPr lang="en-AU"/>
          </a:p>
          <a:p>
            <a:pPr eaLnBrk="1" hangingPunct="1">
              <a:defRPr/>
            </a:pPr>
            <a:r>
              <a:rPr lang="en-AU"/>
              <a:t>partitions input block into two halves</a:t>
            </a:r>
          </a:p>
          <a:p>
            <a:pPr lvl="1" eaLnBrk="1" hangingPunct="1">
              <a:defRPr/>
            </a:pPr>
            <a:r>
              <a:rPr lang="en-US"/>
              <a:t>process through multiple rounds which</a:t>
            </a:r>
          </a:p>
          <a:p>
            <a:pPr lvl="1" eaLnBrk="1" hangingPunct="1">
              <a:defRPr/>
            </a:pPr>
            <a:r>
              <a:rPr lang="en-US"/>
              <a:t>perform a substitution on left data half</a:t>
            </a:r>
            <a:endParaRPr lang="en-AU"/>
          </a:p>
          <a:p>
            <a:pPr lvl="1" eaLnBrk="1" hangingPunct="1">
              <a:defRPr/>
            </a:pPr>
            <a:r>
              <a:rPr lang="en-AU"/>
              <a:t>based on round function of right half &amp; subkey</a:t>
            </a:r>
          </a:p>
          <a:p>
            <a:pPr lvl="1" eaLnBrk="1" hangingPunct="1">
              <a:defRPr/>
            </a:pPr>
            <a:r>
              <a:rPr lang="en-AU"/>
              <a:t>then have permutation swapping halves</a:t>
            </a:r>
          </a:p>
          <a:p>
            <a:pPr eaLnBrk="1" hangingPunct="1">
              <a:defRPr/>
            </a:pPr>
            <a:r>
              <a:rPr lang="en-AU"/>
              <a:t>implements Shannon’s S-P net concept</a:t>
            </a:r>
          </a:p>
        </p:txBody>
      </p:sp>
      <p:sp>
        <p:nvSpPr>
          <p:cNvPr id="6" name="Slide Number Placeholder 5">
            <a:extLst>
              <a:ext uri="{FF2B5EF4-FFF2-40B4-BE49-F238E27FC236}">
                <a16:creationId xmlns:a16="http://schemas.microsoft.com/office/drawing/2014/main" id="{DEE14054-5045-464E-BCB0-31E0969569A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B5E1978-9B3B-4544-8A04-6A81A13F9E30}" type="slidenum">
              <a:rPr lang="en-US" altLang="en-US" sz="1000"/>
              <a:pPr eaLnBrk="1" hangingPunct="1"/>
              <a:t>8</a:t>
            </a:fld>
            <a:endParaRPr lang="en-US" alt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5E23875-4473-44DB-8AAB-6ECF3A21F7C7}"/>
              </a:ext>
            </a:extLst>
          </p:cNvPr>
          <p:cNvSpPr>
            <a:spLocks noGrp="1" noChangeArrowheads="1"/>
          </p:cNvSpPr>
          <p:nvPr>
            <p:ph type="title"/>
          </p:nvPr>
        </p:nvSpPr>
        <p:spPr>
          <a:xfrm>
            <a:off x="533400" y="152400"/>
            <a:ext cx="8229600" cy="1139825"/>
          </a:xfrm>
        </p:spPr>
        <p:txBody>
          <a:bodyPr/>
          <a:lstStyle/>
          <a:p>
            <a:pPr eaLnBrk="1" hangingPunct="1">
              <a:defRPr/>
            </a:pPr>
            <a:r>
              <a:rPr lang="en-AU"/>
              <a:t>Feistel Cipher Structure</a:t>
            </a:r>
          </a:p>
        </p:txBody>
      </p:sp>
      <p:pic>
        <p:nvPicPr>
          <p:cNvPr id="11267" name="Picture 5">
            <a:extLst>
              <a:ext uri="{FF2B5EF4-FFF2-40B4-BE49-F238E27FC236}">
                <a16:creationId xmlns:a16="http://schemas.microsoft.com/office/drawing/2014/main" id="{B6946590-B315-405A-AB4D-D233903B8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192213"/>
            <a:ext cx="3081338" cy="566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1A83A63F-74AF-485C-AD64-B6FB44F894E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11D74AE-4630-405C-9217-81BFE80ABA43}" type="slidenum">
              <a:rPr lang="en-US" altLang="en-US" sz="1000"/>
              <a:pPr eaLnBrk="1" hangingPunct="1"/>
              <a:t>9</a:t>
            </a:fld>
            <a:endParaRPr lang="en-US" alt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6899029-9315-43DE-9155-604A51EC13D6}"/>
              </a:ext>
            </a:extLst>
          </p:cNvPr>
          <p:cNvSpPr>
            <a:spLocks noGrp="1" noChangeArrowheads="1"/>
          </p:cNvSpPr>
          <p:nvPr>
            <p:ph type="title"/>
          </p:nvPr>
        </p:nvSpPr>
        <p:spPr>
          <a:xfrm>
            <a:off x="228600" y="277813"/>
            <a:ext cx="8686800" cy="1139825"/>
          </a:xfrm>
        </p:spPr>
        <p:txBody>
          <a:bodyPr/>
          <a:lstStyle/>
          <a:p>
            <a:pPr eaLnBrk="1" hangingPunct="1">
              <a:defRPr/>
            </a:pPr>
            <a:r>
              <a:rPr lang="en-AU"/>
              <a:t>Feistel Cipher Design Elements</a:t>
            </a:r>
          </a:p>
        </p:txBody>
      </p:sp>
      <p:sp>
        <p:nvSpPr>
          <p:cNvPr id="59395" name="Rectangle 3">
            <a:extLst>
              <a:ext uri="{FF2B5EF4-FFF2-40B4-BE49-F238E27FC236}">
                <a16:creationId xmlns:a16="http://schemas.microsoft.com/office/drawing/2014/main" id="{32524B4D-A870-413A-87A8-3559B73DE006}"/>
              </a:ext>
            </a:extLst>
          </p:cNvPr>
          <p:cNvSpPr>
            <a:spLocks noGrp="1" noChangeArrowheads="1"/>
          </p:cNvSpPr>
          <p:nvPr>
            <p:ph type="body" idx="1"/>
          </p:nvPr>
        </p:nvSpPr>
        <p:spPr/>
        <p:txBody>
          <a:bodyPr/>
          <a:lstStyle/>
          <a:p>
            <a:pPr eaLnBrk="1" hangingPunct="1">
              <a:lnSpc>
                <a:spcPct val="80000"/>
              </a:lnSpc>
              <a:defRPr/>
            </a:pPr>
            <a:r>
              <a:rPr lang="en-AU"/>
              <a:t>block size </a:t>
            </a:r>
          </a:p>
          <a:p>
            <a:pPr eaLnBrk="1" hangingPunct="1">
              <a:lnSpc>
                <a:spcPct val="80000"/>
              </a:lnSpc>
              <a:defRPr/>
            </a:pPr>
            <a:r>
              <a:rPr lang="en-AU"/>
              <a:t>key size </a:t>
            </a:r>
          </a:p>
          <a:p>
            <a:pPr eaLnBrk="1" hangingPunct="1">
              <a:lnSpc>
                <a:spcPct val="80000"/>
              </a:lnSpc>
              <a:defRPr/>
            </a:pPr>
            <a:r>
              <a:rPr lang="en-AU"/>
              <a:t>number of rounds </a:t>
            </a:r>
          </a:p>
          <a:p>
            <a:pPr eaLnBrk="1" hangingPunct="1">
              <a:lnSpc>
                <a:spcPct val="80000"/>
              </a:lnSpc>
              <a:defRPr/>
            </a:pPr>
            <a:r>
              <a:rPr lang="en-AU"/>
              <a:t>subkey generation algorithm</a:t>
            </a:r>
          </a:p>
          <a:p>
            <a:pPr eaLnBrk="1" hangingPunct="1">
              <a:lnSpc>
                <a:spcPct val="80000"/>
              </a:lnSpc>
              <a:defRPr/>
            </a:pPr>
            <a:r>
              <a:rPr lang="en-AU"/>
              <a:t>round function </a:t>
            </a:r>
          </a:p>
          <a:p>
            <a:pPr eaLnBrk="1" hangingPunct="1">
              <a:lnSpc>
                <a:spcPct val="80000"/>
              </a:lnSpc>
              <a:defRPr/>
            </a:pPr>
            <a:r>
              <a:rPr lang="en-US"/>
              <a:t>fast software en/decryption</a:t>
            </a:r>
          </a:p>
          <a:p>
            <a:pPr eaLnBrk="1" hangingPunct="1">
              <a:lnSpc>
                <a:spcPct val="80000"/>
              </a:lnSpc>
              <a:defRPr/>
            </a:pPr>
            <a:r>
              <a:rPr lang="en-US"/>
              <a:t>ease of analysis</a:t>
            </a:r>
          </a:p>
        </p:txBody>
      </p:sp>
      <p:sp>
        <p:nvSpPr>
          <p:cNvPr id="6" name="Slide Number Placeholder 5">
            <a:extLst>
              <a:ext uri="{FF2B5EF4-FFF2-40B4-BE49-F238E27FC236}">
                <a16:creationId xmlns:a16="http://schemas.microsoft.com/office/drawing/2014/main" id="{B6B33A9B-382D-4766-A1BB-11E1A5F9DCC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F8EAD03-8355-45F1-8C0F-A792FA710862}" type="slidenum">
              <a:rPr lang="en-US" altLang="en-US" sz="1000"/>
              <a:pPr eaLnBrk="1" hangingPunct="1"/>
              <a:t>10</a:t>
            </a:fld>
            <a:endParaRPr lang="en-US" alt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AD97A32-5B60-4586-B5D4-9DA2BF919A38}"/>
              </a:ext>
            </a:extLst>
          </p:cNvPr>
          <p:cNvSpPr>
            <a:spLocks noGrp="1" noChangeArrowheads="1"/>
          </p:cNvSpPr>
          <p:nvPr>
            <p:ph type="title"/>
          </p:nvPr>
        </p:nvSpPr>
        <p:spPr>
          <a:xfrm>
            <a:off x="457200" y="152400"/>
            <a:ext cx="8229600" cy="1139825"/>
          </a:xfrm>
        </p:spPr>
        <p:txBody>
          <a:bodyPr/>
          <a:lstStyle/>
          <a:p>
            <a:pPr eaLnBrk="1" hangingPunct="1">
              <a:defRPr/>
            </a:pPr>
            <a:r>
              <a:rPr lang="en-AU"/>
              <a:t>Feistel Cipher Decryption</a:t>
            </a:r>
          </a:p>
        </p:txBody>
      </p:sp>
      <p:pic>
        <p:nvPicPr>
          <p:cNvPr id="13315" name="Picture 5">
            <a:extLst>
              <a:ext uri="{FF2B5EF4-FFF2-40B4-BE49-F238E27FC236}">
                <a16:creationId xmlns:a16="http://schemas.microsoft.com/office/drawing/2014/main" id="{217EE234-250F-4DC6-B4C2-89EC72AB3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22375"/>
            <a:ext cx="3979863"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926BC16F-BD4C-49BB-908A-48819D9B8DD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534030E-0846-4A36-9455-BBDE069F431A}" type="slidenum">
              <a:rPr lang="en-US" altLang="en-US" sz="1000"/>
              <a:pPr eaLnBrk="1" hangingPunct="1"/>
              <a:t>11</a:t>
            </a:fld>
            <a:endParaRPr lang="en-US" alt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0A42F56-21E3-415B-A324-C07D708DBD2E}"/>
              </a:ext>
            </a:extLst>
          </p:cNvPr>
          <p:cNvSpPr>
            <a:spLocks noGrp="1" noChangeArrowheads="1"/>
          </p:cNvSpPr>
          <p:nvPr>
            <p:ph type="title"/>
          </p:nvPr>
        </p:nvSpPr>
        <p:spPr/>
        <p:txBody>
          <a:bodyPr/>
          <a:lstStyle/>
          <a:p>
            <a:pPr eaLnBrk="1" hangingPunct="1">
              <a:defRPr/>
            </a:pPr>
            <a:r>
              <a:rPr lang="en-AU" sz="4000" dirty="0">
                <a:hlinkClick r:id="rId3"/>
              </a:rPr>
              <a:t>Data Encryption Standard (DES)</a:t>
            </a:r>
            <a:endParaRPr lang="en-AU" sz="4000" dirty="0"/>
          </a:p>
        </p:txBody>
      </p:sp>
      <p:sp>
        <p:nvSpPr>
          <p:cNvPr id="62467" name="Rectangle 3">
            <a:extLst>
              <a:ext uri="{FF2B5EF4-FFF2-40B4-BE49-F238E27FC236}">
                <a16:creationId xmlns:a16="http://schemas.microsoft.com/office/drawing/2014/main" id="{E032B4F7-F19B-4746-B586-28CE0FDDBB49}"/>
              </a:ext>
            </a:extLst>
          </p:cNvPr>
          <p:cNvSpPr>
            <a:spLocks noGrp="1" noChangeArrowheads="1"/>
          </p:cNvSpPr>
          <p:nvPr>
            <p:ph type="body" idx="1"/>
          </p:nvPr>
        </p:nvSpPr>
        <p:spPr/>
        <p:txBody>
          <a:bodyPr/>
          <a:lstStyle/>
          <a:p>
            <a:pPr eaLnBrk="1" hangingPunct="1">
              <a:lnSpc>
                <a:spcPct val="90000"/>
              </a:lnSpc>
              <a:defRPr/>
            </a:pPr>
            <a:r>
              <a:rPr lang="en-AU"/>
              <a:t>most widely used block cipher in world </a:t>
            </a:r>
          </a:p>
          <a:p>
            <a:pPr eaLnBrk="1" hangingPunct="1">
              <a:lnSpc>
                <a:spcPct val="90000"/>
              </a:lnSpc>
              <a:defRPr/>
            </a:pPr>
            <a:r>
              <a:rPr lang="en-AU"/>
              <a:t>adopted in 1977 by NBS (now NIST)</a:t>
            </a:r>
          </a:p>
          <a:p>
            <a:pPr lvl="1" eaLnBrk="1" hangingPunct="1">
              <a:lnSpc>
                <a:spcPct val="90000"/>
              </a:lnSpc>
              <a:defRPr/>
            </a:pPr>
            <a:r>
              <a:rPr lang="en-US"/>
              <a:t>as FIPS PUB 46</a:t>
            </a:r>
            <a:endParaRPr lang="en-AU"/>
          </a:p>
          <a:p>
            <a:pPr eaLnBrk="1" hangingPunct="1">
              <a:lnSpc>
                <a:spcPct val="90000"/>
              </a:lnSpc>
              <a:defRPr/>
            </a:pPr>
            <a:r>
              <a:rPr lang="en-US"/>
              <a:t>encrypts 64-bit data using 56-bit key</a:t>
            </a:r>
          </a:p>
          <a:p>
            <a:pPr eaLnBrk="1" hangingPunct="1">
              <a:lnSpc>
                <a:spcPct val="90000"/>
              </a:lnSpc>
              <a:defRPr/>
            </a:pPr>
            <a:r>
              <a:rPr lang="en-US"/>
              <a:t>has widespread use</a:t>
            </a:r>
          </a:p>
          <a:p>
            <a:pPr eaLnBrk="1" hangingPunct="1">
              <a:lnSpc>
                <a:spcPct val="90000"/>
              </a:lnSpc>
              <a:defRPr/>
            </a:pPr>
            <a:r>
              <a:rPr lang="en-US"/>
              <a:t>has been considerable controversy over its security</a:t>
            </a:r>
            <a:endParaRPr lang="en-AU"/>
          </a:p>
          <a:p>
            <a:pPr eaLnBrk="1" hangingPunct="1">
              <a:lnSpc>
                <a:spcPct val="90000"/>
              </a:lnSpc>
              <a:defRPr/>
            </a:pPr>
            <a:endParaRPr lang="en-AU"/>
          </a:p>
        </p:txBody>
      </p:sp>
      <p:sp>
        <p:nvSpPr>
          <p:cNvPr id="6" name="Slide Number Placeholder 5">
            <a:extLst>
              <a:ext uri="{FF2B5EF4-FFF2-40B4-BE49-F238E27FC236}">
                <a16:creationId xmlns:a16="http://schemas.microsoft.com/office/drawing/2014/main" id="{1E5AE5D7-27BD-48A7-B765-17AF07E0DD82}"/>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3FB5C3F-79EB-483C-A4E7-3C6CEDEDF009}" type="slidenum">
              <a:rPr lang="en-US" altLang="en-US" sz="1000"/>
              <a:pPr eaLnBrk="1" hangingPunct="1"/>
              <a:t>12</a:t>
            </a:fld>
            <a:endParaRPr lang="en-US" alt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0C0A34E-8A60-4F14-99B2-3FBBA8B9504A}"/>
              </a:ext>
            </a:extLst>
          </p:cNvPr>
          <p:cNvSpPr>
            <a:spLocks noGrp="1" noChangeArrowheads="1"/>
          </p:cNvSpPr>
          <p:nvPr>
            <p:ph type="title"/>
          </p:nvPr>
        </p:nvSpPr>
        <p:spPr/>
        <p:txBody>
          <a:bodyPr/>
          <a:lstStyle/>
          <a:p>
            <a:pPr eaLnBrk="1" hangingPunct="1">
              <a:defRPr/>
            </a:pPr>
            <a:r>
              <a:rPr lang="en-US"/>
              <a:t>DES History</a:t>
            </a:r>
            <a:endParaRPr lang="en-AU"/>
          </a:p>
        </p:txBody>
      </p:sp>
      <p:sp>
        <p:nvSpPr>
          <p:cNvPr id="63491" name="Rectangle 3">
            <a:extLst>
              <a:ext uri="{FF2B5EF4-FFF2-40B4-BE49-F238E27FC236}">
                <a16:creationId xmlns:a16="http://schemas.microsoft.com/office/drawing/2014/main" id="{A21DC259-A514-481E-9C2B-8BA12A26E21E}"/>
              </a:ext>
            </a:extLst>
          </p:cNvPr>
          <p:cNvSpPr>
            <a:spLocks noGrp="1" noChangeArrowheads="1"/>
          </p:cNvSpPr>
          <p:nvPr>
            <p:ph type="body" idx="1"/>
          </p:nvPr>
        </p:nvSpPr>
        <p:spPr/>
        <p:txBody>
          <a:bodyPr/>
          <a:lstStyle/>
          <a:p>
            <a:pPr eaLnBrk="1" hangingPunct="1">
              <a:lnSpc>
                <a:spcPct val="90000"/>
              </a:lnSpc>
              <a:defRPr/>
            </a:pPr>
            <a:r>
              <a:rPr lang="en-US"/>
              <a:t>IBM developed Lucifer cipher</a:t>
            </a:r>
          </a:p>
          <a:p>
            <a:pPr lvl="1" eaLnBrk="1" hangingPunct="1">
              <a:lnSpc>
                <a:spcPct val="90000"/>
              </a:lnSpc>
              <a:defRPr/>
            </a:pPr>
            <a:r>
              <a:rPr lang="en-US"/>
              <a:t>by team led by Feistel in late 60’s</a:t>
            </a:r>
          </a:p>
          <a:p>
            <a:pPr lvl="1" eaLnBrk="1" hangingPunct="1">
              <a:lnSpc>
                <a:spcPct val="90000"/>
              </a:lnSpc>
              <a:defRPr/>
            </a:pPr>
            <a:r>
              <a:rPr lang="en-US"/>
              <a:t>used 64-bit data blocks with 128-bit key</a:t>
            </a:r>
          </a:p>
          <a:p>
            <a:pPr eaLnBrk="1" hangingPunct="1">
              <a:lnSpc>
                <a:spcPct val="90000"/>
              </a:lnSpc>
              <a:defRPr/>
            </a:pPr>
            <a:r>
              <a:rPr lang="en-US"/>
              <a:t>then redeveloped as a commercial cipher with input from NSA and others</a:t>
            </a:r>
            <a:endParaRPr lang="en-AU"/>
          </a:p>
          <a:p>
            <a:pPr eaLnBrk="1" hangingPunct="1">
              <a:lnSpc>
                <a:spcPct val="90000"/>
              </a:lnSpc>
              <a:defRPr/>
            </a:pPr>
            <a:r>
              <a:rPr lang="en-US"/>
              <a:t>in 1973 NBS issued request for proposals for a national cipher standard</a:t>
            </a:r>
          </a:p>
          <a:p>
            <a:pPr eaLnBrk="1" hangingPunct="1">
              <a:lnSpc>
                <a:spcPct val="90000"/>
              </a:lnSpc>
              <a:defRPr/>
            </a:pPr>
            <a:r>
              <a:rPr lang="en-US"/>
              <a:t>IBM submitted their revised Lucifer which was eventually accepted as the DES</a:t>
            </a:r>
          </a:p>
        </p:txBody>
      </p:sp>
      <p:sp>
        <p:nvSpPr>
          <p:cNvPr id="6" name="Slide Number Placeholder 5">
            <a:extLst>
              <a:ext uri="{FF2B5EF4-FFF2-40B4-BE49-F238E27FC236}">
                <a16:creationId xmlns:a16="http://schemas.microsoft.com/office/drawing/2014/main" id="{21210767-9B35-41F9-9DFA-1E5CFFEDBD78}"/>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4F86282-20F2-4758-8E75-0A7263743A59}" type="slidenum">
              <a:rPr lang="en-US" altLang="en-US" sz="1000"/>
              <a:pPr eaLnBrk="1" hangingPunct="1"/>
              <a:t>13</a:t>
            </a:fld>
            <a:endParaRPr lang="en-US"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A30FEBE-395A-4097-A417-59BEFADE53D4}"/>
              </a:ext>
            </a:extLst>
          </p:cNvPr>
          <p:cNvSpPr>
            <a:spLocks noGrp="1" noChangeArrowheads="1"/>
          </p:cNvSpPr>
          <p:nvPr>
            <p:ph type="title"/>
          </p:nvPr>
        </p:nvSpPr>
        <p:spPr>
          <a:xfrm>
            <a:off x="457200" y="304800"/>
            <a:ext cx="8229600" cy="1139825"/>
          </a:xfrm>
        </p:spPr>
        <p:txBody>
          <a:bodyPr/>
          <a:lstStyle/>
          <a:p>
            <a:pPr eaLnBrk="1" hangingPunct="1">
              <a:defRPr/>
            </a:pPr>
            <a:r>
              <a:rPr lang="en-AU" dirty="0"/>
              <a:t>DES Design Controversy</a:t>
            </a:r>
          </a:p>
        </p:txBody>
      </p:sp>
      <p:sp>
        <p:nvSpPr>
          <p:cNvPr id="64515" name="Rectangle 3">
            <a:extLst>
              <a:ext uri="{FF2B5EF4-FFF2-40B4-BE49-F238E27FC236}">
                <a16:creationId xmlns:a16="http://schemas.microsoft.com/office/drawing/2014/main" id="{B27058A9-356E-4B1D-9B03-27FCFCE5D10F}"/>
              </a:ext>
            </a:extLst>
          </p:cNvPr>
          <p:cNvSpPr>
            <a:spLocks noGrp="1" noChangeArrowheads="1"/>
          </p:cNvSpPr>
          <p:nvPr>
            <p:ph type="body" idx="1"/>
          </p:nvPr>
        </p:nvSpPr>
        <p:spPr>
          <a:xfrm>
            <a:off x="381000" y="1600200"/>
            <a:ext cx="8229600" cy="5257800"/>
          </a:xfrm>
        </p:spPr>
        <p:txBody>
          <a:bodyPr/>
          <a:lstStyle/>
          <a:p>
            <a:pPr eaLnBrk="1" hangingPunct="1">
              <a:lnSpc>
                <a:spcPct val="90000"/>
              </a:lnSpc>
              <a:defRPr/>
            </a:pPr>
            <a:r>
              <a:rPr lang="en-AU" dirty="0"/>
              <a:t>although DES standard is public</a:t>
            </a:r>
          </a:p>
          <a:p>
            <a:pPr eaLnBrk="1" hangingPunct="1">
              <a:lnSpc>
                <a:spcPct val="90000"/>
              </a:lnSpc>
              <a:defRPr/>
            </a:pPr>
            <a:r>
              <a:rPr lang="en-AU" dirty="0"/>
              <a:t>was considerable controversy over design </a:t>
            </a:r>
          </a:p>
          <a:p>
            <a:pPr lvl="1" eaLnBrk="1" hangingPunct="1">
              <a:lnSpc>
                <a:spcPct val="90000"/>
              </a:lnSpc>
              <a:defRPr/>
            </a:pPr>
            <a:r>
              <a:rPr lang="en-AU" dirty="0"/>
              <a:t>in choice of 56-bit key (</a:t>
            </a:r>
            <a:r>
              <a:rPr lang="en-AU" dirty="0" err="1"/>
              <a:t>vs</a:t>
            </a:r>
            <a:r>
              <a:rPr lang="en-AU" dirty="0"/>
              <a:t> Lucifer 128-bit)</a:t>
            </a:r>
          </a:p>
          <a:p>
            <a:pPr lvl="1" eaLnBrk="1" hangingPunct="1">
              <a:lnSpc>
                <a:spcPct val="90000"/>
              </a:lnSpc>
              <a:defRPr/>
            </a:pPr>
            <a:r>
              <a:rPr lang="en-AU" dirty="0"/>
              <a:t>and because design criteria were classified </a:t>
            </a:r>
          </a:p>
          <a:p>
            <a:pPr eaLnBrk="1" hangingPunct="1">
              <a:lnSpc>
                <a:spcPct val="90000"/>
              </a:lnSpc>
              <a:defRPr/>
            </a:pPr>
            <a:r>
              <a:rPr lang="en-US" dirty="0"/>
              <a:t>subsequent events and public analysis show in fact design was appropriate</a:t>
            </a:r>
          </a:p>
          <a:p>
            <a:pPr eaLnBrk="1" hangingPunct="1">
              <a:lnSpc>
                <a:spcPct val="90000"/>
              </a:lnSpc>
              <a:defRPr/>
            </a:pPr>
            <a:r>
              <a:rPr lang="en-US" dirty="0"/>
              <a:t>use of DES has flourished</a:t>
            </a:r>
          </a:p>
          <a:p>
            <a:pPr lvl="1" eaLnBrk="1" hangingPunct="1">
              <a:lnSpc>
                <a:spcPct val="90000"/>
              </a:lnSpc>
              <a:defRPr/>
            </a:pPr>
            <a:r>
              <a:rPr lang="en-US" dirty="0"/>
              <a:t>especially in financial applications</a:t>
            </a:r>
          </a:p>
          <a:p>
            <a:pPr lvl="1" eaLnBrk="1" hangingPunct="1">
              <a:lnSpc>
                <a:spcPct val="90000"/>
              </a:lnSpc>
              <a:defRPr/>
            </a:pPr>
            <a:r>
              <a:rPr lang="en-AU" dirty="0"/>
              <a:t>still standardised for legacy application use</a:t>
            </a:r>
          </a:p>
          <a:p>
            <a:pPr eaLnBrk="1" hangingPunct="1">
              <a:lnSpc>
                <a:spcPct val="90000"/>
              </a:lnSpc>
              <a:defRPr/>
            </a:pPr>
            <a:endParaRPr lang="en-AU" dirty="0"/>
          </a:p>
        </p:txBody>
      </p:sp>
      <p:sp>
        <p:nvSpPr>
          <p:cNvPr id="6" name="Slide Number Placeholder 5">
            <a:extLst>
              <a:ext uri="{FF2B5EF4-FFF2-40B4-BE49-F238E27FC236}">
                <a16:creationId xmlns:a16="http://schemas.microsoft.com/office/drawing/2014/main" id="{463BF318-2F22-4924-8D97-BFE1D882AD4B}"/>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8120213-F14F-4F80-9EA8-E6C528CA1224}" type="slidenum">
              <a:rPr lang="en-US" altLang="en-US" sz="1000"/>
              <a:pPr eaLnBrk="1" hangingPunct="1"/>
              <a:t>14</a:t>
            </a:fld>
            <a:endParaRPr lang="en-US" alt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059ECD8-3E56-4649-A528-C1538255C01F}"/>
              </a:ext>
            </a:extLst>
          </p:cNvPr>
          <p:cNvSpPr>
            <a:spLocks noGrp="1" noChangeArrowheads="1"/>
          </p:cNvSpPr>
          <p:nvPr>
            <p:ph type="title"/>
          </p:nvPr>
        </p:nvSpPr>
        <p:spPr/>
        <p:txBody>
          <a:bodyPr/>
          <a:lstStyle/>
          <a:p>
            <a:pPr eaLnBrk="1" hangingPunct="1">
              <a:defRPr/>
            </a:pPr>
            <a:r>
              <a:rPr lang="en-US" dirty="0"/>
              <a:t>DES Encryption Overview</a:t>
            </a:r>
            <a:endParaRPr lang="en-AU" dirty="0"/>
          </a:p>
        </p:txBody>
      </p:sp>
      <p:pic>
        <p:nvPicPr>
          <p:cNvPr id="17411" name="Picture 5">
            <a:extLst>
              <a:ext uri="{FF2B5EF4-FFF2-40B4-BE49-F238E27FC236}">
                <a16:creationId xmlns:a16="http://schemas.microsoft.com/office/drawing/2014/main" id="{CB302A3D-2586-42B9-893C-E151F4769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371600"/>
            <a:ext cx="4340225"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2E6CE4F2-CA2B-40EE-9A71-7B4447AA5C9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8E997F2-F3E4-42E1-A6E0-D8140ED0555D}" type="slidenum">
              <a:rPr lang="en-US" altLang="en-US" sz="1000"/>
              <a:pPr eaLnBrk="1" hangingPunct="1"/>
              <a:t>15</a:t>
            </a:fld>
            <a:endParaRPr lang="en-US" alt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F2551C20-17A8-45D6-B344-E949680B264E}"/>
              </a:ext>
            </a:extLst>
          </p:cNvPr>
          <p:cNvSpPr>
            <a:spLocks noGrp="1" noChangeArrowheads="1"/>
          </p:cNvSpPr>
          <p:nvPr>
            <p:ph type="title"/>
          </p:nvPr>
        </p:nvSpPr>
        <p:spPr/>
        <p:txBody>
          <a:bodyPr/>
          <a:lstStyle/>
          <a:p>
            <a:pPr eaLnBrk="1" hangingPunct="1">
              <a:defRPr/>
            </a:pPr>
            <a:r>
              <a:rPr lang="en-AU"/>
              <a:t>Initial Permutation IP</a:t>
            </a:r>
          </a:p>
        </p:txBody>
      </p:sp>
      <p:sp>
        <p:nvSpPr>
          <p:cNvPr id="68611" name="Rectangle 3">
            <a:extLst>
              <a:ext uri="{FF2B5EF4-FFF2-40B4-BE49-F238E27FC236}">
                <a16:creationId xmlns:a16="http://schemas.microsoft.com/office/drawing/2014/main" id="{6467568D-47D2-4E4C-AF8E-CE97ECDFF42B}"/>
              </a:ext>
            </a:extLst>
          </p:cNvPr>
          <p:cNvSpPr>
            <a:spLocks noGrp="1" noChangeArrowheads="1"/>
          </p:cNvSpPr>
          <p:nvPr>
            <p:ph type="body" idx="1"/>
          </p:nvPr>
        </p:nvSpPr>
        <p:spPr/>
        <p:txBody>
          <a:bodyPr/>
          <a:lstStyle/>
          <a:p>
            <a:pPr eaLnBrk="1" hangingPunct="1">
              <a:defRPr/>
            </a:pPr>
            <a:r>
              <a:rPr lang="en-AU" dirty="0"/>
              <a:t>first step of the data computation </a:t>
            </a:r>
          </a:p>
          <a:p>
            <a:pPr eaLnBrk="1" hangingPunct="1">
              <a:defRPr/>
            </a:pPr>
            <a:r>
              <a:rPr lang="en-AU" dirty="0"/>
              <a:t>IP reorders the input data bits </a:t>
            </a:r>
          </a:p>
          <a:p>
            <a:pPr eaLnBrk="1" hangingPunct="1">
              <a:defRPr/>
            </a:pPr>
            <a:r>
              <a:rPr lang="en-AU" dirty="0"/>
              <a:t>even bits to LH half, odd bits to RH half </a:t>
            </a:r>
          </a:p>
          <a:p>
            <a:pPr eaLnBrk="1" hangingPunct="1">
              <a:defRPr/>
            </a:pPr>
            <a:r>
              <a:rPr lang="en-AU" dirty="0"/>
              <a:t>quite regular in structure (easy in h/w)</a:t>
            </a:r>
          </a:p>
        </p:txBody>
      </p:sp>
      <p:sp>
        <p:nvSpPr>
          <p:cNvPr id="6" name="Slide Number Placeholder 5">
            <a:extLst>
              <a:ext uri="{FF2B5EF4-FFF2-40B4-BE49-F238E27FC236}">
                <a16:creationId xmlns:a16="http://schemas.microsoft.com/office/drawing/2014/main" id="{5D4B61D8-301B-4155-8E33-97D32A3B38E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32D4D02-5C39-4B11-A97C-30900ACDA920}" type="slidenum">
              <a:rPr lang="en-US" altLang="en-US" sz="1000"/>
              <a:pPr eaLnBrk="1" hangingPunct="1"/>
              <a:t>16</a:t>
            </a:fld>
            <a:endParaRPr lang="en-US" alt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E9B8DCB-3ECF-47CC-B3FC-3C1EC23D9C12}"/>
              </a:ext>
            </a:extLst>
          </p:cNvPr>
          <p:cNvSpPr>
            <a:spLocks noGrp="1" noChangeArrowheads="1"/>
          </p:cNvSpPr>
          <p:nvPr>
            <p:ph type="title"/>
          </p:nvPr>
        </p:nvSpPr>
        <p:spPr/>
        <p:txBody>
          <a:bodyPr/>
          <a:lstStyle/>
          <a:p>
            <a:pPr eaLnBrk="1" hangingPunct="1">
              <a:defRPr/>
            </a:pPr>
            <a:r>
              <a:rPr lang="en-US"/>
              <a:t>DES Round Structure</a:t>
            </a:r>
            <a:endParaRPr lang="en-AU"/>
          </a:p>
        </p:txBody>
      </p:sp>
      <p:sp>
        <p:nvSpPr>
          <p:cNvPr id="70659" name="Rectangle 3">
            <a:extLst>
              <a:ext uri="{FF2B5EF4-FFF2-40B4-BE49-F238E27FC236}">
                <a16:creationId xmlns:a16="http://schemas.microsoft.com/office/drawing/2014/main" id="{0CBD7747-1423-4F61-B82F-A1688E9BC5CC}"/>
              </a:ext>
            </a:extLst>
          </p:cNvPr>
          <p:cNvSpPr>
            <a:spLocks noGrp="1" noChangeArrowheads="1"/>
          </p:cNvSpPr>
          <p:nvPr>
            <p:ph type="body" idx="1"/>
          </p:nvPr>
        </p:nvSpPr>
        <p:spPr/>
        <p:txBody>
          <a:bodyPr/>
          <a:lstStyle/>
          <a:p>
            <a:pPr eaLnBrk="1" hangingPunct="1">
              <a:lnSpc>
                <a:spcPct val="90000"/>
              </a:lnSpc>
              <a:defRPr/>
            </a:pPr>
            <a:r>
              <a:rPr lang="en-US"/>
              <a:t>uses two 32-bit L &amp; R halves</a:t>
            </a:r>
          </a:p>
          <a:p>
            <a:pPr eaLnBrk="1" hangingPunct="1">
              <a:lnSpc>
                <a:spcPct val="90000"/>
              </a:lnSpc>
              <a:defRPr/>
            </a:pPr>
            <a:r>
              <a:rPr lang="en-AU"/>
              <a:t>as for any Feistel cipher can describe as:</a:t>
            </a:r>
          </a:p>
          <a:p>
            <a:pPr lvl="1" eaLnBrk="1" hangingPunct="1">
              <a:lnSpc>
                <a:spcPct val="90000"/>
              </a:lnSpc>
              <a:buFont typeface="Wingdings" panose="05000000000000000000" pitchFamily="2" charset="2"/>
              <a:buNone/>
              <a:defRPr/>
            </a:pPr>
            <a:r>
              <a:rPr lang="en-AU" i="1"/>
              <a:t>L</a:t>
            </a:r>
            <a:r>
              <a:rPr lang="en-AU" i="1" baseline="-25000"/>
              <a:t>i</a:t>
            </a:r>
            <a:r>
              <a:rPr lang="en-AU" i="1"/>
              <a:t> </a:t>
            </a:r>
            <a:r>
              <a:rPr lang="en-AU"/>
              <a:t>= </a:t>
            </a:r>
            <a:r>
              <a:rPr lang="en-AU" i="1"/>
              <a:t>R</a:t>
            </a:r>
            <a:r>
              <a:rPr lang="en-AU" i="1" baseline="-25000"/>
              <a:t>i</a:t>
            </a:r>
            <a:r>
              <a:rPr lang="en-AU" baseline="-25000"/>
              <a:t>–1</a:t>
            </a:r>
          </a:p>
          <a:p>
            <a:pPr lvl="1" eaLnBrk="1" hangingPunct="1">
              <a:lnSpc>
                <a:spcPct val="90000"/>
              </a:lnSpc>
              <a:buFont typeface="Wingdings" panose="05000000000000000000" pitchFamily="2" charset="2"/>
              <a:buNone/>
              <a:defRPr/>
            </a:pPr>
            <a:r>
              <a:rPr lang="en-AU" i="1"/>
              <a:t>R</a:t>
            </a:r>
            <a:r>
              <a:rPr lang="en-AU" i="1" baseline="-25000"/>
              <a:t>i</a:t>
            </a:r>
            <a:r>
              <a:rPr lang="en-AU" i="1"/>
              <a:t> </a:t>
            </a:r>
            <a:r>
              <a:rPr lang="en-AU"/>
              <a:t>= </a:t>
            </a:r>
            <a:r>
              <a:rPr lang="en-AU" i="1"/>
              <a:t>L</a:t>
            </a:r>
            <a:r>
              <a:rPr lang="en-AU" i="1" baseline="-25000"/>
              <a:t>i</a:t>
            </a:r>
            <a:r>
              <a:rPr lang="en-AU" baseline="-25000"/>
              <a:t>–1</a:t>
            </a:r>
            <a:r>
              <a:rPr lang="en-AU"/>
              <a:t> </a:t>
            </a:r>
            <a:r>
              <a:rPr lang="en-AU">
                <a:sym typeface="Symbol" pitchFamily="18" charset="2"/>
              </a:rPr>
              <a:t></a:t>
            </a:r>
            <a:r>
              <a:rPr lang="en-AU"/>
              <a:t> F(</a:t>
            </a:r>
            <a:r>
              <a:rPr lang="en-AU" i="1"/>
              <a:t>R</a:t>
            </a:r>
            <a:r>
              <a:rPr lang="en-AU" i="1" baseline="-25000"/>
              <a:t>i</a:t>
            </a:r>
            <a:r>
              <a:rPr lang="en-AU" baseline="-25000"/>
              <a:t>–1</a:t>
            </a:r>
            <a:r>
              <a:rPr lang="en-AU"/>
              <a:t>, </a:t>
            </a:r>
            <a:r>
              <a:rPr lang="en-AU" i="1"/>
              <a:t>K</a:t>
            </a:r>
            <a:r>
              <a:rPr lang="en-AU" i="1" baseline="-25000"/>
              <a:t>i</a:t>
            </a:r>
            <a:r>
              <a:rPr lang="en-AU"/>
              <a:t>)</a:t>
            </a:r>
          </a:p>
          <a:p>
            <a:pPr eaLnBrk="1" hangingPunct="1">
              <a:lnSpc>
                <a:spcPct val="90000"/>
              </a:lnSpc>
              <a:defRPr/>
            </a:pPr>
            <a:r>
              <a:rPr lang="en-US"/>
              <a:t>F takes 32-bit R half and 48-bit subkey:</a:t>
            </a:r>
          </a:p>
          <a:p>
            <a:pPr lvl="1" eaLnBrk="1" hangingPunct="1">
              <a:lnSpc>
                <a:spcPct val="90000"/>
              </a:lnSpc>
              <a:defRPr/>
            </a:pPr>
            <a:r>
              <a:rPr lang="en-US"/>
              <a:t>expands R to 48-bits using perm E</a:t>
            </a:r>
          </a:p>
          <a:p>
            <a:pPr lvl="1" eaLnBrk="1" hangingPunct="1">
              <a:lnSpc>
                <a:spcPct val="90000"/>
              </a:lnSpc>
              <a:defRPr/>
            </a:pPr>
            <a:r>
              <a:rPr lang="en-US"/>
              <a:t>adds to subkey using XOR</a:t>
            </a:r>
          </a:p>
          <a:p>
            <a:pPr lvl="1" eaLnBrk="1" hangingPunct="1">
              <a:lnSpc>
                <a:spcPct val="90000"/>
              </a:lnSpc>
              <a:defRPr/>
            </a:pPr>
            <a:r>
              <a:rPr lang="en-US"/>
              <a:t>passes through 8 S-boxes to get 32-bit result</a:t>
            </a:r>
          </a:p>
          <a:p>
            <a:pPr lvl="1" eaLnBrk="1" hangingPunct="1">
              <a:lnSpc>
                <a:spcPct val="90000"/>
              </a:lnSpc>
              <a:defRPr/>
            </a:pPr>
            <a:r>
              <a:rPr lang="en-US"/>
              <a:t>finally permutes using 32-bit perm P</a:t>
            </a:r>
            <a:endParaRPr lang="en-AU"/>
          </a:p>
        </p:txBody>
      </p:sp>
      <p:sp>
        <p:nvSpPr>
          <p:cNvPr id="6" name="Slide Number Placeholder 5">
            <a:extLst>
              <a:ext uri="{FF2B5EF4-FFF2-40B4-BE49-F238E27FC236}">
                <a16:creationId xmlns:a16="http://schemas.microsoft.com/office/drawing/2014/main" id="{B0C2DE46-F353-4FFB-B92E-9688C3874F3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A6E1EF7-03F9-4BE4-BC3B-510D63EC0A5C}" type="slidenum">
              <a:rPr lang="en-US" altLang="en-US" sz="1000"/>
              <a:pPr eaLnBrk="1" hangingPunct="1"/>
              <a:t>17</a:t>
            </a:fld>
            <a:endParaRPr lang="en-US" alt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C9E8A298-6E6F-4361-8712-ABFEDD0C9D2D}"/>
              </a:ext>
            </a:extLst>
          </p:cNvPr>
          <p:cNvSpPr>
            <a:spLocks noGrp="1" noChangeArrowheads="1"/>
          </p:cNvSpPr>
          <p:nvPr>
            <p:ph type="title"/>
          </p:nvPr>
        </p:nvSpPr>
        <p:spPr/>
        <p:txBody>
          <a:bodyPr/>
          <a:lstStyle/>
          <a:p>
            <a:pPr eaLnBrk="1" hangingPunct="1">
              <a:defRPr/>
            </a:pPr>
            <a:r>
              <a:rPr lang="en-US"/>
              <a:t>DES Round Structure</a:t>
            </a:r>
            <a:endParaRPr lang="en-AU"/>
          </a:p>
        </p:txBody>
      </p:sp>
      <p:pic>
        <p:nvPicPr>
          <p:cNvPr id="20483" name="Picture 5">
            <a:extLst>
              <a:ext uri="{FF2B5EF4-FFF2-40B4-BE49-F238E27FC236}">
                <a16:creationId xmlns:a16="http://schemas.microsoft.com/office/drawing/2014/main" id="{FBA381D1-4B32-4500-B843-A18660894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76400"/>
            <a:ext cx="6592888" cy="471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52E16AA0-35C1-4313-8056-2DA489C708DF}"/>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CF50A23-A6A1-415E-93C3-71B71709ADC0}" type="slidenum">
              <a:rPr lang="en-US" altLang="en-US" sz="1000"/>
              <a:pPr eaLnBrk="1" hangingPunct="1"/>
              <a:t>18</a:t>
            </a:fld>
            <a:endParaRPr lang="en-US" alt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B6FE3FE-5909-442D-AD89-9764FFBD7460}"/>
              </a:ext>
            </a:extLst>
          </p:cNvPr>
          <p:cNvSpPr>
            <a:spLocks noGrp="1" noChangeArrowheads="1"/>
          </p:cNvSpPr>
          <p:nvPr>
            <p:ph type="title"/>
          </p:nvPr>
        </p:nvSpPr>
        <p:spPr/>
        <p:txBody>
          <a:bodyPr/>
          <a:lstStyle/>
          <a:p>
            <a:pPr eaLnBrk="1" hangingPunct="1">
              <a:defRPr/>
            </a:pPr>
            <a:r>
              <a:rPr lang="en-AU"/>
              <a:t>Substitution Boxes S</a:t>
            </a:r>
          </a:p>
        </p:txBody>
      </p:sp>
      <p:sp>
        <p:nvSpPr>
          <p:cNvPr id="72707" name="Rectangle 3">
            <a:extLst>
              <a:ext uri="{FF2B5EF4-FFF2-40B4-BE49-F238E27FC236}">
                <a16:creationId xmlns:a16="http://schemas.microsoft.com/office/drawing/2014/main" id="{4209D737-8F33-4030-91D0-291DE46A715D}"/>
              </a:ext>
            </a:extLst>
          </p:cNvPr>
          <p:cNvSpPr>
            <a:spLocks noGrp="1" noChangeArrowheads="1"/>
          </p:cNvSpPr>
          <p:nvPr>
            <p:ph type="body" idx="1"/>
          </p:nvPr>
        </p:nvSpPr>
        <p:spPr/>
        <p:txBody>
          <a:bodyPr/>
          <a:lstStyle/>
          <a:p>
            <a:pPr eaLnBrk="1" hangingPunct="1">
              <a:lnSpc>
                <a:spcPct val="90000"/>
              </a:lnSpc>
              <a:defRPr/>
            </a:pPr>
            <a:r>
              <a:rPr lang="en-AU"/>
              <a:t>have eight S-boxes which map 6 to 4 bits </a:t>
            </a:r>
          </a:p>
          <a:p>
            <a:pPr eaLnBrk="1" hangingPunct="1">
              <a:lnSpc>
                <a:spcPct val="90000"/>
              </a:lnSpc>
              <a:defRPr/>
            </a:pPr>
            <a:r>
              <a:rPr lang="en-AU"/>
              <a:t>each S-box is actually 4 little 4 bit boxes </a:t>
            </a:r>
          </a:p>
          <a:p>
            <a:pPr lvl="1" eaLnBrk="1" hangingPunct="1">
              <a:lnSpc>
                <a:spcPct val="90000"/>
              </a:lnSpc>
              <a:defRPr/>
            </a:pPr>
            <a:r>
              <a:rPr lang="en-AU"/>
              <a:t>outer bits 1 &amp; 6 (</a:t>
            </a:r>
            <a:r>
              <a:rPr lang="en-AU" b="1"/>
              <a:t>row</a:t>
            </a:r>
            <a:r>
              <a:rPr lang="en-AU"/>
              <a:t> bits) select one row of 4 </a:t>
            </a:r>
          </a:p>
          <a:p>
            <a:pPr lvl="1" eaLnBrk="1" hangingPunct="1">
              <a:lnSpc>
                <a:spcPct val="90000"/>
              </a:lnSpc>
              <a:defRPr/>
            </a:pPr>
            <a:r>
              <a:rPr lang="en-AU"/>
              <a:t>inner bits 2-5 (</a:t>
            </a:r>
            <a:r>
              <a:rPr lang="en-AU" b="1"/>
              <a:t>col</a:t>
            </a:r>
            <a:r>
              <a:rPr lang="en-AU"/>
              <a:t> bits) are substituted </a:t>
            </a:r>
          </a:p>
          <a:p>
            <a:pPr lvl="1" eaLnBrk="1" hangingPunct="1">
              <a:lnSpc>
                <a:spcPct val="90000"/>
              </a:lnSpc>
              <a:defRPr/>
            </a:pPr>
            <a:r>
              <a:rPr lang="en-AU"/>
              <a:t>result is 8 lots of 4 bits, or 32 bits</a:t>
            </a:r>
          </a:p>
          <a:p>
            <a:pPr eaLnBrk="1" hangingPunct="1">
              <a:lnSpc>
                <a:spcPct val="90000"/>
              </a:lnSpc>
              <a:defRPr/>
            </a:pPr>
            <a:r>
              <a:rPr lang="en-US"/>
              <a:t>row selection depends on both data &amp; key</a:t>
            </a:r>
          </a:p>
          <a:p>
            <a:pPr lvl="1" eaLnBrk="1" hangingPunct="1">
              <a:lnSpc>
                <a:spcPct val="90000"/>
              </a:lnSpc>
              <a:defRPr/>
            </a:pPr>
            <a:r>
              <a:rPr lang="en-US"/>
              <a:t>feature known as autoclaving (autokeying)</a:t>
            </a:r>
            <a:endParaRPr lang="en-AU"/>
          </a:p>
          <a:p>
            <a:pPr eaLnBrk="1" hangingPunct="1">
              <a:lnSpc>
                <a:spcPct val="90000"/>
              </a:lnSpc>
              <a:defRPr/>
            </a:pPr>
            <a:r>
              <a:rPr lang="en-AU"/>
              <a:t>example:</a:t>
            </a:r>
          </a:p>
          <a:p>
            <a:pPr lvl="1" eaLnBrk="1" hangingPunct="1">
              <a:lnSpc>
                <a:spcPct val="90000"/>
              </a:lnSpc>
              <a:defRPr/>
            </a:pPr>
            <a:r>
              <a:rPr lang="en-AU" sz="2400">
                <a:latin typeface="Courier New" pitchFamily="49" charset="0"/>
              </a:rPr>
              <a:t>S(18 09 12 3d 11 17 38 39) = 5fd25e03</a:t>
            </a:r>
            <a:r>
              <a:rPr lang="en-AU" sz="2400"/>
              <a:t> </a:t>
            </a:r>
          </a:p>
        </p:txBody>
      </p:sp>
      <p:sp>
        <p:nvSpPr>
          <p:cNvPr id="6" name="Slide Number Placeholder 5">
            <a:extLst>
              <a:ext uri="{FF2B5EF4-FFF2-40B4-BE49-F238E27FC236}">
                <a16:creationId xmlns:a16="http://schemas.microsoft.com/office/drawing/2014/main" id="{AF915357-D4D9-4954-BD48-D4FE429F9951}"/>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A41EFF6-AC89-40B4-8404-F1634BFC6379}" type="slidenum">
              <a:rPr lang="en-US" altLang="en-US" sz="1000"/>
              <a:pPr eaLnBrk="1" hangingPunct="1"/>
              <a:t>19</a:t>
            </a:fld>
            <a:endParaRPr lang="en-US" alt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95BF0F7-9045-4545-9355-9D7CE59DFEE4}"/>
              </a:ext>
            </a:extLst>
          </p:cNvPr>
          <p:cNvSpPr>
            <a:spLocks noGrp="1" noChangeArrowheads="1"/>
          </p:cNvSpPr>
          <p:nvPr>
            <p:ph type="title"/>
          </p:nvPr>
        </p:nvSpPr>
        <p:spPr/>
        <p:txBody>
          <a:bodyPr/>
          <a:lstStyle/>
          <a:p>
            <a:pPr eaLnBrk="1" hangingPunct="1">
              <a:defRPr/>
            </a:pPr>
            <a:r>
              <a:rPr lang="en-AU"/>
              <a:t>DES Key Schedule</a:t>
            </a:r>
          </a:p>
        </p:txBody>
      </p:sp>
      <p:sp>
        <p:nvSpPr>
          <p:cNvPr id="76803" name="Rectangle 3">
            <a:extLst>
              <a:ext uri="{FF2B5EF4-FFF2-40B4-BE49-F238E27FC236}">
                <a16:creationId xmlns:a16="http://schemas.microsoft.com/office/drawing/2014/main" id="{383D1C29-02CA-4780-8D7A-C6676BAAD732}"/>
              </a:ext>
            </a:extLst>
          </p:cNvPr>
          <p:cNvSpPr>
            <a:spLocks noGrp="1" noChangeArrowheads="1"/>
          </p:cNvSpPr>
          <p:nvPr>
            <p:ph type="body" idx="1"/>
          </p:nvPr>
        </p:nvSpPr>
        <p:spPr/>
        <p:txBody>
          <a:bodyPr/>
          <a:lstStyle/>
          <a:p>
            <a:pPr eaLnBrk="1" hangingPunct="1">
              <a:defRPr/>
            </a:pPr>
            <a:r>
              <a:rPr lang="en-AU"/>
              <a:t>forms subkeys used in each round</a:t>
            </a:r>
          </a:p>
          <a:p>
            <a:pPr lvl="1" eaLnBrk="1" hangingPunct="1">
              <a:defRPr/>
            </a:pPr>
            <a:r>
              <a:rPr lang="en-AU"/>
              <a:t>initial permutation of the key (PC1) which selects 56-bits in two 28-bit halves </a:t>
            </a:r>
          </a:p>
          <a:p>
            <a:pPr lvl="1" eaLnBrk="1" hangingPunct="1">
              <a:defRPr/>
            </a:pPr>
            <a:r>
              <a:rPr lang="en-AU"/>
              <a:t>16 stages consisting of: </a:t>
            </a:r>
          </a:p>
          <a:p>
            <a:pPr lvl="2" eaLnBrk="1" hangingPunct="1">
              <a:defRPr/>
            </a:pPr>
            <a:r>
              <a:rPr lang="en-AU"/>
              <a:t>rotating </a:t>
            </a:r>
            <a:r>
              <a:rPr lang="en-AU" b="1"/>
              <a:t>each half</a:t>
            </a:r>
            <a:r>
              <a:rPr lang="en-AU"/>
              <a:t> separately either 1 or 2 places depending on the </a:t>
            </a:r>
            <a:r>
              <a:rPr lang="en-AU" b="1"/>
              <a:t>key rotation schedule</a:t>
            </a:r>
            <a:r>
              <a:rPr lang="en-AU"/>
              <a:t> K</a:t>
            </a:r>
          </a:p>
          <a:p>
            <a:pPr lvl="2" eaLnBrk="1" hangingPunct="1">
              <a:defRPr/>
            </a:pPr>
            <a:r>
              <a:rPr lang="en-AU"/>
              <a:t>selecting 24-bits from each half &amp; permuting them by PC2 for use in round function F </a:t>
            </a:r>
          </a:p>
          <a:p>
            <a:pPr eaLnBrk="1" hangingPunct="1">
              <a:defRPr/>
            </a:pPr>
            <a:r>
              <a:rPr lang="en-AU"/>
              <a:t>note practical use issues in h/w vs s/w</a:t>
            </a:r>
          </a:p>
        </p:txBody>
      </p:sp>
      <p:sp>
        <p:nvSpPr>
          <p:cNvPr id="6" name="Slide Number Placeholder 5">
            <a:extLst>
              <a:ext uri="{FF2B5EF4-FFF2-40B4-BE49-F238E27FC236}">
                <a16:creationId xmlns:a16="http://schemas.microsoft.com/office/drawing/2014/main" id="{8FB7B253-A956-4377-B87F-4EFCC65D5475}"/>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12EB025-93FA-42CD-B1E1-1ABF162BA856}" type="slidenum">
              <a:rPr lang="en-US" altLang="en-US" sz="1000"/>
              <a:pPr eaLnBrk="1" hangingPunct="1"/>
              <a:t>20</a:t>
            </a:fld>
            <a:endParaRPr lang="en-US" alt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0F8CF16D-3A70-480E-AE4B-0C2533330F22}"/>
              </a:ext>
            </a:extLst>
          </p:cNvPr>
          <p:cNvSpPr>
            <a:spLocks noGrp="1" noChangeArrowheads="1"/>
          </p:cNvSpPr>
          <p:nvPr>
            <p:ph type="title"/>
          </p:nvPr>
        </p:nvSpPr>
        <p:spPr/>
        <p:txBody>
          <a:bodyPr/>
          <a:lstStyle/>
          <a:p>
            <a:pPr eaLnBrk="1" hangingPunct="1">
              <a:defRPr/>
            </a:pPr>
            <a:r>
              <a:rPr lang="en-AU"/>
              <a:t>DES Decryption</a:t>
            </a:r>
          </a:p>
        </p:txBody>
      </p:sp>
      <p:sp>
        <p:nvSpPr>
          <p:cNvPr id="78851" name="Rectangle 3">
            <a:extLst>
              <a:ext uri="{FF2B5EF4-FFF2-40B4-BE49-F238E27FC236}">
                <a16:creationId xmlns:a16="http://schemas.microsoft.com/office/drawing/2014/main" id="{F125E5CB-FB75-4D55-BE95-C2B35A53471A}"/>
              </a:ext>
            </a:extLst>
          </p:cNvPr>
          <p:cNvSpPr>
            <a:spLocks noGrp="1" noChangeArrowheads="1"/>
          </p:cNvSpPr>
          <p:nvPr>
            <p:ph type="body" idx="1"/>
          </p:nvPr>
        </p:nvSpPr>
        <p:spPr/>
        <p:txBody>
          <a:bodyPr/>
          <a:lstStyle/>
          <a:p>
            <a:pPr eaLnBrk="1" hangingPunct="1">
              <a:defRPr/>
            </a:pPr>
            <a:r>
              <a:rPr lang="en-AU" sz="2800"/>
              <a:t>decrypt must unwind steps of data computation </a:t>
            </a:r>
          </a:p>
          <a:p>
            <a:pPr eaLnBrk="1" hangingPunct="1">
              <a:defRPr/>
            </a:pPr>
            <a:r>
              <a:rPr lang="en-AU" sz="2800"/>
              <a:t>with Feistel design, do encryption steps again  using subkeys in reverse order (SK16 … SK1)</a:t>
            </a:r>
          </a:p>
          <a:p>
            <a:pPr lvl="1" eaLnBrk="1" hangingPunct="1">
              <a:defRPr/>
            </a:pPr>
            <a:r>
              <a:rPr lang="en-AU" sz="2400"/>
              <a:t>IP undoes final FP step of encryption </a:t>
            </a:r>
          </a:p>
          <a:p>
            <a:pPr lvl="1" eaLnBrk="1" hangingPunct="1">
              <a:defRPr/>
            </a:pPr>
            <a:r>
              <a:rPr lang="en-AU" sz="2400"/>
              <a:t>1st round with SK16 undoes 16th encrypt round</a:t>
            </a:r>
          </a:p>
          <a:p>
            <a:pPr lvl="1" eaLnBrk="1" hangingPunct="1">
              <a:defRPr/>
            </a:pPr>
            <a:r>
              <a:rPr lang="en-US" sz="2400"/>
              <a:t>….</a:t>
            </a:r>
            <a:endParaRPr lang="en-AU" sz="2400"/>
          </a:p>
          <a:p>
            <a:pPr lvl="1" eaLnBrk="1" hangingPunct="1">
              <a:defRPr/>
            </a:pPr>
            <a:r>
              <a:rPr lang="en-AU" sz="2400"/>
              <a:t>16th round with SK1 undoes 1st encrypt round </a:t>
            </a:r>
          </a:p>
          <a:p>
            <a:pPr lvl="1" eaLnBrk="1" hangingPunct="1">
              <a:defRPr/>
            </a:pPr>
            <a:r>
              <a:rPr lang="en-AU" sz="2400"/>
              <a:t>then final FP undoes initial encryption IP </a:t>
            </a:r>
          </a:p>
          <a:p>
            <a:pPr lvl="1" eaLnBrk="1" hangingPunct="1">
              <a:defRPr/>
            </a:pPr>
            <a:r>
              <a:rPr lang="en-AU" sz="2400"/>
              <a:t>thus recovering original data value </a:t>
            </a:r>
          </a:p>
        </p:txBody>
      </p:sp>
      <p:sp>
        <p:nvSpPr>
          <p:cNvPr id="6" name="Slide Number Placeholder 5">
            <a:extLst>
              <a:ext uri="{FF2B5EF4-FFF2-40B4-BE49-F238E27FC236}">
                <a16:creationId xmlns:a16="http://schemas.microsoft.com/office/drawing/2014/main" id="{1221B63D-8778-4D48-8F58-B148C392B4F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C5DBBE3-9581-4E43-94D8-4F6F0B14B6B0}" type="slidenum">
              <a:rPr lang="en-US" altLang="en-US" sz="1000"/>
              <a:pPr eaLnBrk="1" hangingPunct="1"/>
              <a:t>21</a:t>
            </a:fld>
            <a:endParaRPr lang="en-US" alt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A8A8AB5-8125-44BB-989A-169B71122D2E}"/>
              </a:ext>
            </a:extLst>
          </p:cNvPr>
          <p:cNvSpPr>
            <a:spLocks noGrp="1" noChangeArrowheads="1"/>
          </p:cNvSpPr>
          <p:nvPr>
            <p:ph type="title"/>
          </p:nvPr>
        </p:nvSpPr>
        <p:spPr/>
        <p:txBody>
          <a:bodyPr/>
          <a:lstStyle/>
          <a:p>
            <a:pPr eaLnBrk="1" hangingPunct="1">
              <a:defRPr/>
            </a:pPr>
            <a:r>
              <a:rPr lang="en-US"/>
              <a:t>Strength of DES – Key Size</a:t>
            </a:r>
            <a:endParaRPr lang="en-AU"/>
          </a:p>
        </p:txBody>
      </p:sp>
      <p:sp>
        <p:nvSpPr>
          <p:cNvPr id="80899" name="Rectangle 3">
            <a:extLst>
              <a:ext uri="{FF2B5EF4-FFF2-40B4-BE49-F238E27FC236}">
                <a16:creationId xmlns:a16="http://schemas.microsoft.com/office/drawing/2014/main" id="{C78C0DE3-295D-49D1-B88E-470A7E85F58C}"/>
              </a:ext>
            </a:extLst>
          </p:cNvPr>
          <p:cNvSpPr>
            <a:spLocks noGrp="1" noChangeArrowheads="1"/>
          </p:cNvSpPr>
          <p:nvPr>
            <p:ph type="body" idx="1"/>
          </p:nvPr>
        </p:nvSpPr>
        <p:spPr/>
        <p:txBody>
          <a:bodyPr/>
          <a:lstStyle/>
          <a:p>
            <a:pPr eaLnBrk="1" hangingPunct="1">
              <a:defRPr/>
            </a:pPr>
            <a:r>
              <a:rPr lang="en-US"/>
              <a:t>56-bit keys have 2</a:t>
            </a:r>
            <a:r>
              <a:rPr lang="en-US" baseline="30000"/>
              <a:t>56</a:t>
            </a:r>
            <a:r>
              <a:rPr lang="en-US"/>
              <a:t> = 7.2 x 10</a:t>
            </a:r>
            <a:r>
              <a:rPr lang="en-US" baseline="30000"/>
              <a:t>16</a:t>
            </a:r>
            <a:r>
              <a:rPr lang="en-US"/>
              <a:t> values</a:t>
            </a:r>
          </a:p>
          <a:p>
            <a:pPr eaLnBrk="1" hangingPunct="1">
              <a:defRPr/>
            </a:pPr>
            <a:r>
              <a:rPr lang="en-US"/>
              <a:t>brute force search looks hard</a:t>
            </a:r>
          </a:p>
          <a:p>
            <a:pPr eaLnBrk="1" hangingPunct="1">
              <a:defRPr/>
            </a:pPr>
            <a:r>
              <a:rPr lang="en-US"/>
              <a:t>recent advances have shown is possible</a:t>
            </a:r>
          </a:p>
          <a:p>
            <a:pPr lvl="1" eaLnBrk="1" hangingPunct="1">
              <a:defRPr/>
            </a:pPr>
            <a:r>
              <a:rPr lang="en-AU"/>
              <a:t>in 1997 on Internet in a few months </a:t>
            </a:r>
          </a:p>
          <a:p>
            <a:pPr lvl="1" eaLnBrk="1" hangingPunct="1">
              <a:defRPr/>
            </a:pPr>
            <a:r>
              <a:rPr lang="en-AU"/>
              <a:t>in 1998 on dedicated h/w (EFF) in a few days </a:t>
            </a:r>
          </a:p>
          <a:p>
            <a:pPr lvl="1" eaLnBrk="1" hangingPunct="1">
              <a:defRPr/>
            </a:pPr>
            <a:r>
              <a:rPr lang="en-AU"/>
              <a:t>in 1999 above combined in 22hrs!</a:t>
            </a:r>
          </a:p>
          <a:p>
            <a:pPr eaLnBrk="1" hangingPunct="1">
              <a:defRPr/>
            </a:pPr>
            <a:r>
              <a:rPr lang="en-US"/>
              <a:t>still must be able to recognize plaintext</a:t>
            </a:r>
          </a:p>
          <a:p>
            <a:pPr eaLnBrk="1" hangingPunct="1">
              <a:defRPr/>
            </a:pPr>
            <a:r>
              <a:rPr lang="en-US"/>
              <a:t>must now consider alternatives to DES</a:t>
            </a:r>
            <a:endParaRPr lang="en-AU"/>
          </a:p>
        </p:txBody>
      </p:sp>
      <p:sp>
        <p:nvSpPr>
          <p:cNvPr id="6" name="Slide Number Placeholder 5">
            <a:extLst>
              <a:ext uri="{FF2B5EF4-FFF2-40B4-BE49-F238E27FC236}">
                <a16:creationId xmlns:a16="http://schemas.microsoft.com/office/drawing/2014/main" id="{25BCA228-4029-4B43-9D33-E8237B84FC6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AF044B7-9B4C-4467-9C23-2EDA77B62C57}" type="slidenum">
              <a:rPr lang="en-US" altLang="en-US" sz="1000"/>
              <a:pPr eaLnBrk="1" hangingPunct="1"/>
              <a:t>22</a:t>
            </a:fld>
            <a:endParaRPr lang="en-US" alt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D57FA4C-8062-4057-BCAD-72C9049EDF8B}"/>
              </a:ext>
            </a:extLst>
          </p:cNvPr>
          <p:cNvSpPr>
            <a:spLocks noGrp="1" noChangeArrowheads="1"/>
          </p:cNvSpPr>
          <p:nvPr>
            <p:ph type="title"/>
          </p:nvPr>
        </p:nvSpPr>
        <p:spPr/>
        <p:txBody>
          <a:bodyPr/>
          <a:lstStyle/>
          <a:p>
            <a:pPr eaLnBrk="1" hangingPunct="1">
              <a:defRPr/>
            </a:pPr>
            <a:r>
              <a:rPr lang="en-US" sz="4000"/>
              <a:t>Strength of DES – Analytic Attacks</a:t>
            </a:r>
            <a:endParaRPr lang="en-AU" sz="4000"/>
          </a:p>
        </p:txBody>
      </p:sp>
      <p:sp>
        <p:nvSpPr>
          <p:cNvPr id="84995" name="Rectangle 3">
            <a:extLst>
              <a:ext uri="{FF2B5EF4-FFF2-40B4-BE49-F238E27FC236}">
                <a16:creationId xmlns:a16="http://schemas.microsoft.com/office/drawing/2014/main" id="{E55F497A-1E29-40AD-83C8-467AFBBA7655}"/>
              </a:ext>
            </a:extLst>
          </p:cNvPr>
          <p:cNvSpPr>
            <a:spLocks noGrp="1" noChangeArrowheads="1"/>
          </p:cNvSpPr>
          <p:nvPr>
            <p:ph type="body" idx="1"/>
          </p:nvPr>
        </p:nvSpPr>
        <p:spPr/>
        <p:txBody>
          <a:bodyPr/>
          <a:lstStyle/>
          <a:p>
            <a:pPr eaLnBrk="1" hangingPunct="1">
              <a:lnSpc>
                <a:spcPct val="90000"/>
              </a:lnSpc>
              <a:defRPr/>
            </a:pPr>
            <a:r>
              <a:rPr lang="en-US" sz="2800"/>
              <a:t>now have several analytic attacks on DES</a:t>
            </a:r>
          </a:p>
          <a:p>
            <a:pPr eaLnBrk="1" hangingPunct="1">
              <a:lnSpc>
                <a:spcPct val="90000"/>
              </a:lnSpc>
              <a:defRPr/>
            </a:pPr>
            <a:r>
              <a:rPr lang="en-US" sz="2800"/>
              <a:t>these </a:t>
            </a:r>
            <a:r>
              <a:rPr lang="en-AU" sz="2800"/>
              <a:t>utilise some deep structure of the cipher </a:t>
            </a:r>
          </a:p>
          <a:p>
            <a:pPr lvl="1" eaLnBrk="1" hangingPunct="1">
              <a:lnSpc>
                <a:spcPct val="90000"/>
              </a:lnSpc>
              <a:defRPr/>
            </a:pPr>
            <a:r>
              <a:rPr lang="en-AU" sz="2400"/>
              <a:t>by gathering information about encryptions </a:t>
            </a:r>
          </a:p>
          <a:p>
            <a:pPr lvl="1" eaLnBrk="1" hangingPunct="1">
              <a:lnSpc>
                <a:spcPct val="90000"/>
              </a:lnSpc>
              <a:defRPr/>
            </a:pPr>
            <a:r>
              <a:rPr lang="en-AU" sz="2400"/>
              <a:t>can eventually recover some/all of the sub-key bits </a:t>
            </a:r>
          </a:p>
          <a:p>
            <a:pPr lvl="1" eaLnBrk="1" hangingPunct="1">
              <a:lnSpc>
                <a:spcPct val="90000"/>
              </a:lnSpc>
              <a:defRPr/>
            </a:pPr>
            <a:r>
              <a:rPr lang="en-AU" sz="2400"/>
              <a:t>if necessary then exhaustively search for the rest </a:t>
            </a:r>
          </a:p>
          <a:p>
            <a:pPr eaLnBrk="1" hangingPunct="1">
              <a:lnSpc>
                <a:spcPct val="90000"/>
              </a:lnSpc>
              <a:defRPr/>
            </a:pPr>
            <a:r>
              <a:rPr lang="en-AU" sz="2800"/>
              <a:t>generally these are statistical attacks</a:t>
            </a:r>
          </a:p>
          <a:p>
            <a:pPr eaLnBrk="1" hangingPunct="1">
              <a:lnSpc>
                <a:spcPct val="90000"/>
              </a:lnSpc>
              <a:defRPr/>
            </a:pPr>
            <a:r>
              <a:rPr lang="en-US" sz="2800"/>
              <a:t>include</a:t>
            </a:r>
            <a:endParaRPr lang="en-AU" sz="2800"/>
          </a:p>
          <a:p>
            <a:pPr lvl="1" eaLnBrk="1" hangingPunct="1">
              <a:lnSpc>
                <a:spcPct val="90000"/>
              </a:lnSpc>
              <a:defRPr/>
            </a:pPr>
            <a:r>
              <a:rPr lang="en-AU" sz="2400"/>
              <a:t>differential cryptanalysis </a:t>
            </a:r>
          </a:p>
          <a:p>
            <a:pPr lvl="1" eaLnBrk="1" hangingPunct="1">
              <a:lnSpc>
                <a:spcPct val="90000"/>
              </a:lnSpc>
              <a:defRPr/>
            </a:pPr>
            <a:r>
              <a:rPr lang="en-AU" sz="2400"/>
              <a:t>linear cryptanalysis </a:t>
            </a:r>
          </a:p>
          <a:p>
            <a:pPr lvl="1" eaLnBrk="1" hangingPunct="1">
              <a:lnSpc>
                <a:spcPct val="90000"/>
              </a:lnSpc>
              <a:defRPr/>
            </a:pPr>
            <a:r>
              <a:rPr lang="en-AU" sz="2400"/>
              <a:t>related key attacks </a:t>
            </a:r>
          </a:p>
          <a:p>
            <a:pPr eaLnBrk="1" hangingPunct="1">
              <a:lnSpc>
                <a:spcPct val="90000"/>
              </a:lnSpc>
              <a:defRPr/>
            </a:pPr>
            <a:endParaRPr lang="en-AU" sz="2800"/>
          </a:p>
        </p:txBody>
      </p:sp>
      <p:sp>
        <p:nvSpPr>
          <p:cNvPr id="6" name="Slide Number Placeholder 5">
            <a:extLst>
              <a:ext uri="{FF2B5EF4-FFF2-40B4-BE49-F238E27FC236}">
                <a16:creationId xmlns:a16="http://schemas.microsoft.com/office/drawing/2014/main" id="{520B3FCF-3590-4F9F-96AA-474BB28CDCA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E77A8FF-D217-4566-843E-05BA268A40F3}" type="slidenum">
              <a:rPr lang="en-US" altLang="en-US" sz="1000"/>
              <a:pPr eaLnBrk="1" hangingPunct="1"/>
              <a:t>23</a:t>
            </a:fld>
            <a:endParaRPr lang="en-US" alt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6DF229D-0E62-41F5-A959-10FC6B1C60C3}"/>
              </a:ext>
            </a:extLst>
          </p:cNvPr>
          <p:cNvSpPr>
            <a:spLocks noGrp="1" noChangeArrowheads="1"/>
          </p:cNvSpPr>
          <p:nvPr>
            <p:ph type="title"/>
          </p:nvPr>
        </p:nvSpPr>
        <p:spPr/>
        <p:txBody>
          <a:bodyPr/>
          <a:lstStyle/>
          <a:p>
            <a:pPr eaLnBrk="1" hangingPunct="1">
              <a:defRPr/>
            </a:pPr>
            <a:r>
              <a:rPr lang="en-US" sz="4000"/>
              <a:t>Strength of DES – Timing Attacks</a:t>
            </a:r>
            <a:endParaRPr lang="en-AU" sz="4000"/>
          </a:p>
        </p:txBody>
      </p:sp>
      <p:sp>
        <p:nvSpPr>
          <p:cNvPr id="82947" name="Rectangle 3">
            <a:extLst>
              <a:ext uri="{FF2B5EF4-FFF2-40B4-BE49-F238E27FC236}">
                <a16:creationId xmlns:a16="http://schemas.microsoft.com/office/drawing/2014/main" id="{4B079AFB-DD93-4541-9742-9D8E0A59F7F8}"/>
              </a:ext>
            </a:extLst>
          </p:cNvPr>
          <p:cNvSpPr>
            <a:spLocks noGrp="1" noChangeArrowheads="1"/>
          </p:cNvSpPr>
          <p:nvPr>
            <p:ph type="body" idx="1"/>
          </p:nvPr>
        </p:nvSpPr>
        <p:spPr/>
        <p:txBody>
          <a:bodyPr/>
          <a:lstStyle/>
          <a:p>
            <a:pPr eaLnBrk="1" hangingPunct="1">
              <a:defRPr/>
            </a:pPr>
            <a:r>
              <a:rPr lang="en-AU"/>
              <a:t>attacks actual implementation of cipher</a:t>
            </a:r>
          </a:p>
          <a:p>
            <a:pPr eaLnBrk="1" hangingPunct="1">
              <a:defRPr/>
            </a:pPr>
            <a:r>
              <a:rPr lang="en-AU"/>
              <a:t>use knowledge of consequences of implementation to derive information about  some/all subkey bits</a:t>
            </a:r>
          </a:p>
          <a:p>
            <a:pPr eaLnBrk="1" hangingPunct="1">
              <a:defRPr/>
            </a:pPr>
            <a:r>
              <a:rPr lang="en-AU"/>
              <a:t>specifically use fact that calculations can take varying times depending on the value of the inputs to it</a:t>
            </a:r>
          </a:p>
          <a:p>
            <a:pPr eaLnBrk="1" hangingPunct="1">
              <a:defRPr/>
            </a:pPr>
            <a:r>
              <a:rPr lang="en-AU"/>
              <a:t>particularly problematic on smartcards </a:t>
            </a:r>
          </a:p>
        </p:txBody>
      </p:sp>
      <p:sp>
        <p:nvSpPr>
          <p:cNvPr id="6" name="Slide Number Placeholder 5">
            <a:extLst>
              <a:ext uri="{FF2B5EF4-FFF2-40B4-BE49-F238E27FC236}">
                <a16:creationId xmlns:a16="http://schemas.microsoft.com/office/drawing/2014/main" id="{980790AB-2DE9-4C7A-BB0D-C439B7AF065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9B951FF-70C0-43BD-9C05-08B95286B2E1}" type="slidenum">
              <a:rPr lang="en-US" altLang="en-US" sz="1000"/>
              <a:pPr eaLnBrk="1" hangingPunct="1"/>
              <a:t>24</a:t>
            </a:fld>
            <a:endParaRPr lang="en-US"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01F2CB6-686F-45EB-A1A7-85EB569712A2}"/>
              </a:ext>
            </a:extLst>
          </p:cNvPr>
          <p:cNvSpPr>
            <a:spLocks noGrp="1" noChangeArrowheads="1"/>
          </p:cNvSpPr>
          <p:nvPr>
            <p:ph type="title"/>
          </p:nvPr>
        </p:nvSpPr>
        <p:spPr/>
        <p:txBody>
          <a:bodyPr/>
          <a:lstStyle/>
          <a:p>
            <a:pPr eaLnBrk="1" hangingPunct="1">
              <a:defRPr/>
            </a:pPr>
            <a:r>
              <a:rPr lang="en-AU" dirty="0">
                <a:hlinkClick r:id="rId3"/>
              </a:rPr>
              <a:t>Differential Cryptanalysis</a:t>
            </a:r>
            <a:endParaRPr lang="en-AU" dirty="0"/>
          </a:p>
        </p:txBody>
      </p:sp>
      <p:sp>
        <p:nvSpPr>
          <p:cNvPr id="86019" name="Rectangle 3">
            <a:extLst>
              <a:ext uri="{FF2B5EF4-FFF2-40B4-BE49-F238E27FC236}">
                <a16:creationId xmlns:a16="http://schemas.microsoft.com/office/drawing/2014/main" id="{907D2A82-F71B-4A60-8771-5B8C9F36B4D0}"/>
              </a:ext>
            </a:extLst>
          </p:cNvPr>
          <p:cNvSpPr>
            <a:spLocks noGrp="1" noChangeArrowheads="1"/>
          </p:cNvSpPr>
          <p:nvPr>
            <p:ph type="body" idx="1"/>
          </p:nvPr>
        </p:nvSpPr>
        <p:spPr/>
        <p:txBody>
          <a:bodyPr/>
          <a:lstStyle/>
          <a:p>
            <a:pPr eaLnBrk="1" hangingPunct="1">
              <a:lnSpc>
                <a:spcPct val="90000"/>
              </a:lnSpc>
              <a:defRPr/>
            </a:pPr>
            <a:r>
              <a:rPr lang="en-AU"/>
              <a:t>one of the most significant recent (public) advances in cryptanalysis </a:t>
            </a:r>
          </a:p>
          <a:p>
            <a:pPr eaLnBrk="1" hangingPunct="1">
              <a:lnSpc>
                <a:spcPct val="90000"/>
              </a:lnSpc>
              <a:defRPr/>
            </a:pPr>
            <a:r>
              <a:rPr lang="en-AU"/>
              <a:t>known by NSA in 70's cf DES design</a:t>
            </a:r>
          </a:p>
          <a:p>
            <a:pPr eaLnBrk="1" hangingPunct="1">
              <a:lnSpc>
                <a:spcPct val="90000"/>
              </a:lnSpc>
              <a:defRPr/>
            </a:pPr>
            <a:r>
              <a:rPr lang="en-US"/>
              <a:t>Murphy, Biham &amp; Shamir published in 90’s</a:t>
            </a:r>
            <a:endParaRPr lang="en-AU"/>
          </a:p>
          <a:p>
            <a:pPr eaLnBrk="1" hangingPunct="1">
              <a:lnSpc>
                <a:spcPct val="90000"/>
              </a:lnSpc>
              <a:defRPr/>
            </a:pPr>
            <a:r>
              <a:rPr lang="en-AU"/>
              <a:t>powerful method to analyse block ciphers </a:t>
            </a:r>
          </a:p>
          <a:p>
            <a:pPr eaLnBrk="1" hangingPunct="1">
              <a:lnSpc>
                <a:spcPct val="90000"/>
              </a:lnSpc>
              <a:defRPr/>
            </a:pPr>
            <a:r>
              <a:rPr lang="en-AU"/>
              <a:t>used to analyse most current block ciphers with varying degrees of success</a:t>
            </a:r>
          </a:p>
          <a:p>
            <a:pPr eaLnBrk="1" hangingPunct="1">
              <a:lnSpc>
                <a:spcPct val="90000"/>
              </a:lnSpc>
              <a:defRPr/>
            </a:pPr>
            <a:r>
              <a:rPr lang="en-US"/>
              <a:t>DES reasonably resistant to it, cf Lucifer</a:t>
            </a:r>
            <a:endParaRPr lang="en-AU"/>
          </a:p>
        </p:txBody>
      </p:sp>
      <p:sp>
        <p:nvSpPr>
          <p:cNvPr id="6" name="Slide Number Placeholder 5">
            <a:extLst>
              <a:ext uri="{FF2B5EF4-FFF2-40B4-BE49-F238E27FC236}">
                <a16:creationId xmlns:a16="http://schemas.microsoft.com/office/drawing/2014/main" id="{6EF48D61-7227-46B6-A4E3-67C6570F70A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BBF2A30-782D-453A-8A9F-38892A5DDEC5}" type="slidenum">
              <a:rPr lang="en-US" altLang="en-US" sz="1000"/>
              <a:pPr eaLnBrk="1" hangingPunct="1"/>
              <a:t>25</a:t>
            </a:fld>
            <a:endParaRPr lang="en-US" alt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1C8D9E05-F569-4CA2-9FFF-DC460498C04E}"/>
              </a:ext>
            </a:extLst>
          </p:cNvPr>
          <p:cNvSpPr>
            <a:spLocks noGrp="1" noChangeArrowheads="1"/>
          </p:cNvSpPr>
          <p:nvPr>
            <p:ph type="title"/>
          </p:nvPr>
        </p:nvSpPr>
        <p:spPr/>
        <p:txBody>
          <a:bodyPr/>
          <a:lstStyle/>
          <a:p>
            <a:pPr eaLnBrk="1" hangingPunct="1">
              <a:defRPr/>
            </a:pPr>
            <a:r>
              <a:rPr lang="en-AU"/>
              <a:t>Differential Cryptanalysis</a:t>
            </a:r>
          </a:p>
        </p:txBody>
      </p:sp>
      <p:sp>
        <p:nvSpPr>
          <p:cNvPr id="88067" name="Rectangle 3">
            <a:extLst>
              <a:ext uri="{FF2B5EF4-FFF2-40B4-BE49-F238E27FC236}">
                <a16:creationId xmlns:a16="http://schemas.microsoft.com/office/drawing/2014/main" id="{C37A3378-678A-4F9D-974E-B21E5354003C}"/>
              </a:ext>
            </a:extLst>
          </p:cNvPr>
          <p:cNvSpPr>
            <a:spLocks noGrp="1" noChangeArrowheads="1"/>
          </p:cNvSpPr>
          <p:nvPr>
            <p:ph type="body" idx="1"/>
          </p:nvPr>
        </p:nvSpPr>
        <p:spPr/>
        <p:txBody>
          <a:bodyPr/>
          <a:lstStyle/>
          <a:p>
            <a:pPr eaLnBrk="1" hangingPunct="1">
              <a:defRPr/>
            </a:pPr>
            <a:r>
              <a:rPr lang="en-AU"/>
              <a:t>a statistical attack against Feistel ciphers </a:t>
            </a:r>
          </a:p>
          <a:p>
            <a:pPr eaLnBrk="1" hangingPunct="1">
              <a:defRPr/>
            </a:pPr>
            <a:r>
              <a:rPr lang="en-AU"/>
              <a:t>uses cipher structure not previously used </a:t>
            </a:r>
          </a:p>
          <a:p>
            <a:pPr eaLnBrk="1" hangingPunct="1">
              <a:defRPr/>
            </a:pPr>
            <a:r>
              <a:rPr lang="en-AU"/>
              <a:t>design of S-P networks has output of function </a:t>
            </a:r>
            <a:r>
              <a:rPr lang="en-AU" i="1"/>
              <a:t>f</a:t>
            </a:r>
            <a:r>
              <a:rPr lang="en-AU"/>
              <a:t> influenced by both input &amp; key</a:t>
            </a:r>
          </a:p>
          <a:p>
            <a:pPr eaLnBrk="1" hangingPunct="1">
              <a:defRPr/>
            </a:pPr>
            <a:r>
              <a:rPr lang="en-AU"/>
              <a:t>hence cannot trace values back through cipher without knowing value of the key </a:t>
            </a:r>
          </a:p>
          <a:p>
            <a:pPr eaLnBrk="1" hangingPunct="1">
              <a:defRPr/>
            </a:pPr>
            <a:r>
              <a:rPr lang="en-AU"/>
              <a:t>differential cryptanalysis compares two related pairs of encryptions</a:t>
            </a:r>
          </a:p>
        </p:txBody>
      </p:sp>
      <p:sp>
        <p:nvSpPr>
          <p:cNvPr id="6" name="Slide Number Placeholder 5">
            <a:extLst>
              <a:ext uri="{FF2B5EF4-FFF2-40B4-BE49-F238E27FC236}">
                <a16:creationId xmlns:a16="http://schemas.microsoft.com/office/drawing/2014/main" id="{388D3ABC-E503-452B-A305-2A2D569FDE20}"/>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C85A9DE-8619-4BFF-868D-58A313A6E814}" type="slidenum">
              <a:rPr lang="en-US" altLang="en-US" sz="1000"/>
              <a:pPr eaLnBrk="1" hangingPunct="1"/>
              <a:t>26</a:t>
            </a:fld>
            <a:endParaRPr lang="en-US" alt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4878F78-5499-4D82-A1C8-507EAC8D10F6}"/>
              </a:ext>
            </a:extLst>
          </p:cNvPr>
          <p:cNvSpPr>
            <a:spLocks noGrp="1" noChangeArrowheads="1"/>
          </p:cNvSpPr>
          <p:nvPr>
            <p:ph type="title"/>
          </p:nvPr>
        </p:nvSpPr>
        <p:spPr/>
        <p:txBody>
          <a:bodyPr/>
          <a:lstStyle/>
          <a:p>
            <a:pPr eaLnBrk="1" hangingPunct="1">
              <a:defRPr/>
            </a:pPr>
            <a:r>
              <a:rPr lang="en-US"/>
              <a:t>Linear Cryptanalysis</a:t>
            </a:r>
            <a:endParaRPr lang="en-AU"/>
          </a:p>
        </p:txBody>
      </p:sp>
      <p:sp>
        <p:nvSpPr>
          <p:cNvPr id="94211" name="Rectangle 3">
            <a:extLst>
              <a:ext uri="{FF2B5EF4-FFF2-40B4-BE49-F238E27FC236}">
                <a16:creationId xmlns:a16="http://schemas.microsoft.com/office/drawing/2014/main" id="{56A648AC-1128-4B5C-8261-A2CC87AC54F8}"/>
              </a:ext>
            </a:extLst>
          </p:cNvPr>
          <p:cNvSpPr>
            <a:spLocks noGrp="1" noChangeArrowheads="1"/>
          </p:cNvSpPr>
          <p:nvPr>
            <p:ph type="body" idx="1"/>
          </p:nvPr>
        </p:nvSpPr>
        <p:spPr/>
        <p:txBody>
          <a:bodyPr/>
          <a:lstStyle/>
          <a:p>
            <a:pPr eaLnBrk="1" hangingPunct="1">
              <a:lnSpc>
                <a:spcPct val="90000"/>
              </a:lnSpc>
              <a:defRPr/>
            </a:pPr>
            <a:r>
              <a:rPr lang="en-AU"/>
              <a:t>another recent development </a:t>
            </a:r>
          </a:p>
          <a:p>
            <a:pPr eaLnBrk="1" hangingPunct="1">
              <a:lnSpc>
                <a:spcPct val="90000"/>
              </a:lnSpc>
              <a:defRPr/>
            </a:pPr>
            <a:r>
              <a:rPr lang="en-AU"/>
              <a:t>also a statistical method </a:t>
            </a:r>
          </a:p>
          <a:p>
            <a:pPr eaLnBrk="1" hangingPunct="1">
              <a:lnSpc>
                <a:spcPct val="90000"/>
              </a:lnSpc>
              <a:defRPr/>
            </a:pPr>
            <a:r>
              <a:rPr lang="en-US"/>
              <a:t>must be iterated over rounds, with decreasing probabilities</a:t>
            </a:r>
            <a:endParaRPr lang="en-AU"/>
          </a:p>
          <a:p>
            <a:pPr eaLnBrk="1" hangingPunct="1">
              <a:lnSpc>
                <a:spcPct val="90000"/>
              </a:lnSpc>
              <a:defRPr/>
            </a:pPr>
            <a:r>
              <a:rPr lang="en-AU"/>
              <a:t>developed by Matsui et al in early 90's</a:t>
            </a:r>
          </a:p>
          <a:p>
            <a:pPr eaLnBrk="1" hangingPunct="1">
              <a:lnSpc>
                <a:spcPct val="90000"/>
              </a:lnSpc>
              <a:defRPr/>
            </a:pPr>
            <a:r>
              <a:rPr lang="en-US"/>
              <a:t>based on finding linear approximations</a:t>
            </a:r>
          </a:p>
          <a:p>
            <a:pPr eaLnBrk="1" hangingPunct="1">
              <a:lnSpc>
                <a:spcPct val="90000"/>
              </a:lnSpc>
              <a:defRPr/>
            </a:pPr>
            <a:r>
              <a:rPr lang="en-US"/>
              <a:t>can attack DES with </a:t>
            </a:r>
            <a:r>
              <a:rPr lang="en-AU"/>
              <a:t>2</a:t>
            </a:r>
            <a:r>
              <a:rPr lang="en-AU" baseline="30000"/>
              <a:t>43</a:t>
            </a:r>
            <a:r>
              <a:rPr lang="en-AU"/>
              <a:t> known plaintexts, easier but still in practise infeasible</a:t>
            </a:r>
          </a:p>
        </p:txBody>
      </p:sp>
      <p:sp>
        <p:nvSpPr>
          <p:cNvPr id="6" name="Slide Number Placeholder 5">
            <a:extLst>
              <a:ext uri="{FF2B5EF4-FFF2-40B4-BE49-F238E27FC236}">
                <a16:creationId xmlns:a16="http://schemas.microsoft.com/office/drawing/2014/main" id="{D04BDC73-9263-4B21-ADD0-7B60E4C96728}"/>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3EDE379-8205-4E8D-ADD5-20BD83377F93}" type="slidenum">
              <a:rPr lang="en-US" altLang="en-US" sz="1000"/>
              <a:pPr eaLnBrk="1" hangingPunct="1"/>
              <a:t>27</a:t>
            </a:fld>
            <a:endParaRPr lang="en-US" altLang="en-US" sz="1000"/>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BC22EAB6-BBF9-46DA-953B-F425B30855CA}"/>
</file>

<file path=customXml/itemProps2.xml><?xml version="1.0" encoding="utf-8"?>
<ds:datastoreItem xmlns:ds="http://schemas.openxmlformats.org/officeDocument/2006/customXml" ds:itemID="{0BB32F7F-5F25-47E7-87BF-3000C674F0CE}"/>
</file>

<file path=customXml/itemProps3.xml><?xml version="1.0" encoding="utf-8"?>
<ds:datastoreItem xmlns:ds="http://schemas.openxmlformats.org/officeDocument/2006/customXml" ds:itemID="{60D146B8-076E-4700-AFFF-2D4B4265ECB7}"/>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101</TotalTime>
  <Words>5319</Words>
  <Application>Microsoft Office PowerPoint</Application>
  <PresentationFormat>On-screen Show (4:3)</PresentationFormat>
  <Paragraphs>371</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Courier New</vt:lpstr>
      <vt:lpstr>Helvetica</vt:lpstr>
      <vt:lpstr>Symbol</vt:lpstr>
      <vt:lpstr>Times New Roman</vt:lpstr>
      <vt:lpstr>Times-Roman</vt:lpstr>
      <vt:lpstr>Wingdings</vt:lpstr>
      <vt:lpstr>ch01</vt:lpstr>
      <vt:lpstr>Cryptography and Network Security Chapter 3</vt:lpstr>
      <vt:lpstr>Modern Block Ciphers</vt:lpstr>
      <vt:lpstr>Data Encryption Standard (DES)</vt:lpstr>
      <vt:lpstr>Block &amp; Stream Ciphers</vt:lpstr>
      <vt:lpstr>Block Cipher Principles</vt:lpstr>
      <vt:lpstr>Claude Shannon and Substitution-Permutation Ciphers</vt:lpstr>
      <vt:lpstr>Confusion and Diffusion</vt:lpstr>
      <vt:lpstr>Feistel Cipher Structure</vt:lpstr>
      <vt:lpstr>Feistel Cipher Structure</vt:lpstr>
      <vt:lpstr>Feistel Cipher Design Elements</vt:lpstr>
      <vt:lpstr>Feistel Cipher Decryption</vt:lpstr>
      <vt:lpstr>Data Encryption Standard (DES)</vt:lpstr>
      <vt:lpstr>DES History</vt:lpstr>
      <vt:lpstr>DES Design Controversy</vt:lpstr>
      <vt:lpstr>DES Encryption Overview</vt:lpstr>
      <vt:lpstr>Initial Permutation IP</vt:lpstr>
      <vt:lpstr>DES Round Structure</vt:lpstr>
      <vt:lpstr>DES Round Structure</vt:lpstr>
      <vt:lpstr>Substitution Boxes S</vt:lpstr>
      <vt:lpstr>DES Key Schedule</vt:lpstr>
      <vt:lpstr>DES Decryption</vt:lpstr>
      <vt:lpstr>Strength of DES – Key Size</vt:lpstr>
      <vt:lpstr>Strength of DES – Analytic Attacks</vt:lpstr>
      <vt:lpstr>Strength of DES – Timing Attacks</vt:lpstr>
      <vt:lpstr>Differential Cryptanalysis</vt:lpstr>
      <vt:lpstr>Differential Cryptanalysis</vt:lpstr>
      <vt:lpstr>Linear Cryptanalysis</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53</cp:revision>
  <cp:lastPrinted>2005-09-07T05:37:51Z</cp:lastPrinted>
  <dcterms:created xsi:type="dcterms:W3CDTF">2002-03-28T02:06:54Z</dcterms:created>
  <dcterms:modified xsi:type="dcterms:W3CDTF">2026-01-27T02:26:09Z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